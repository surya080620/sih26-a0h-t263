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81" r:id="rId4"/>
    <p:sldMasterId id="2147483682" r:id="rId5"/>
    <p:sldMasterId id="214748368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y="6858000" cx="12192000"/>
  <p:notesSz cx="6858000" cy="9144000"/>
  <p:embeddedFontLst>
    <p:embeddedFont>
      <p:font typeface="Garamond"/>
      <p:regular r:id="rId14"/>
      <p:bold r:id="rId15"/>
      <p:italic r:id="rId16"/>
      <p:boldItalic r:id="rId17"/>
    </p:embeddedFont>
    <p:embeddedFont>
      <p:font typeface="Oswald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font" Target="fonts/Garamond-bold.fntdata"/><Relationship Id="rId14" Type="http://schemas.openxmlformats.org/officeDocument/2006/relationships/font" Target="fonts/Garamond-regular.fntdata"/><Relationship Id="rId17" Type="http://schemas.openxmlformats.org/officeDocument/2006/relationships/font" Target="fonts/Garamond-boldItalic.fntdata"/><Relationship Id="rId16" Type="http://schemas.openxmlformats.org/officeDocument/2006/relationships/font" Target="fonts/Garamond-italic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Oswald-bold.fntdata"/><Relationship Id="rId6" Type="http://schemas.openxmlformats.org/officeDocument/2006/relationships/slideMaster" Target="slideMasters/slideMaster3.xml"/><Relationship Id="rId18" Type="http://schemas.openxmlformats.org/officeDocument/2006/relationships/font" Target="fonts/Oswald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47" name="Google Shape;24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77" name="Google Shape;27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409dd160e9b_26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g409dd160e9b_26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48" name="Google Shape;3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409dd160e9b_21_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398" name="Google Shape;398;g409dd160e9b_2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9" name="Google Shape;399;g409dd160e9b_21_7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1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1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1" name="Google Shape;111;p17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p1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18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9" name="Google Shape;119;p18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18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p1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6" name="Google Shape;136;p21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7" name="Google Shape;137;p2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2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4" name="Google Shape;144;p2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3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2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2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2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2" name="Google Shape;172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8" name="Google Shape;17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4" name="Google Shape;184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3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90" name="Google Shape;190;p3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91" name="Google Shape;19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3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7" name="Google Shape;197;p3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98" name="Google Shape;198;p3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9" name="Google Shape;199;p3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00" name="Google Shape;200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3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11" name="Google Shape;211;p3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12" name="Google Shape;212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3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3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19" name="Google Shape;219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3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5" name="Google Shape;225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3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1" name="Google Shape;231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1" name="Google Shape;161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" name="Google Shape;162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3" name="Google Shape;163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4" name="Google Shape;164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2.jpg"/><Relationship Id="rId6" Type="http://schemas.openxmlformats.org/officeDocument/2006/relationships/image" Target="../media/image16.jpg"/><Relationship Id="rId7" Type="http://schemas.openxmlformats.org/officeDocument/2006/relationships/image" Target="../media/image1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hyperlink" Target="https://arxiv.org/abs/2005.11401" TargetMode="External"/><Relationship Id="rId10" Type="http://schemas.openxmlformats.org/officeDocument/2006/relationships/image" Target="../media/image5.png"/><Relationship Id="rId9" Type="http://schemas.openxmlformats.org/officeDocument/2006/relationships/hyperlink" Target="https://ipindia.gov.in/pages/patents/chapter" TargetMode="External"/><Relationship Id="rId5" Type="http://schemas.openxmlformats.org/officeDocument/2006/relationships/hyperlink" Target="https://www.tkdl.res.in" TargetMode="External"/><Relationship Id="rId6" Type="http://schemas.openxmlformats.org/officeDocument/2006/relationships/hyperlink" Target="https://www.wipo.int/en/web/treaties/ip/gratk/index" TargetMode="External"/><Relationship Id="rId7" Type="http://schemas.openxmlformats.org/officeDocument/2006/relationships/hyperlink" Target="https://www.nbaindia.nic.in" TargetMode="External"/><Relationship Id="rId8" Type="http://schemas.openxmlformats.org/officeDocument/2006/relationships/hyperlink" Target="https://github.com/AI4Bharat/IndicTrans2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7"/>
          <p:cNvSpPr/>
          <p:nvPr/>
        </p:nvSpPr>
        <p:spPr>
          <a:xfrm>
            <a:off x="7493005" y="851521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" name="Google Shape;240;p37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8826416" y="1896743"/>
            <a:ext cx="3203507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7"/>
          <p:cNvSpPr txBox="1"/>
          <p:nvPr>
            <p:ph idx="1" type="subTitle"/>
          </p:nvPr>
        </p:nvSpPr>
        <p:spPr>
          <a:xfrm>
            <a:off x="1245686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37"/>
          <p:cNvSpPr txBox="1"/>
          <p:nvPr>
            <p:ph type="ctrTitle"/>
          </p:nvPr>
        </p:nvSpPr>
        <p:spPr>
          <a:xfrm>
            <a:off x="331286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43" name="Google Shape;243;p37"/>
          <p:cNvSpPr txBox="1"/>
          <p:nvPr/>
        </p:nvSpPr>
        <p:spPr>
          <a:xfrm>
            <a:off x="331270" y="1381150"/>
            <a:ext cx="8495100" cy="50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–SIH26045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r>
              <a:rPr b="1" lang="en-US" sz="2400">
                <a:solidFill>
                  <a:schemeClr val="dk1"/>
                </a:solidFill>
              </a:rPr>
              <a:t>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Title- </a:t>
            </a:r>
            <a:r>
              <a:rPr b="1" lang="en-US" sz="1900">
                <a:solidFill>
                  <a:srgbClr val="212529"/>
                </a:solidFill>
                <a:highlight>
                  <a:srgbClr val="FFFFFF"/>
                </a:highlight>
              </a:rPr>
              <a:t>IP-SAKTI Sahayak a multilingual, RAG-based (source-cited) AI assistant </a:t>
            </a:r>
            <a:endParaRPr b="1" sz="2300"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 </a:t>
            </a:r>
            <a:r>
              <a:rPr b="1" lang="en-US" sz="1900">
                <a:solidFill>
                  <a:srgbClr val="212529"/>
                </a:solidFill>
                <a:highlight>
                  <a:srgbClr val="FFFFFF"/>
                </a:highlight>
              </a:rPr>
              <a:t>MedTech / BioTech / HealthTech</a:t>
            </a:r>
            <a:endParaRPr b="1" sz="2400">
              <a:solidFill>
                <a:schemeClr val="dk1"/>
              </a:solidFill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Software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ID-</a:t>
            </a:r>
            <a:r>
              <a:rPr b="1" lang="en-US" sz="2000">
                <a:solidFill>
                  <a:schemeClr val="dk1"/>
                </a:solidFill>
              </a:rPr>
              <a:t> </a:t>
            </a:r>
            <a:r>
              <a:rPr b="1" lang="en-US" sz="2400">
                <a:solidFill>
                  <a:schemeClr val="dk1"/>
                </a:solidFill>
              </a:rPr>
              <a:t>SIH26-A0H-T263</a:t>
            </a:r>
            <a:r>
              <a:rPr b="1" lang="en-US" sz="2000">
                <a:solidFill>
                  <a:schemeClr val="dk1"/>
                </a:solidFill>
              </a:rPr>
              <a:t> </a:t>
            </a:r>
            <a:endParaRPr b="1"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 </a:t>
            </a:r>
            <a:r>
              <a:rPr b="1" lang="en-US" sz="2400">
                <a:solidFill>
                  <a:schemeClr val="dk1"/>
                </a:solidFill>
              </a:rPr>
              <a:t>-Byte Busters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8"/>
          <p:cNvSpPr txBox="1"/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IDEA TITLE</a:t>
            </a:r>
            <a:endParaRPr/>
          </a:p>
        </p:txBody>
      </p:sp>
      <p:sp>
        <p:nvSpPr>
          <p:cNvPr id="251" name="Google Shape;251;p3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52" name="Google Shape;252;p38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53" name="Google Shape;25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8"/>
          <p:cNvPicPr preferRelativeResize="0"/>
          <p:nvPr/>
        </p:nvPicPr>
        <p:blipFill rotWithShape="1">
          <a:blip r:embed="rId4">
            <a:alphaModFix/>
          </a:blip>
          <a:srcRect b="29070" l="0" r="0" t="23997"/>
          <a:stretch/>
        </p:blipFill>
        <p:spPr>
          <a:xfrm>
            <a:off x="69550" y="283575"/>
            <a:ext cx="2651851" cy="780249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8"/>
          <p:cNvSpPr/>
          <p:nvPr/>
        </p:nvSpPr>
        <p:spPr>
          <a:xfrm>
            <a:off x="313150" y="1178775"/>
            <a:ext cx="2865600" cy="415200"/>
          </a:xfrm>
          <a:prstGeom prst="roundRect">
            <a:avLst>
              <a:gd fmla="val 50000" name="adj"/>
            </a:avLst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Major Problems</a:t>
            </a:r>
            <a:endParaRPr sz="190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56" name="Google Shape;256;p38"/>
          <p:cNvSpPr/>
          <p:nvPr/>
        </p:nvSpPr>
        <p:spPr>
          <a:xfrm>
            <a:off x="4581475" y="1228275"/>
            <a:ext cx="3614400" cy="415200"/>
          </a:xfrm>
          <a:prstGeom prst="roundRect">
            <a:avLst>
              <a:gd fmla="val 50000" name="adj"/>
            </a:avLst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Our Solution &amp; Working</a:t>
            </a:r>
            <a:endParaRPr sz="190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7303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57" name="Google Shape;257;p38"/>
          <p:cNvSpPr/>
          <p:nvPr/>
        </p:nvSpPr>
        <p:spPr>
          <a:xfrm>
            <a:off x="9331450" y="1186875"/>
            <a:ext cx="2865600" cy="415200"/>
          </a:xfrm>
          <a:prstGeom prst="roundRect">
            <a:avLst>
              <a:gd fmla="val 50000" name="adj"/>
            </a:avLst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9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Key Features</a:t>
            </a:r>
            <a:endParaRPr sz="190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58" name="Google Shape;258;p38"/>
          <p:cNvSpPr/>
          <p:nvPr/>
        </p:nvSpPr>
        <p:spPr>
          <a:xfrm>
            <a:off x="143950" y="4735562"/>
            <a:ext cx="3204000" cy="986400"/>
          </a:xfrm>
          <a:prstGeom prst="roundRect">
            <a:avLst>
              <a:gd fmla="val 21053" name="adj"/>
            </a:avLst>
          </a:prstGeom>
          <a:solidFill>
            <a:srgbClr val="9FC5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Jurisdictional confusion</a:t>
            </a:r>
            <a:r>
              <a:rPr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— National regimes (Patents Act, BDA, GI Act) and international ones (TRIPS, CBD/Nagoya, WIPO GRATK, PCT, Madrid, Budapest) are routinely conflated, leading to costly filing errors.</a:t>
            </a:r>
            <a:endParaRPr sz="15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59" name="Google Shape;259;p38"/>
          <p:cNvSpPr/>
          <p:nvPr/>
        </p:nvSpPr>
        <p:spPr>
          <a:xfrm>
            <a:off x="179650" y="3680364"/>
            <a:ext cx="3132600" cy="986400"/>
          </a:xfrm>
          <a:prstGeom prst="roundRect">
            <a:avLst>
              <a:gd fmla="val 21053" name="adj"/>
            </a:avLst>
          </a:prstGeom>
          <a:solidFill>
            <a:srgbClr val="6FA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TK misappropriation risk</a:t>
            </a:r>
            <a:r>
              <a:rPr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— India's traditional knowledge stays exposed to misappropriation abroad due to poor access to TKDL records, prior-art tools, and ABS compliance guidance. </a:t>
            </a:r>
            <a:endParaRPr sz="15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60" name="Google Shape;260;p38"/>
          <p:cNvSpPr/>
          <p:nvPr/>
        </p:nvSpPr>
        <p:spPr>
          <a:xfrm>
            <a:off x="179650" y="5790727"/>
            <a:ext cx="3132600" cy="986400"/>
          </a:xfrm>
          <a:prstGeom prst="roundRect">
            <a:avLst>
              <a:gd fmla="val 21053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Fast-changing rules, no plain guidance</a:t>
            </a:r>
            <a:r>
              <a:rPr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— The 2024 patent and biodiversity rules and the new WIPO GRATK Treaty make authoritative, current guidance essential, but none exists for the AYUSH community. z</a:t>
            </a:r>
            <a:endParaRPr sz="15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61" name="Google Shape;261;p38"/>
          <p:cNvSpPr/>
          <p:nvPr/>
        </p:nvSpPr>
        <p:spPr>
          <a:xfrm>
            <a:off x="143950" y="2656100"/>
            <a:ext cx="3204000" cy="986400"/>
          </a:xfrm>
          <a:prstGeom prst="roundRect">
            <a:avLst>
              <a:gd fmla="val 21053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Unclear formulation</a:t>
            </a:r>
            <a:r>
              <a:rPr b="1"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b="1"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classification</a:t>
            </a:r>
            <a:r>
              <a:rPr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— </a:t>
            </a:r>
            <a:r>
              <a:rPr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Practitioners and startups can't easily tell if a product is classical, proprietary, a new drug, each with a completely different IP and ABS posture. </a:t>
            </a:r>
            <a:endParaRPr sz="15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62" name="Google Shape;262;p38"/>
          <p:cNvSpPr/>
          <p:nvPr/>
        </p:nvSpPr>
        <p:spPr>
          <a:xfrm>
            <a:off x="3768775" y="1767000"/>
            <a:ext cx="5341500" cy="713100"/>
          </a:xfrm>
          <a:prstGeom prst="roundRect">
            <a:avLst>
              <a:gd fmla="val 15385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Garamond"/>
                <a:ea typeface="Garamond"/>
                <a:cs typeface="Garamond"/>
                <a:sym typeface="Garamond"/>
              </a:rPr>
              <a:t>A </a:t>
            </a:r>
            <a:r>
              <a:rPr b="1" lang="en-US" sz="1500">
                <a:latin typeface="Garamond"/>
                <a:ea typeface="Garamond"/>
                <a:cs typeface="Garamond"/>
                <a:sym typeface="Garamond"/>
              </a:rPr>
              <a:t>multilingual, source-grounded</a:t>
            </a:r>
            <a:r>
              <a:rPr lang="en-US" sz="1500">
                <a:latin typeface="Garamond"/>
                <a:ea typeface="Garamond"/>
                <a:cs typeface="Garamond"/>
                <a:sym typeface="Garamond"/>
              </a:rPr>
              <a:t> AI assistant that turns India's fragmented </a:t>
            </a:r>
            <a:r>
              <a:rPr b="1" lang="en-US" sz="1500">
                <a:latin typeface="Garamond"/>
                <a:ea typeface="Garamond"/>
                <a:cs typeface="Garamond"/>
                <a:sym typeface="Garamond"/>
              </a:rPr>
              <a:t>Ayurveda IP, ABS and drug-regulatory rules</a:t>
            </a:r>
            <a:r>
              <a:rPr lang="en-US" sz="1500">
                <a:latin typeface="Garamond"/>
                <a:ea typeface="Garamond"/>
                <a:cs typeface="Garamond"/>
                <a:sym typeface="Garamond"/>
              </a:rPr>
              <a:t> into one trusted, jurisdiction-aware conversation. </a:t>
            </a:r>
            <a:endParaRPr sz="15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63" name="Google Shape;263;p38"/>
          <p:cNvSpPr txBox="1"/>
          <p:nvPr/>
        </p:nvSpPr>
        <p:spPr>
          <a:xfrm>
            <a:off x="3616687" y="2643030"/>
            <a:ext cx="5341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620F"/>
              </a:buClr>
              <a:buSzPts val="1150"/>
              <a:buFont typeface="Calibri"/>
              <a:buNone/>
            </a:pPr>
            <a:r>
              <a:rPr b="1" i="0" lang="en-US" sz="165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What it does:</a:t>
            </a:r>
            <a:endParaRPr b="0" i="0" sz="165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8"/>
          <p:cNvSpPr txBox="1"/>
          <p:nvPr/>
        </p:nvSpPr>
        <p:spPr>
          <a:xfrm>
            <a:off x="3665675" y="2883299"/>
            <a:ext cx="5341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620F"/>
              </a:buClr>
              <a:buSzPts val="920"/>
              <a:buFont typeface="Calibri"/>
              <a:buNone/>
            </a:pPr>
            <a:r>
              <a:rPr b="1" i="0" lang="en-US" sz="1420" u="none" cap="none" strike="noStrike">
                <a:solidFill>
                  <a:srgbClr val="C4620F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-US" sz="1420">
                <a:solidFill>
                  <a:srgbClr val="222222"/>
                </a:solidFill>
                <a:latin typeface="Garamond"/>
                <a:ea typeface="Garamond"/>
                <a:cs typeface="Garamond"/>
                <a:sym typeface="Garamond"/>
              </a:rPr>
              <a:t>Classifies the formulation (classical / proprietary / new drug / phytopharmaceutical / nutraceutical / cosmetic) before answering, since each carries a different IP and ABS posture </a:t>
            </a:r>
            <a:endParaRPr i="0" sz="1420" u="none" cap="none" strike="noStrik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65" name="Google Shape;265;p38"/>
          <p:cNvSpPr txBox="1"/>
          <p:nvPr/>
        </p:nvSpPr>
        <p:spPr>
          <a:xfrm>
            <a:off x="3678637" y="3497377"/>
            <a:ext cx="521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4620F"/>
              </a:buClr>
              <a:buSzPts val="920"/>
              <a:buFont typeface="Calibri"/>
              <a:buNone/>
            </a:pPr>
            <a:r>
              <a:rPr b="1" i="0" lang="en-US" sz="1420" u="none" cap="none" strike="noStrike">
                <a:solidFill>
                  <a:srgbClr val="C4620F"/>
                </a:solidFill>
                <a:latin typeface="Garamond"/>
                <a:ea typeface="Garamond"/>
                <a:cs typeface="Garamond"/>
                <a:sym typeface="Garamond"/>
              </a:rPr>
              <a:t>•  </a:t>
            </a:r>
            <a:r>
              <a:rPr lang="en-US" sz="1420">
                <a:solidFill>
                  <a:srgbClr val="222222"/>
                </a:solidFill>
                <a:latin typeface="Garamond"/>
                <a:ea typeface="Garamond"/>
                <a:cs typeface="Garamond"/>
                <a:sym typeface="Garamond"/>
              </a:rPr>
              <a:t>Answers IP questions across patents, GI, trademarks, copyright, designs and plant-variety rights, keeping India and international answers visibly separate via an explicit jurisdiction toggle </a:t>
            </a:r>
            <a:endParaRPr i="0" sz="1420" u="none" cap="none" strike="noStrik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66" name="Google Shape;266;p38"/>
          <p:cNvSpPr txBox="1"/>
          <p:nvPr/>
        </p:nvSpPr>
        <p:spPr>
          <a:xfrm>
            <a:off x="3665675" y="4682215"/>
            <a:ext cx="521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4620F"/>
              </a:buClr>
              <a:buSzPts val="920"/>
              <a:buFont typeface="Calibri"/>
              <a:buNone/>
            </a:pPr>
            <a:r>
              <a:rPr b="1" i="0" lang="en-US" sz="1420" u="none" cap="none" strike="noStrike">
                <a:solidFill>
                  <a:srgbClr val="C4620F"/>
                </a:solidFill>
                <a:latin typeface="Garamond"/>
                <a:ea typeface="Garamond"/>
                <a:cs typeface="Garamond"/>
                <a:sym typeface="Garamond"/>
              </a:rPr>
              <a:t>•  </a:t>
            </a:r>
            <a:r>
              <a:rPr lang="en-US" sz="1420">
                <a:solidFill>
                  <a:srgbClr val="222222"/>
                </a:solidFill>
                <a:latin typeface="Garamond"/>
                <a:ea typeface="Garamond"/>
                <a:cs typeface="Garamond"/>
                <a:sym typeface="Garamond"/>
              </a:rPr>
              <a:t>Attaches the exact statute, rule or treaty-article citation, a confidence score, and an "information, not legal advice" disclaimer to every answer </a:t>
            </a:r>
            <a:endParaRPr i="0" sz="1420" u="none" cap="none" strike="noStrik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67" name="Google Shape;267;p38"/>
          <p:cNvSpPr txBox="1"/>
          <p:nvPr/>
        </p:nvSpPr>
        <p:spPr>
          <a:xfrm>
            <a:off x="3665675" y="4226702"/>
            <a:ext cx="521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4620F"/>
              </a:buClr>
              <a:buSzPts val="920"/>
              <a:buFont typeface="Calibri"/>
              <a:buNone/>
            </a:pPr>
            <a:r>
              <a:rPr b="1" i="0" lang="en-US" sz="1420" u="none" cap="none" strike="noStrike">
                <a:solidFill>
                  <a:srgbClr val="C4620F"/>
                </a:solidFill>
                <a:latin typeface="Garamond"/>
                <a:ea typeface="Garamond"/>
                <a:cs typeface="Garamond"/>
                <a:sym typeface="Garamond"/>
              </a:rPr>
              <a:t>•</a:t>
            </a:r>
            <a:r>
              <a:rPr b="1" i="0" lang="en-US" sz="1420" u="none" cap="none" strike="noStrike">
                <a:solidFill>
                  <a:srgbClr val="C4620F"/>
                </a:solidFill>
                <a:latin typeface="Garamond"/>
                <a:ea typeface="Garamond"/>
                <a:cs typeface="Garamond"/>
                <a:sym typeface="Garamond"/>
              </a:rPr>
              <a:t>  </a:t>
            </a:r>
            <a:r>
              <a:rPr lang="en-US" sz="1420">
                <a:solidFill>
                  <a:srgbClr val="222222"/>
                </a:solidFill>
                <a:latin typeface="Garamond"/>
                <a:ea typeface="Garamond"/>
                <a:cs typeface="Garamond"/>
                <a:sym typeface="Garamond"/>
              </a:rPr>
              <a:t>Points to TKDL and prior-art records and flags the Section 3(p) patentability bar for classical formulations </a:t>
            </a:r>
            <a:endParaRPr i="0" sz="1420" u="none" cap="none" strike="noStrik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68" name="Google Shape;268;p38"/>
          <p:cNvSpPr txBox="1"/>
          <p:nvPr/>
        </p:nvSpPr>
        <p:spPr>
          <a:xfrm>
            <a:off x="3665675" y="5138590"/>
            <a:ext cx="521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4620F"/>
              </a:buClr>
              <a:buSzPts val="920"/>
              <a:buFont typeface="Calibri"/>
              <a:buNone/>
            </a:pPr>
            <a:r>
              <a:rPr b="1" i="0" lang="en-US" sz="1420" u="none" cap="none" strike="noStrike">
                <a:solidFill>
                  <a:srgbClr val="C4620F"/>
                </a:solidFill>
                <a:latin typeface="Garamond"/>
                <a:ea typeface="Garamond"/>
                <a:cs typeface="Garamond"/>
                <a:sym typeface="Garamond"/>
              </a:rPr>
              <a:t>•  </a:t>
            </a:r>
            <a:r>
              <a:rPr lang="en-US" sz="1420">
                <a:solidFill>
                  <a:srgbClr val="222222"/>
                </a:solidFill>
                <a:latin typeface="Garamond"/>
                <a:ea typeface="Garamond"/>
                <a:cs typeface="Garamond"/>
                <a:sym typeface="Garamond"/>
              </a:rPr>
              <a:t>Escalates low-confidence or out-of-scope queries to a human IP facilitator</a:t>
            </a:r>
            <a:endParaRPr sz="1420">
              <a:solidFill>
                <a:srgbClr val="222222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4620F"/>
              </a:buClr>
              <a:buSzPts val="920"/>
              <a:buFont typeface="Calibri"/>
              <a:buNone/>
            </a:pPr>
            <a:r>
              <a:t/>
            </a:r>
            <a:endParaRPr i="0" sz="1420" u="none" cap="none" strike="noStrik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69" name="Google Shape;269;p38" title="pic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48275" y="5324425"/>
            <a:ext cx="5848849" cy="139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8" title="pic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433150" y="1645950"/>
            <a:ext cx="2651849" cy="48316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1" name="Google Shape;271;p38"/>
          <p:cNvCxnSpPr/>
          <p:nvPr/>
        </p:nvCxnSpPr>
        <p:spPr>
          <a:xfrm>
            <a:off x="3387388" y="1093075"/>
            <a:ext cx="58500" cy="559890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" name="Google Shape;272;p38"/>
          <p:cNvCxnSpPr/>
          <p:nvPr/>
        </p:nvCxnSpPr>
        <p:spPr>
          <a:xfrm flipH="1" rot="10800000">
            <a:off x="-9375" y="1093075"/>
            <a:ext cx="12206400" cy="1170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38"/>
          <p:cNvCxnSpPr/>
          <p:nvPr/>
        </p:nvCxnSpPr>
        <p:spPr>
          <a:xfrm>
            <a:off x="9226925" y="1074167"/>
            <a:ext cx="0" cy="563670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38"/>
          <p:cNvSpPr/>
          <p:nvPr/>
        </p:nvSpPr>
        <p:spPr>
          <a:xfrm>
            <a:off x="143950" y="1629750"/>
            <a:ext cx="3204000" cy="986400"/>
          </a:xfrm>
          <a:prstGeom prst="roundRect">
            <a:avLst>
              <a:gd fmla="val 21053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Fragmented IP landscape</a:t>
            </a:r>
            <a:r>
              <a:rPr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— Ayurvedic IP spans patents, GI, trademarks, copyright, designs, trade secrets and plant-variety rights, with no single place to make sense of them. </a:t>
            </a:r>
            <a:endParaRPr b="1"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9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pic>
        <p:nvPicPr>
          <p:cNvPr id="281" name="Google Shape;28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9"/>
          <p:cNvPicPr preferRelativeResize="0"/>
          <p:nvPr/>
        </p:nvPicPr>
        <p:blipFill rotWithShape="1">
          <a:blip r:embed="rId4">
            <a:alphaModFix/>
          </a:blip>
          <a:srcRect b="29070" l="0" r="0" t="23997"/>
          <a:stretch/>
        </p:blipFill>
        <p:spPr>
          <a:xfrm>
            <a:off x="78650" y="1500"/>
            <a:ext cx="2651851" cy="780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9" title="image_ec296511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650" y="888900"/>
            <a:ext cx="8985149" cy="5969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39" title="k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44511" y="1219088"/>
            <a:ext cx="2638425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9" title="l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623161" y="4314625"/>
            <a:ext cx="2259764" cy="2251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6" name="Google Shape;286;p39"/>
          <p:cNvSpPr txBox="1"/>
          <p:nvPr/>
        </p:nvSpPr>
        <p:spPr>
          <a:xfrm>
            <a:off x="170925" y="781750"/>
            <a:ext cx="36444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Clarifying context:</a:t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2.png" id="291" name="Google Shape;29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50000" y="0"/>
            <a:ext cx="2100000" cy="99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40"/>
          <p:cNvSpPr txBox="1"/>
          <p:nvPr/>
        </p:nvSpPr>
        <p:spPr>
          <a:xfrm>
            <a:off x="2893263" y="207053"/>
            <a:ext cx="81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 b="1" i="0" sz="3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p40"/>
          <p:cNvSpPr txBox="1"/>
          <p:nvPr/>
        </p:nvSpPr>
        <p:spPr>
          <a:xfrm>
            <a:off x="2944300" y="830000"/>
            <a:ext cx="9180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FEASIBILITY &amp; VIABILITY PILLARS</a:t>
            </a:r>
            <a:endParaRPr b="1" i="0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" name="Google Shape;294;p40"/>
          <p:cNvSpPr/>
          <p:nvPr/>
        </p:nvSpPr>
        <p:spPr>
          <a:xfrm>
            <a:off x="3149275" y="1197275"/>
            <a:ext cx="8976600" cy="2542200"/>
          </a:xfrm>
          <a:prstGeom prst="rect">
            <a:avLst/>
          </a:prstGeom>
          <a:noFill/>
          <a:ln cap="flat" cmpd="sng" w="158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550" lIns="91150" spcFirstLastPara="1" rIns="91150" wrap="square" tIns="4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4"/>
              <a:buFont typeface="Arial"/>
              <a:buNone/>
            </a:pPr>
            <a:r>
              <a:t/>
            </a:r>
            <a:endParaRPr b="0" i="0" sz="17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" name="Google Shape;295;p40"/>
          <p:cNvCxnSpPr/>
          <p:nvPr/>
        </p:nvCxnSpPr>
        <p:spPr>
          <a:xfrm>
            <a:off x="4645410" y="1197275"/>
            <a:ext cx="0" cy="2542200"/>
          </a:xfrm>
          <a:prstGeom prst="straightConnector1">
            <a:avLst/>
          </a:prstGeom>
          <a:noFill/>
          <a:ln cap="flat" cmpd="sng" w="1265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6" name="Google Shape;296;p40"/>
          <p:cNvCxnSpPr/>
          <p:nvPr/>
        </p:nvCxnSpPr>
        <p:spPr>
          <a:xfrm>
            <a:off x="6141545" y="1197275"/>
            <a:ext cx="0" cy="2542200"/>
          </a:xfrm>
          <a:prstGeom prst="straightConnector1">
            <a:avLst/>
          </a:prstGeom>
          <a:noFill/>
          <a:ln cap="flat" cmpd="sng" w="1265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" name="Google Shape;297;p40"/>
          <p:cNvCxnSpPr/>
          <p:nvPr/>
        </p:nvCxnSpPr>
        <p:spPr>
          <a:xfrm>
            <a:off x="7637680" y="1197275"/>
            <a:ext cx="0" cy="2542200"/>
          </a:xfrm>
          <a:prstGeom prst="straightConnector1">
            <a:avLst/>
          </a:prstGeom>
          <a:noFill/>
          <a:ln cap="flat" cmpd="sng" w="1265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8" name="Google Shape;298;p40"/>
          <p:cNvCxnSpPr/>
          <p:nvPr/>
        </p:nvCxnSpPr>
        <p:spPr>
          <a:xfrm>
            <a:off x="9133814" y="1197275"/>
            <a:ext cx="0" cy="2542200"/>
          </a:xfrm>
          <a:prstGeom prst="straightConnector1">
            <a:avLst/>
          </a:prstGeom>
          <a:noFill/>
          <a:ln cap="flat" cmpd="sng" w="1265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9" name="Google Shape;299;p40"/>
          <p:cNvCxnSpPr/>
          <p:nvPr/>
        </p:nvCxnSpPr>
        <p:spPr>
          <a:xfrm>
            <a:off x="10629949" y="1197275"/>
            <a:ext cx="0" cy="2542200"/>
          </a:xfrm>
          <a:prstGeom prst="straightConnector1">
            <a:avLst/>
          </a:prstGeom>
          <a:noFill/>
          <a:ln cap="flat" cmpd="sng" w="1265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0" name="Google Shape;300;p40"/>
          <p:cNvSpPr/>
          <p:nvPr/>
        </p:nvSpPr>
        <p:spPr>
          <a:xfrm>
            <a:off x="3634203" y="1277027"/>
            <a:ext cx="526500" cy="558300"/>
          </a:xfrm>
          <a:prstGeom prst="ellipse">
            <a:avLst/>
          </a:prstGeom>
          <a:solidFill>
            <a:srgbClr val="C462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4"/>
              <a:buFont typeface="Arial"/>
              <a:buNone/>
            </a:pPr>
            <a:r>
              <a:rPr b="1" i="0" lang="en-US" sz="199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&lt;/&gt;</a:t>
            </a:r>
            <a:endParaRPr b="1" i="0" sz="1994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40"/>
          <p:cNvSpPr txBox="1"/>
          <p:nvPr/>
        </p:nvSpPr>
        <p:spPr>
          <a:xfrm>
            <a:off x="3182167" y="1895108"/>
            <a:ext cx="14304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6"/>
              <a:buFont typeface="Arial"/>
              <a:buNone/>
            </a:pPr>
            <a:r>
              <a:rPr b="1" i="0" lang="en-US" sz="1346" u="none" cap="none" strike="noStrike">
                <a:solidFill>
                  <a:srgbClr val="C4620F"/>
                </a:solidFill>
                <a:latin typeface="Calibri"/>
                <a:ea typeface="Calibri"/>
                <a:cs typeface="Calibri"/>
                <a:sym typeface="Calibri"/>
              </a:rPr>
              <a:t>1. TECHNICAL</a:t>
            </a:r>
            <a:endParaRPr b="1" i="0" sz="1346" u="none" cap="none" strike="noStrike">
              <a:solidFill>
                <a:srgbClr val="C4620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6"/>
              <a:buFont typeface="Arial"/>
              <a:buNone/>
            </a:pPr>
            <a:r>
              <a:rPr b="1" i="0" lang="en-US" sz="1346" u="none" cap="none" strike="noStrike">
                <a:solidFill>
                  <a:srgbClr val="C4620F"/>
                </a:solidFill>
                <a:latin typeface="Calibri"/>
                <a:ea typeface="Calibri"/>
                <a:cs typeface="Calibri"/>
                <a:sym typeface="Calibri"/>
              </a:rPr>
              <a:t>FEASIBILITY</a:t>
            </a:r>
            <a:endParaRPr b="1" i="0" sz="1346" u="none" cap="none" strike="noStrike">
              <a:solidFill>
                <a:srgbClr val="C4620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40"/>
          <p:cNvSpPr txBox="1"/>
          <p:nvPr/>
        </p:nvSpPr>
        <p:spPr>
          <a:xfrm>
            <a:off x="3186866" y="2552594"/>
            <a:ext cx="14211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6"/>
              <a:buFont typeface="Arial"/>
              <a:buNone/>
            </a:pPr>
            <a:r>
              <a:rPr b="0" i="0" lang="en-US" sz="1196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RAG pipeline built on FastAPI + Qdrant, with IndicTrans2 and Whisper for multilingual text and voice.</a:t>
            </a:r>
            <a:endParaRPr b="0" i="0" sz="1196" u="none" cap="none" strike="noStrike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40"/>
          <p:cNvSpPr/>
          <p:nvPr/>
        </p:nvSpPr>
        <p:spPr>
          <a:xfrm>
            <a:off x="5130338" y="1277027"/>
            <a:ext cx="526500" cy="558300"/>
          </a:xfrm>
          <a:prstGeom prst="ellipse">
            <a:avLst/>
          </a:prstGeom>
          <a:solidFill>
            <a:srgbClr val="3F8F5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4"/>
              <a:buFont typeface="Arial"/>
              <a:buNone/>
            </a:pPr>
            <a:r>
              <a:rPr b="1" i="0" lang="en-US" sz="199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DB</a:t>
            </a:r>
            <a:endParaRPr b="1" i="0" sz="1994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40"/>
          <p:cNvSpPr txBox="1"/>
          <p:nvPr/>
        </p:nvSpPr>
        <p:spPr>
          <a:xfrm>
            <a:off x="4678302" y="1895108"/>
            <a:ext cx="14304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6"/>
              <a:buFont typeface="Arial"/>
              <a:buNone/>
            </a:pPr>
            <a:r>
              <a:rPr b="1" i="0" lang="en-US" sz="1346" u="none" cap="none" strike="noStrike">
                <a:solidFill>
                  <a:srgbClr val="3F8F5F"/>
                </a:solidFill>
                <a:latin typeface="Calibri"/>
                <a:ea typeface="Calibri"/>
                <a:cs typeface="Calibri"/>
                <a:sym typeface="Calibri"/>
              </a:rPr>
              <a:t>2. LEGAL CORPUS</a:t>
            </a:r>
            <a:endParaRPr b="1" i="0" sz="1346" u="none" cap="none" strike="noStrike">
              <a:solidFill>
                <a:srgbClr val="3F8F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6"/>
              <a:buFont typeface="Arial"/>
              <a:buNone/>
            </a:pPr>
            <a:r>
              <a:rPr b="1" i="0" lang="en-US" sz="1346" u="none" cap="none" strike="noStrike">
                <a:solidFill>
                  <a:srgbClr val="3F8F5F"/>
                </a:solidFill>
                <a:latin typeface="Calibri"/>
                <a:ea typeface="Calibri"/>
                <a:cs typeface="Calibri"/>
                <a:sym typeface="Calibri"/>
              </a:rPr>
              <a:t>FEASIBILITY</a:t>
            </a:r>
            <a:endParaRPr b="1" i="0" sz="1346" u="none" cap="none" strike="noStrike">
              <a:solidFill>
                <a:srgbClr val="3F8F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40"/>
          <p:cNvSpPr txBox="1"/>
          <p:nvPr/>
        </p:nvSpPr>
        <p:spPr>
          <a:xfrm>
            <a:off x="4683001" y="2600822"/>
            <a:ext cx="1421100" cy="9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6"/>
              <a:buFont typeface="Arial"/>
              <a:buNone/>
            </a:pPr>
            <a:r>
              <a:rPr b="0" i="0" lang="en-US" sz="1246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Version-tracked corpus of statutes, rules, treaties, TKDL and registry records, tagged by jurisdiction.</a:t>
            </a:r>
            <a:endParaRPr b="0" i="0" sz="1246" u="none" cap="none" strike="noStrike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40"/>
          <p:cNvSpPr/>
          <p:nvPr/>
        </p:nvSpPr>
        <p:spPr>
          <a:xfrm>
            <a:off x="6626473" y="1277027"/>
            <a:ext cx="526500" cy="558300"/>
          </a:xfrm>
          <a:prstGeom prst="ellipse">
            <a:avLst/>
          </a:prstGeom>
          <a:solidFill>
            <a:srgbClr val="3F8F5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4"/>
              <a:buFont typeface="Arial"/>
              <a:buNone/>
            </a:pPr>
            <a:r>
              <a:rPr b="1" i="0" lang="en-US" sz="199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</a:t>
            </a:r>
            <a:endParaRPr b="1" i="0" sz="1994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40"/>
          <p:cNvSpPr txBox="1"/>
          <p:nvPr/>
        </p:nvSpPr>
        <p:spPr>
          <a:xfrm>
            <a:off x="6174437" y="1895108"/>
            <a:ext cx="14304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6"/>
              <a:buFont typeface="Arial"/>
              <a:buNone/>
            </a:pPr>
            <a:r>
              <a:rPr b="1" i="0" lang="en-US" sz="1346" u="none" cap="none" strike="noStrike">
                <a:solidFill>
                  <a:srgbClr val="3F8F5F"/>
                </a:solidFill>
                <a:latin typeface="Calibri"/>
                <a:ea typeface="Calibri"/>
                <a:cs typeface="Calibri"/>
                <a:sym typeface="Calibri"/>
              </a:rPr>
              <a:t>3. ECONOMIC</a:t>
            </a:r>
            <a:endParaRPr b="1" i="0" sz="1346" u="none" cap="none" strike="noStrike">
              <a:solidFill>
                <a:srgbClr val="3F8F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6"/>
              <a:buFont typeface="Arial"/>
              <a:buNone/>
            </a:pPr>
            <a:r>
              <a:rPr b="1" i="0" lang="en-US" sz="1346" u="none" cap="none" strike="noStrike">
                <a:solidFill>
                  <a:srgbClr val="3F8F5F"/>
                </a:solidFill>
                <a:latin typeface="Calibri"/>
                <a:ea typeface="Calibri"/>
                <a:cs typeface="Calibri"/>
                <a:sym typeface="Calibri"/>
              </a:rPr>
              <a:t>VIABILITY</a:t>
            </a:r>
            <a:endParaRPr b="1" i="0" sz="1346" u="none" cap="none" strike="noStrike">
              <a:solidFill>
                <a:srgbClr val="3F8F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40"/>
          <p:cNvSpPr txBox="1"/>
          <p:nvPr/>
        </p:nvSpPr>
        <p:spPr>
          <a:xfrm>
            <a:off x="6179136" y="2612879"/>
            <a:ext cx="1421100" cy="9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6"/>
              <a:buFont typeface="Arial"/>
              <a:buNone/>
            </a:pPr>
            <a:r>
              <a:rPr b="0" i="0" lang="en-US" sz="1246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Open-source stack keeps costs low; spend goes into corpus curation, not infrastructure.</a:t>
            </a:r>
            <a:endParaRPr b="0" i="0" sz="1246" u="none" cap="none" strike="noStrike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40"/>
          <p:cNvSpPr/>
          <p:nvPr/>
        </p:nvSpPr>
        <p:spPr>
          <a:xfrm>
            <a:off x="8122608" y="1277027"/>
            <a:ext cx="526500" cy="558300"/>
          </a:xfrm>
          <a:prstGeom prst="ellipse">
            <a:avLst/>
          </a:prstGeom>
          <a:solidFill>
            <a:srgbClr val="3F8F5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4"/>
              <a:buFont typeface="Arial"/>
              <a:buNone/>
            </a:pPr>
            <a:r>
              <a:rPr b="1" i="0" lang="en-US" sz="199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↻</a:t>
            </a:r>
            <a:endParaRPr b="1" i="0" sz="1994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40"/>
          <p:cNvSpPr txBox="1"/>
          <p:nvPr/>
        </p:nvSpPr>
        <p:spPr>
          <a:xfrm>
            <a:off x="7670572" y="1895108"/>
            <a:ext cx="14304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6"/>
              <a:buFont typeface="Arial"/>
              <a:buNone/>
            </a:pPr>
            <a:r>
              <a:rPr b="1" i="0" lang="en-US" sz="1346" u="none" cap="none" strike="noStrike">
                <a:solidFill>
                  <a:srgbClr val="3F8F5F"/>
                </a:solidFill>
                <a:latin typeface="Calibri"/>
                <a:ea typeface="Calibri"/>
                <a:cs typeface="Calibri"/>
                <a:sym typeface="Calibri"/>
              </a:rPr>
              <a:t>4. OPERATIONAL</a:t>
            </a:r>
            <a:endParaRPr b="1" i="0" sz="1346" u="none" cap="none" strike="noStrike">
              <a:solidFill>
                <a:srgbClr val="3F8F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6"/>
              <a:buFont typeface="Arial"/>
              <a:buNone/>
            </a:pPr>
            <a:r>
              <a:rPr b="1" i="0" lang="en-US" sz="1346" u="none" cap="none" strike="noStrike">
                <a:solidFill>
                  <a:srgbClr val="3F8F5F"/>
                </a:solidFill>
                <a:latin typeface="Calibri"/>
                <a:ea typeface="Calibri"/>
                <a:cs typeface="Calibri"/>
                <a:sym typeface="Calibri"/>
              </a:rPr>
              <a:t>VIABILITY</a:t>
            </a:r>
            <a:endParaRPr b="1" i="0" sz="1346" u="none" cap="none" strike="noStrike">
              <a:solidFill>
                <a:srgbClr val="3F8F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40"/>
          <p:cNvSpPr txBox="1"/>
          <p:nvPr/>
        </p:nvSpPr>
        <p:spPr>
          <a:xfrm>
            <a:off x="7675271" y="2588765"/>
            <a:ext cx="1421100" cy="9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6"/>
              <a:buFont typeface="Arial"/>
              <a:buNone/>
            </a:pPr>
            <a:r>
              <a:rPr b="0" i="0" lang="en-US" sz="1246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Staged rollout: MVP retrieval, then knowledge graph, then paid connectors, then full voice.</a:t>
            </a:r>
            <a:endParaRPr b="0" i="0" sz="1246" u="none" cap="none" strike="noStrike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40"/>
          <p:cNvSpPr/>
          <p:nvPr/>
        </p:nvSpPr>
        <p:spPr>
          <a:xfrm>
            <a:off x="9618743" y="1277027"/>
            <a:ext cx="526500" cy="558300"/>
          </a:xfrm>
          <a:prstGeom prst="ellipse">
            <a:avLst/>
          </a:prstGeom>
          <a:solidFill>
            <a:srgbClr val="C462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4"/>
              <a:buFont typeface="Arial"/>
              <a:buNone/>
            </a:pPr>
            <a:r>
              <a:rPr b="1" i="0" lang="en-US" sz="199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⚘</a:t>
            </a:r>
            <a:endParaRPr b="1" i="0" sz="1994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40"/>
          <p:cNvSpPr txBox="1"/>
          <p:nvPr/>
        </p:nvSpPr>
        <p:spPr>
          <a:xfrm>
            <a:off x="9166707" y="1895108"/>
            <a:ext cx="14304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6"/>
              <a:buFont typeface="Arial"/>
              <a:buNone/>
            </a:pPr>
            <a:r>
              <a:rPr b="1" i="0" lang="en-US" sz="1346" u="none" cap="none" strike="noStrike">
                <a:solidFill>
                  <a:srgbClr val="C4620F"/>
                </a:solidFill>
                <a:latin typeface="Calibri"/>
                <a:ea typeface="Calibri"/>
                <a:cs typeface="Calibri"/>
                <a:sym typeface="Calibri"/>
              </a:rPr>
              <a:t>5. SOCIAL &amp;</a:t>
            </a:r>
            <a:endParaRPr b="1" i="0" sz="1346" u="none" cap="none" strike="noStrike">
              <a:solidFill>
                <a:srgbClr val="C4620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6"/>
              <a:buFont typeface="Arial"/>
              <a:buNone/>
            </a:pPr>
            <a:r>
              <a:rPr b="1" i="0" lang="en-US" sz="1346" u="none" cap="none" strike="noStrike">
                <a:solidFill>
                  <a:srgbClr val="C4620F"/>
                </a:solidFill>
                <a:latin typeface="Calibri"/>
                <a:ea typeface="Calibri"/>
                <a:cs typeface="Calibri"/>
                <a:sym typeface="Calibri"/>
              </a:rPr>
              <a:t>ACCESSIBILITY</a:t>
            </a:r>
            <a:endParaRPr b="1" i="0" sz="1346" u="none" cap="none" strike="noStrike">
              <a:solidFill>
                <a:srgbClr val="C4620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40"/>
          <p:cNvSpPr txBox="1"/>
          <p:nvPr/>
        </p:nvSpPr>
        <p:spPr>
          <a:xfrm>
            <a:off x="9171406" y="2516424"/>
            <a:ext cx="1421100" cy="11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6"/>
              <a:buFont typeface="Arial"/>
              <a:buNone/>
            </a:pPr>
            <a:r>
              <a:rPr b="0" i="0" lang="en-US" sz="1246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Multilingual text/voice via Bhashini and IndicTrans2, over Web, WhatsApp and SMS — no new app.</a:t>
            </a:r>
            <a:endParaRPr b="0" i="0" sz="1246" u="none" cap="none" strike="noStrike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40"/>
          <p:cNvSpPr/>
          <p:nvPr/>
        </p:nvSpPr>
        <p:spPr>
          <a:xfrm>
            <a:off x="11114877" y="1277027"/>
            <a:ext cx="526500" cy="558300"/>
          </a:xfrm>
          <a:prstGeom prst="ellipse">
            <a:avLst/>
          </a:prstGeom>
          <a:solidFill>
            <a:srgbClr val="C462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4"/>
              <a:buFont typeface="Arial"/>
              <a:buNone/>
            </a:pPr>
            <a:r>
              <a:rPr b="1" i="0" lang="en-US" sz="199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⚖</a:t>
            </a:r>
            <a:endParaRPr b="1" i="0" sz="1994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40"/>
          <p:cNvSpPr txBox="1"/>
          <p:nvPr/>
        </p:nvSpPr>
        <p:spPr>
          <a:xfrm>
            <a:off x="10662842" y="1895108"/>
            <a:ext cx="14304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6"/>
              <a:buFont typeface="Arial"/>
              <a:buNone/>
            </a:pPr>
            <a:r>
              <a:rPr b="1" i="0" lang="en-US" sz="1346" u="none" cap="none" strike="noStrike">
                <a:solidFill>
                  <a:srgbClr val="C4620F"/>
                </a:solidFill>
                <a:latin typeface="Calibri"/>
                <a:ea typeface="Calibri"/>
                <a:cs typeface="Calibri"/>
                <a:sym typeface="Calibri"/>
              </a:rPr>
              <a:t>6. LEGAL &amp;</a:t>
            </a:r>
            <a:endParaRPr b="1" i="0" sz="1346" u="none" cap="none" strike="noStrike">
              <a:solidFill>
                <a:srgbClr val="C4620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6"/>
              <a:buFont typeface="Arial"/>
              <a:buNone/>
            </a:pPr>
            <a:r>
              <a:rPr b="1" i="0" lang="en-US" sz="1346" u="none" cap="none" strike="noStrike">
                <a:solidFill>
                  <a:srgbClr val="C4620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b="1" i="0" sz="1346" u="none" cap="none" strike="noStrike">
              <a:solidFill>
                <a:srgbClr val="C4620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40"/>
          <p:cNvSpPr txBox="1"/>
          <p:nvPr/>
        </p:nvSpPr>
        <p:spPr>
          <a:xfrm>
            <a:off x="10667541" y="2600822"/>
            <a:ext cx="1421100" cy="7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6"/>
              <a:buFont typeface="Arial"/>
              <a:buNone/>
            </a:pPr>
            <a:r>
              <a:rPr b="0" i="0" lang="en-US" sz="1246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Every answer includes a source citation, status badge, and confidence score.</a:t>
            </a:r>
            <a:endParaRPr b="0" i="0" sz="1246" u="none" cap="none" strike="noStrike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8" name="Google Shape;318;p40"/>
          <p:cNvCxnSpPr/>
          <p:nvPr/>
        </p:nvCxnSpPr>
        <p:spPr>
          <a:xfrm>
            <a:off x="3149275" y="3739381"/>
            <a:ext cx="8976600" cy="0"/>
          </a:xfrm>
          <a:prstGeom prst="straightConnector1">
            <a:avLst/>
          </a:prstGeom>
          <a:noFill/>
          <a:ln cap="flat" cmpd="sng" w="190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p40"/>
          <p:cNvSpPr/>
          <p:nvPr/>
        </p:nvSpPr>
        <p:spPr>
          <a:xfrm>
            <a:off x="3149275" y="3739381"/>
            <a:ext cx="8976600" cy="3018600"/>
          </a:xfrm>
          <a:prstGeom prst="rect">
            <a:avLst/>
          </a:prstGeom>
          <a:noFill/>
          <a:ln cap="flat" cmpd="sng" w="158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550" lIns="91150" spcFirstLastPara="1" rIns="91150" wrap="square" tIns="4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4"/>
              <a:buFont typeface="Arial"/>
              <a:buNone/>
            </a:pPr>
            <a:r>
              <a:t/>
            </a:r>
            <a:endParaRPr b="0" i="0" sz="17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0" name="Google Shape;320;p40"/>
          <p:cNvCxnSpPr/>
          <p:nvPr/>
        </p:nvCxnSpPr>
        <p:spPr>
          <a:xfrm>
            <a:off x="7637680" y="3739381"/>
            <a:ext cx="0" cy="3018600"/>
          </a:xfrm>
          <a:prstGeom prst="straightConnector1">
            <a:avLst/>
          </a:prstGeom>
          <a:noFill/>
          <a:ln cap="flat" cmpd="sng" w="2215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p40"/>
          <p:cNvSpPr txBox="1"/>
          <p:nvPr/>
        </p:nvSpPr>
        <p:spPr>
          <a:xfrm>
            <a:off x="3302117" y="3859480"/>
            <a:ext cx="43758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5"/>
              <a:buFont typeface="Arial"/>
              <a:buNone/>
            </a:pPr>
            <a:r>
              <a:rPr b="1" i="0" lang="en-US" sz="149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POTENTIAL CHALLENGES AND RISKS</a:t>
            </a:r>
            <a:endParaRPr b="1" i="0" sz="1495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22" name="Google Shape;322;p40"/>
          <p:cNvCxnSpPr/>
          <p:nvPr/>
        </p:nvCxnSpPr>
        <p:spPr>
          <a:xfrm>
            <a:off x="3205662" y="4217895"/>
            <a:ext cx="4431900" cy="0"/>
          </a:xfrm>
          <a:prstGeom prst="straightConnector1">
            <a:avLst/>
          </a:prstGeom>
          <a:noFill/>
          <a:ln cap="flat" cmpd="sng" w="190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3" name="Google Shape;323;p40"/>
          <p:cNvSpPr txBox="1"/>
          <p:nvPr/>
        </p:nvSpPr>
        <p:spPr>
          <a:xfrm>
            <a:off x="7694067" y="3763137"/>
            <a:ext cx="43758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5"/>
              <a:buFont typeface="Arial"/>
              <a:buNone/>
            </a:pPr>
            <a:r>
              <a:rPr b="1" i="0" lang="en-US" sz="149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STRATEGIES FOR OVERCOMING</a:t>
            </a:r>
            <a:endParaRPr b="1" i="0" sz="1495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5"/>
              <a:buFont typeface="Arial"/>
              <a:buNone/>
            </a:pPr>
            <a:r>
              <a:rPr b="1" i="0" lang="en-US" sz="149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CHALLENGES</a:t>
            </a:r>
            <a:endParaRPr b="1" i="0" sz="1495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24" name="Google Shape;324;p40"/>
          <p:cNvCxnSpPr/>
          <p:nvPr/>
        </p:nvCxnSpPr>
        <p:spPr>
          <a:xfrm>
            <a:off x="7637374" y="4217895"/>
            <a:ext cx="4486500" cy="0"/>
          </a:xfrm>
          <a:prstGeom prst="straightConnector1">
            <a:avLst/>
          </a:prstGeom>
          <a:noFill/>
          <a:ln cap="flat" cmpd="sng" w="190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5" name="Google Shape;325;p40"/>
          <p:cNvCxnSpPr/>
          <p:nvPr/>
        </p:nvCxnSpPr>
        <p:spPr>
          <a:xfrm>
            <a:off x="5393477" y="4217895"/>
            <a:ext cx="0" cy="2540100"/>
          </a:xfrm>
          <a:prstGeom prst="straightConnector1">
            <a:avLst/>
          </a:prstGeom>
          <a:noFill/>
          <a:ln cap="flat" cmpd="sng" w="1265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6" name="Google Shape;326;p40"/>
          <p:cNvCxnSpPr/>
          <p:nvPr/>
        </p:nvCxnSpPr>
        <p:spPr>
          <a:xfrm>
            <a:off x="9881882" y="4217895"/>
            <a:ext cx="0" cy="2540100"/>
          </a:xfrm>
          <a:prstGeom prst="straightConnector1">
            <a:avLst/>
          </a:prstGeom>
          <a:noFill/>
          <a:ln cap="flat" cmpd="sng" w="1265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7" name="Google Shape;327;p40"/>
          <p:cNvSpPr txBox="1"/>
          <p:nvPr/>
        </p:nvSpPr>
        <p:spPr>
          <a:xfrm>
            <a:off x="3329417" y="4297643"/>
            <a:ext cx="21597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6"/>
              <a:buFont typeface="Arial"/>
              <a:buNone/>
            </a:pPr>
            <a:r>
              <a:rPr b="1" i="0" lang="en-US" sz="1396" u="none" cap="none" strike="noStrike">
                <a:solidFill>
                  <a:srgbClr val="C4620F"/>
                </a:solidFill>
                <a:latin typeface="Calibri"/>
                <a:ea typeface="Calibri"/>
                <a:cs typeface="Calibri"/>
                <a:sym typeface="Calibri"/>
              </a:rPr>
              <a:t>EVOLVING LEGAL CORPUS</a:t>
            </a:r>
            <a:endParaRPr b="1" i="0" sz="1396" u="none" cap="none" strike="noStrike">
              <a:solidFill>
                <a:srgbClr val="C4620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40"/>
          <p:cNvSpPr txBox="1"/>
          <p:nvPr/>
        </p:nvSpPr>
        <p:spPr>
          <a:xfrm>
            <a:off x="3230355" y="4619468"/>
            <a:ext cx="2159700" cy="8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6"/>
              <a:buFont typeface="Arial"/>
              <a:buNone/>
            </a:pPr>
            <a:r>
              <a:rPr b="0" i="0" lang="en-US" sz="1346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Statutes, rules and treaties (2024 Rules, WIPO GRATK) change — stale answers mislead users.</a:t>
            </a:r>
            <a:endParaRPr b="0" i="0" sz="1346" u="none" cap="none" strike="noStrike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40"/>
          <p:cNvSpPr txBox="1"/>
          <p:nvPr/>
        </p:nvSpPr>
        <p:spPr>
          <a:xfrm>
            <a:off x="5676263" y="4312836"/>
            <a:ext cx="21597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6"/>
              <a:buFont typeface="Arial"/>
              <a:buNone/>
            </a:pPr>
            <a:r>
              <a:rPr b="1" i="0" lang="en-US" sz="1396" u="none" cap="none" strike="noStrike">
                <a:solidFill>
                  <a:srgbClr val="C4620F"/>
                </a:solidFill>
                <a:latin typeface="Calibri"/>
                <a:ea typeface="Calibri"/>
                <a:cs typeface="Calibri"/>
                <a:sym typeface="Calibri"/>
              </a:rPr>
              <a:t>AI HALLUCINATION</a:t>
            </a:r>
            <a:endParaRPr b="1" i="0" sz="1396" u="none" cap="none" strike="noStrike">
              <a:solidFill>
                <a:srgbClr val="C4620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40"/>
          <p:cNvSpPr txBox="1"/>
          <p:nvPr/>
        </p:nvSpPr>
        <p:spPr>
          <a:xfrm>
            <a:off x="5435767" y="4709992"/>
            <a:ext cx="2159700" cy="6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6"/>
              <a:buFont typeface="Arial"/>
              <a:buNone/>
            </a:pPr>
            <a:r>
              <a:rPr b="0" i="0" lang="en-US" sz="1346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 confident-looking wrong legal answer carries real risk for filers.</a:t>
            </a:r>
            <a:endParaRPr b="0" i="0" sz="1346" u="none" cap="none" strike="noStrike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40"/>
          <p:cNvSpPr txBox="1"/>
          <p:nvPr/>
        </p:nvSpPr>
        <p:spPr>
          <a:xfrm>
            <a:off x="3253628" y="5483670"/>
            <a:ext cx="21597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6"/>
              <a:buFont typeface="Arial"/>
              <a:buNone/>
            </a:pPr>
            <a:r>
              <a:rPr b="1" i="0" lang="en-US" sz="1396" u="none" cap="none" strike="noStrike">
                <a:solidFill>
                  <a:srgbClr val="C4620F"/>
                </a:solidFill>
                <a:latin typeface="Calibri"/>
                <a:ea typeface="Calibri"/>
                <a:cs typeface="Calibri"/>
                <a:sym typeface="Calibri"/>
              </a:rPr>
              <a:t>MISCLASSIFICATION RISK</a:t>
            </a:r>
            <a:endParaRPr b="1" i="0" sz="1396" u="none" cap="none" strike="noStrike">
              <a:solidFill>
                <a:srgbClr val="C4620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40"/>
          <p:cNvSpPr txBox="1"/>
          <p:nvPr/>
        </p:nvSpPr>
        <p:spPr>
          <a:xfrm>
            <a:off x="3191565" y="5946662"/>
            <a:ext cx="2159700" cy="6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6"/>
              <a:buFont typeface="Arial"/>
              <a:buNone/>
            </a:pPr>
            <a:r>
              <a:rPr b="0" i="0" lang="en-US" sz="1346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Incomplete formulation details can misclassify jurisdiction or IP regime</a:t>
            </a:r>
            <a:r>
              <a:rPr b="0" i="0" lang="en-US" sz="1097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097" u="none" cap="none" strike="noStrike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40"/>
          <p:cNvSpPr txBox="1"/>
          <p:nvPr/>
        </p:nvSpPr>
        <p:spPr>
          <a:xfrm>
            <a:off x="5435767" y="5500129"/>
            <a:ext cx="21597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6"/>
              <a:buFont typeface="Arial"/>
              <a:buNone/>
            </a:pPr>
            <a:r>
              <a:rPr b="1" i="0" lang="en-US" sz="1396" u="none" cap="none" strike="noStrike">
                <a:solidFill>
                  <a:srgbClr val="C4620F"/>
                </a:solidFill>
                <a:latin typeface="Calibri"/>
                <a:ea typeface="Calibri"/>
                <a:cs typeface="Calibri"/>
                <a:sym typeface="Calibri"/>
              </a:rPr>
              <a:t>MULTILINGUAL ACCURACY</a:t>
            </a:r>
            <a:endParaRPr b="1" i="0" sz="1396" u="none" cap="none" strike="noStrike">
              <a:solidFill>
                <a:srgbClr val="C4620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40"/>
          <p:cNvSpPr txBox="1"/>
          <p:nvPr/>
        </p:nvSpPr>
        <p:spPr>
          <a:xfrm>
            <a:off x="5435767" y="5987810"/>
            <a:ext cx="2159700" cy="6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6"/>
              <a:buFont typeface="Arial"/>
              <a:buNone/>
            </a:pPr>
            <a:r>
              <a:rPr b="0" i="0" lang="en-US" sz="1346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Regional Ayurveda/AYUSH terms rarely map 1:1 in translation.</a:t>
            </a:r>
            <a:endParaRPr b="0" i="0" sz="1346" u="none" cap="none" strike="noStrike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40"/>
          <p:cNvSpPr txBox="1"/>
          <p:nvPr/>
        </p:nvSpPr>
        <p:spPr>
          <a:xfrm>
            <a:off x="7711001" y="4337524"/>
            <a:ext cx="21597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6"/>
              <a:buFont typeface="Arial"/>
              <a:buNone/>
            </a:pPr>
            <a:r>
              <a:rPr b="1" i="0" lang="en-US" sz="1396" u="none" cap="none" strike="noStrike">
                <a:solidFill>
                  <a:srgbClr val="3F8F5F"/>
                </a:solidFill>
                <a:latin typeface="Calibri"/>
                <a:ea typeface="Calibri"/>
                <a:cs typeface="Calibri"/>
                <a:sym typeface="Calibri"/>
              </a:rPr>
              <a:t>VERSION-TRACKED CORPUS</a:t>
            </a:r>
            <a:endParaRPr b="1" i="0" sz="1396" u="none" cap="none" strike="noStrike">
              <a:solidFill>
                <a:srgbClr val="3F8F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40"/>
          <p:cNvSpPr txBox="1"/>
          <p:nvPr/>
        </p:nvSpPr>
        <p:spPr>
          <a:xfrm>
            <a:off x="7679970" y="4668845"/>
            <a:ext cx="2159700" cy="6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6"/>
              <a:buFont typeface="Arial"/>
              <a:buNone/>
            </a:pPr>
            <a:r>
              <a:rPr b="0" i="0" lang="en-US" sz="1346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Live status badges and periodic review keep statute and treaty text current.</a:t>
            </a:r>
            <a:endParaRPr b="0" i="0" sz="1346" u="none" cap="none" strike="noStrike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40"/>
          <p:cNvSpPr txBox="1"/>
          <p:nvPr/>
        </p:nvSpPr>
        <p:spPr>
          <a:xfrm>
            <a:off x="9993993" y="4321065"/>
            <a:ext cx="21597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6"/>
              <a:buFont typeface="Arial"/>
              <a:buNone/>
            </a:pPr>
            <a:r>
              <a:rPr b="1" i="0" lang="en-US" sz="1396" u="none" cap="none" strike="noStrike">
                <a:solidFill>
                  <a:srgbClr val="3F8F5F"/>
                </a:solidFill>
                <a:latin typeface="Calibri"/>
                <a:ea typeface="Calibri"/>
                <a:cs typeface="Calibri"/>
                <a:sym typeface="Calibri"/>
              </a:rPr>
              <a:t>GROUNDED, CITED RAG</a:t>
            </a:r>
            <a:endParaRPr b="1" i="0" sz="1396" u="none" cap="none" strike="noStrike">
              <a:solidFill>
                <a:srgbClr val="3F8F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40"/>
          <p:cNvSpPr txBox="1"/>
          <p:nvPr/>
        </p:nvSpPr>
        <p:spPr>
          <a:xfrm>
            <a:off x="9924172" y="4652386"/>
            <a:ext cx="2159700" cy="6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6"/>
              <a:buFont typeface="Arial"/>
              <a:buNone/>
            </a:pPr>
            <a:r>
              <a:rPr b="0" i="0" lang="en-US" sz="1346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Answers restricted to retrieved legal text, with citation and confidence score</a:t>
            </a:r>
            <a:r>
              <a:rPr b="0" i="0" lang="en-US" sz="1097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097" u="none" cap="none" strike="noStrike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40"/>
          <p:cNvSpPr txBox="1"/>
          <p:nvPr/>
        </p:nvSpPr>
        <p:spPr>
          <a:xfrm>
            <a:off x="7679970" y="5475441"/>
            <a:ext cx="21597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6"/>
              <a:buFont typeface="Arial"/>
              <a:buNone/>
            </a:pPr>
            <a:r>
              <a:rPr b="1" i="0" lang="en-US" sz="1396" u="none" cap="none" strike="noStrike">
                <a:solidFill>
                  <a:srgbClr val="3F8F5F"/>
                </a:solidFill>
                <a:latin typeface="Calibri"/>
                <a:ea typeface="Calibri"/>
                <a:cs typeface="Calibri"/>
                <a:sym typeface="Calibri"/>
              </a:rPr>
              <a:t>CLARIFICATION + CONFIDENCE SCORING</a:t>
            </a:r>
            <a:endParaRPr b="1" i="0" sz="1396" u="none" cap="none" strike="noStrike">
              <a:solidFill>
                <a:srgbClr val="3F8F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40"/>
          <p:cNvSpPr txBox="1"/>
          <p:nvPr/>
        </p:nvSpPr>
        <p:spPr>
          <a:xfrm>
            <a:off x="7679970" y="5996039"/>
            <a:ext cx="2159700" cy="6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6"/>
              <a:buFont typeface="Arial"/>
              <a:buNone/>
            </a:pPr>
            <a:r>
              <a:rPr b="0" i="0" lang="en-US" sz="1346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Clarifying-question flow before classification, with scored, gated answers.</a:t>
            </a:r>
            <a:endParaRPr b="0" i="0" sz="1346" u="none" cap="none" strike="noStrike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40"/>
          <p:cNvSpPr txBox="1"/>
          <p:nvPr/>
        </p:nvSpPr>
        <p:spPr>
          <a:xfrm>
            <a:off x="9993993" y="5450752"/>
            <a:ext cx="21597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6"/>
              <a:buFont typeface="Arial"/>
              <a:buNone/>
            </a:pPr>
            <a:r>
              <a:rPr b="1" i="0" lang="en-US" sz="1396" u="none" cap="none" strike="noStrike">
                <a:solidFill>
                  <a:srgbClr val="3F8F5F"/>
                </a:solidFill>
                <a:latin typeface="Calibri"/>
                <a:ea typeface="Calibri"/>
                <a:cs typeface="Calibri"/>
                <a:sym typeface="Calibri"/>
              </a:rPr>
              <a:t>DOMAIN-TUNED TRANSLATION</a:t>
            </a:r>
            <a:endParaRPr b="1" i="0" sz="1396" u="none" cap="none" strike="noStrike">
              <a:solidFill>
                <a:srgbClr val="3F8F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40"/>
          <p:cNvSpPr txBox="1"/>
          <p:nvPr/>
        </p:nvSpPr>
        <p:spPr>
          <a:xfrm>
            <a:off x="9924172" y="5979580"/>
            <a:ext cx="2159700" cy="6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6"/>
              <a:buFont typeface="Arial"/>
              <a:buNone/>
            </a:pPr>
            <a:r>
              <a:rPr b="0" i="0" lang="en-US" sz="1346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IndicTrans2 tuned on domain terms, with human-facilitator fallback.</a:t>
            </a:r>
            <a:endParaRPr b="0" i="0" sz="1346" u="none" cap="none" strike="noStrike">
              <a:solidFill>
                <a:srgbClr val="2B2B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3" name="Google Shape;343;p40"/>
          <p:cNvPicPr preferRelativeResize="0"/>
          <p:nvPr/>
        </p:nvPicPr>
        <p:blipFill rotWithShape="1">
          <a:blip r:embed="rId4">
            <a:alphaModFix/>
          </a:blip>
          <a:srcRect b="29070" l="0" r="0" t="23997"/>
          <a:stretch/>
        </p:blipFill>
        <p:spPr>
          <a:xfrm>
            <a:off x="139450" y="220175"/>
            <a:ext cx="2552224" cy="780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40"/>
          <p:cNvPicPr preferRelativeResize="0"/>
          <p:nvPr/>
        </p:nvPicPr>
        <p:blipFill rotWithShape="1">
          <a:blip r:embed="rId5">
            <a:alphaModFix/>
          </a:blip>
          <a:srcRect b="0" l="7587" r="7545" t="0"/>
          <a:stretch/>
        </p:blipFill>
        <p:spPr>
          <a:xfrm>
            <a:off x="83050" y="1503325"/>
            <a:ext cx="3009825" cy="5222623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40"/>
          <p:cNvSpPr/>
          <p:nvPr/>
        </p:nvSpPr>
        <p:spPr>
          <a:xfrm>
            <a:off x="277388" y="1069325"/>
            <a:ext cx="2331600" cy="365100"/>
          </a:xfrm>
          <a:prstGeom prst="roundRect">
            <a:avLst>
              <a:gd fmla="val 50000" name="adj"/>
            </a:avLst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7303A"/>
                </a:solidFill>
                <a:latin typeface="Oswald"/>
                <a:ea typeface="Oswald"/>
                <a:cs typeface="Oswald"/>
                <a:sym typeface="Oswald"/>
              </a:rPr>
              <a:t>App Interface</a:t>
            </a:r>
            <a:endParaRPr sz="2100"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1"/>
          <p:cNvSpPr txBox="1"/>
          <p:nvPr>
            <p:ph type="title"/>
          </p:nvPr>
        </p:nvSpPr>
        <p:spPr>
          <a:xfrm>
            <a:off x="264225" y="-1956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pic>
        <p:nvPicPr>
          <p:cNvPr id="352" name="Google Shape;35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10827" y="-44663"/>
            <a:ext cx="1781176" cy="841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2600"/>
            <a:ext cx="1781175" cy="100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549812"/>
            <a:ext cx="11887200" cy="60198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41"/>
          <p:cNvSpPr/>
          <p:nvPr/>
        </p:nvSpPr>
        <p:spPr>
          <a:xfrm>
            <a:off x="152400" y="996700"/>
            <a:ext cx="2250000" cy="675000"/>
          </a:xfrm>
          <a:prstGeom prst="roundRect">
            <a:avLst>
              <a:gd fmla="val 16667" name="adj"/>
            </a:avLst>
          </a:prstGeom>
          <a:solidFill>
            <a:srgbClr val="3F8F5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56" name="Google Shape;356;p41"/>
          <p:cNvSpPr/>
          <p:nvPr/>
        </p:nvSpPr>
        <p:spPr>
          <a:xfrm>
            <a:off x="2521725" y="996700"/>
            <a:ext cx="2250000" cy="675000"/>
          </a:xfrm>
          <a:prstGeom prst="roundRect">
            <a:avLst>
              <a:gd fmla="val 16667" name="adj"/>
            </a:avLst>
          </a:prstGeom>
          <a:solidFill>
            <a:srgbClr val="3F8F5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41"/>
          <p:cNvSpPr/>
          <p:nvPr/>
        </p:nvSpPr>
        <p:spPr>
          <a:xfrm>
            <a:off x="4891050" y="996700"/>
            <a:ext cx="2250000" cy="675000"/>
          </a:xfrm>
          <a:prstGeom prst="roundRect">
            <a:avLst>
              <a:gd fmla="val 16667" name="adj"/>
            </a:avLst>
          </a:prstGeom>
          <a:solidFill>
            <a:srgbClr val="3F8F5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58" name="Google Shape;358;p41"/>
          <p:cNvSpPr/>
          <p:nvPr/>
        </p:nvSpPr>
        <p:spPr>
          <a:xfrm>
            <a:off x="7260375" y="996700"/>
            <a:ext cx="2250000" cy="675000"/>
          </a:xfrm>
          <a:prstGeom prst="roundRect">
            <a:avLst>
              <a:gd fmla="val 16667" name="adj"/>
            </a:avLst>
          </a:prstGeom>
          <a:solidFill>
            <a:srgbClr val="3F8F5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59" name="Google Shape;359;p41"/>
          <p:cNvSpPr/>
          <p:nvPr/>
        </p:nvSpPr>
        <p:spPr>
          <a:xfrm>
            <a:off x="9629700" y="996700"/>
            <a:ext cx="2250000" cy="675000"/>
          </a:xfrm>
          <a:prstGeom prst="roundRect">
            <a:avLst>
              <a:gd fmla="val 16667" name="adj"/>
            </a:avLst>
          </a:prstGeom>
          <a:solidFill>
            <a:srgbClr val="3F8F5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60" name="Google Shape;360;p41"/>
          <p:cNvSpPr txBox="1"/>
          <p:nvPr/>
        </p:nvSpPr>
        <p:spPr>
          <a:xfrm>
            <a:off x="224850" y="947350"/>
            <a:ext cx="21051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AYUSH Startup &amp; MSME Enablement</a:t>
            </a:r>
            <a:endParaRPr b="1" sz="14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61" name="Google Shape;361;p41"/>
          <p:cNvSpPr txBox="1"/>
          <p:nvPr/>
        </p:nvSpPr>
        <p:spPr>
          <a:xfrm>
            <a:off x="2589300" y="996700"/>
            <a:ext cx="20424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Traditional Knowl</a:t>
            </a:r>
            <a:endParaRPr b="1" sz="14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edge Protection</a:t>
            </a:r>
            <a:endParaRPr b="1" sz="14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62" name="Google Shape;362;p41"/>
          <p:cNvSpPr txBox="1"/>
          <p:nvPr/>
        </p:nvSpPr>
        <p:spPr>
          <a:xfrm>
            <a:off x="4963500" y="996700"/>
            <a:ext cx="21051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Practitioner &amp; Researcher Access</a:t>
            </a:r>
            <a:endParaRPr b="1" sz="14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63" name="Google Shape;363;p41"/>
          <p:cNvSpPr txBox="1"/>
          <p:nvPr/>
        </p:nvSpPr>
        <p:spPr>
          <a:xfrm>
            <a:off x="7364175" y="947350"/>
            <a:ext cx="20424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Cultivator &amp; Biodiversity Compliance</a:t>
            </a:r>
            <a:endParaRPr b="1" sz="14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64" name="Google Shape;364;p41"/>
          <p:cNvSpPr txBox="1"/>
          <p:nvPr/>
        </p:nvSpPr>
        <p:spPr>
          <a:xfrm>
            <a:off x="9789600" y="996700"/>
            <a:ext cx="22500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Multilingual </a:t>
            </a:r>
            <a:endParaRPr b="1" sz="14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  Reach</a:t>
            </a:r>
            <a:endParaRPr b="1" sz="14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65" name="Google Shape;365;p41"/>
          <p:cNvSpPr txBox="1"/>
          <p:nvPr/>
        </p:nvSpPr>
        <p:spPr>
          <a:xfrm>
            <a:off x="287550" y="1810800"/>
            <a:ext cx="20424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Turns fragmented statutes and treaties into one jurisdiction-clear conversation smaller innovators can act on.</a:t>
            </a:r>
            <a:endParaRPr sz="1150">
              <a:solidFill>
                <a:srgbClr val="3A3A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66" name="Google Shape;366;p41"/>
          <p:cNvSpPr txBox="1"/>
          <p:nvPr/>
        </p:nvSpPr>
        <p:spPr>
          <a:xfrm>
            <a:off x="2641200" y="1786125"/>
            <a:ext cx="20424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TKDL/prior-art pointers help stop India's TK from being patented abroad without attribution.</a:t>
            </a:r>
            <a:endParaRPr sz="1150">
              <a:solidFill>
                <a:srgbClr val="3A3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41"/>
          <p:cNvSpPr txBox="1"/>
          <p:nvPr/>
        </p:nvSpPr>
        <p:spPr>
          <a:xfrm>
            <a:off x="4994850" y="1786125"/>
            <a:ext cx="20424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Makes overlapping IP, ABS, and drug-regulatory frameworks navigable without a specialist consultant.</a:t>
            </a:r>
            <a:endParaRPr sz="1150">
              <a:solidFill>
                <a:srgbClr val="3A3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41"/>
          <p:cNvSpPr txBox="1"/>
          <p:nvPr/>
        </p:nvSpPr>
        <p:spPr>
          <a:xfrm>
            <a:off x="7348500" y="1761488"/>
            <a:ext cx="20424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An ABS-compliance helper clarifies benefit-sharing duties tied to biological resource us</a:t>
            </a:r>
            <a:r>
              <a:rPr lang="en-US" sz="10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e.</a:t>
            </a:r>
            <a:endParaRPr sz="1050">
              <a:solidFill>
                <a:srgbClr val="3A3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41"/>
          <p:cNvSpPr txBox="1"/>
          <p:nvPr/>
        </p:nvSpPr>
        <p:spPr>
          <a:xfrm>
            <a:off x="9702150" y="1761488"/>
            <a:ext cx="20424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Bhashini-based delivery brings regulatory guidance to non-English-first AYUSH communities.</a:t>
            </a:r>
            <a:endParaRPr sz="1150">
              <a:solidFill>
                <a:srgbClr val="3A3A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370" name="Google Shape;370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2722363"/>
            <a:ext cx="11887200" cy="60198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41"/>
          <p:cNvSpPr/>
          <p:nvPr/>
        </p:nvSpPr>
        <p:spPr>
          <a:xfrm>
            <a:off x="76238" y="3209613"/>
            <a:ext cx="1628700" cy="675000"/>
          </a:xfrm>
          <a:prstGeom prst="roundRect">
            <a:avLst>
              <a:gd fmla="val 16667" name="adj"/>
            </a:avLst>
          </a:prstGeom>
          <a:solidFill>
            <a:srgbClr val="3F8F5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Faster IP Decisions</a:t>
            </a:r>
            <a:endParaRPr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41"/>
          <p:cNvSpPr/>
          <p:nvPr/>
        </p:nvSpPr>
        <p:spPr>
          <a:xfrm>
            <a:off x="5191025" y="3209625"/>
            <a:ext cx="1628700" cy="675000"/>
          </a:xfrm>
          <a:prstGeom prst="roundRect">
            <a:avLst>
              <a:gd fmla="val 16667" name="adj"/>
            </a:avLst>
          </a:prstGeom>
          <a:solidFill>
            <a:srgbClr val="3F8F5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Confidence-Scored Guidance</a:t>
            </a:r>
            <a:endParaRPr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41"/>
          <p:cNvSpPr/>
          <p:nvPr/>
        </p:nvSpPr>
        <p:spPr>
          <a:xfrm>
            <a:off x="3486100" y="3209625"/>
            <a:ext cx="1628700" cy="675000"/>
          </a:xfrm>
          <a:prstGeom prst="roundRect">
            <a:avLst>
              <a:gd fmla="val 16667" name="adj"/>
            </a:avLst>
          </a:prstGeom>
          <a:solidFill>
            <a:srgbClr val="3F8F5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Grounded, Cited Answers</a:t>
            </a:r>
            <a:endParaRPr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41"/>
          <p:cNvSpPr/>
          <p:nvPr/>
        </p:nvSpPr>
        <p:spPr>
          <a:xfrm>
            <a:off x="1781175" y="3209625"/>
            <a:ext cx="1628700" cy="675000"/>
          </a:xfrm>
          <a:prstGeom prst="roundRect">
            <a:avLst>
              <a:gd fmla="val 16667" name="adj"/>
            </a:avLst>
          </a:prstGeom>
          <a:solidFill>
            <a:srgbClr val="3F8F5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Reduced Misappropriation Risk</a:t>
            </a:r>
            <a:endParaRPr b="1" sz="13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41"/>
          <p:cNvSpPr/>
          <p:nvPr/>
        </p:nvSpPr>
        <p:spPr>
          <a:xfrm>
            <a:off x="6895950" y="3209625"/>
            <a:ext cx="1628700" cy="675000"/>
          </a:xfrm>
          <a:prstGeom prst="roundRect">
            <a:avLst>
              <a:gd fmla="val 16667" name="adj"/>
            </a:avLst>
          </a:prstGeom>
          <a:solidFill>
            <a:srgbClr val="3F8F5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Cross-Regime Coverage</a:t>
            </a:r>
            <a:endParaRPr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41"/>
          <p:cNvSpPr/>
          <p:nvPr/>
        </p:nvSpPr>
        <p:spPr>
          <a:xfrm>
            <a:off x="8600875" y="3209625"/>
            <a:ext cx="1628700" cy="675000"/>
          </a:xfrm>
          <a:prstGeom prst="roundRect">
            <a:avLst>
              <a:gd fmla="val 16667" name="adj"/>
            </a:avLst>
          </a:prstGeom>
          <a:solidFill>
            <a:srgbClr val="3F8F5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Staged, Scalable Build</a:t>
            </a:r>
            <a:endParaRPr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7" name="Google Shape;377;p41"/>
          <p:cNvCxnSpPr/>
          <p:nvPr/>
        </p:nvCxnSpPr>
        <p:spPr>
          <a:xfrm>
            <a:off x="152400" y="5000640"/>
            <a:ext cx="11887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8" name="Google Shape;378;p41"/>
          <p:cNvSpPr txBox="1"/>
          <p:nvPr/>
        </p:nvSpPr>
        <p:spPr>
          <a:xfrm>
            <a:off x="152400" y="4375000"/>
            <a:ext cx="1468200" cy="10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79" name="Google Shape;379;p41"/>
          <p:cNvSpPr/>
          <p:nvPr/>
        </p:nvSpPr>
        <p:spPr>
          <a:xfrm>
            <a:off x="10305800" y="3209625"/>
            <a:ext cx="1628700" cy="675000"/>
          </a:xfrm>
          <a:prstGeom prst="roundRect">
            <a:avLst>
              <a:gd fmla="val 16667" name="adj"/>
            </a:avLst>
          </a:prstGeom>
          <a:solidFill>
            <a:srgbClr val="3F8F5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Privacy &amp; Standards-Aligned</a:t>
            </a:r>
            <a:endParaRPr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41"/>
          <p:cNvSpPr txBox="1"/>
          <p:nvPr/>
        </p:nvSpPr>
        <p:spPr>
          <a:xfrm>
            <a:off x="76250" y="3889000"/>
            <a:ext cx="1704900" cy="10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Formulation classification + jurisdiction toggle replace weeks of statute cross-referencing with a guided chat.</a:t>
            </a:r>
            <a:endParaRPr sz="1150">
              <a:solidFill>
                <a:srgbClr val="3A3A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81" name="Google Shape;381;p41"/>
          <p:cNvSpPr txBox="1"/>
          <p:nvPr/>
        </p:nvSpPr>
        <p:spPr>
          <a:xfrm>
            <a:off x="1838288" y="3889000"/>
            <a:ext cx="1628700" cy="10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Prior-art and TKDL checks catch conflicts before filing, not after a foreign patent is granted</a:t>
            </a:r>
            <a:r>
              <a:rPr lang="en-US" sz="110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100">
              <a:solidFill>
                <a:srgbClr val="3A3A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82" name="Google Shape;382;p41"/>
          <p:cNvSpPr txBox="1"/>
          <p:nvPr/>
        </p:nvSpPr>
        <p:spPr>
          <a:xfrm>
            <a:off x="3524163" y="3938350"/>
            <a:ext cx="1628700" cy="10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Every answer traces to a specific statute, rule, treaty article, or record — never fabricated.</a:t>
            </a:r>
            <a:endParaRPr sz="1150">
              <a:solidFill>
                <a:srgbClr val="3A3A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83" name="Google Shape;383;p41"/>
          <p:cNvSpPr txBox="1"/>
          <p:nvPr/>
        </p:nvSpPr>
        <p:spPr>
          <a:xfrm>
            <a:off x="5170500" y="3938350"/>
            <a:ext cx="1628700" cy="10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Low-confidence or out-of-scope queries route to a human IP facilitator instead of guessing.</a:t>
            </a:r>
            <a:endParaRPr sz="1150">
              <a:solidFill>
                <a:srgbClr val="3A3A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84" name="Google Shape;384;p41"/>
          <p:cNvSpPr txBox="1"/>
          <p:nvPr/>
        </p:nvSpPr>
        <p:spPr>
          <a:xfrm>
            <a:off x="6895950" y="3889000"/>
            <a:ext cx="1628700" cy="10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One assistant spans patents, GI, trademarks, copyright, designs, trade secrets, and ABS together.</a:t>
            </a:r>
            <a:endParaRPr sz="1150">
              <a:solidFill>
                <a:srgbClr val="3A3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41"/>
          <p:cNvSpPr txBox="1"/>
          <p:nvPr/>
        </p:nvSpPr>
        <p:spPr>
          <a:xfrm>
            <a:off x="8621400" y="3889000"/>
            <a:ext cx="1628700" cy="10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MVP retrieval first, then knowledge graph + agentic reasoning, then connectors and full voice.</a:t>
            </a:r>
            <a:endParaRPr sz="1150">
              <a:solidFill>
                <a:srgbClr val="3A3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41"/>
          <p:cNvSpPr txBox="1"/>
          <p:nvPr/>
        </p:nvSpPr>
        <p:spPr>
          <a:xfrm>
            <a:off x="10346850" y="3938338"/>
            <a:ext cx="1468200" cy="10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DPDP-aligned privacy, audit, and security are built in from the MVP, not bolted on later.</a:t>
            </a:r>
            <a:endParaRPr sz="1150">
              <a:solidFill>
                <a:srgbClr val="3A3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7" name="Google Shape;387;p41"/>
          <p:cNvCxnSpPr/>
          <p:nvPr/>
        </p:nvCxnSpPr>
        <p:spPr>
          <a:xfrm>
            <a:off x="152400" y="2760090"/>
            <a:ext cx="11887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88" name="Google Shape;388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31688" y="4894925"/>
            <a:ext cx="3207667" cy="601975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41"/>
          <p:cNvSpPr/>
          <p:nvPr/>
        </p:nvSpPr>
        <p:spPr>
          <a:xfrm>
            <a:off x="152400" y="5315400"/>
            <a:ext cx="3884400" cy="5034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Jurisdiction Toggle</a:t>
            </a:r>
            <a:endParaRPr b="1" sz="17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41"/>
          <p:cNvSpPr/>
          <p:nvPr/>
        </p:nvSpPr>
        <p:spPr>
          <a:xfrm>
            <a:off x="4153800" y="5315400"/>
            <a:ext cx="3884400" cy="5034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Formulation-Classification Flow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91" name="Google Shape;391;p41"/>
          <p:cNvSpPr/>
          <p:nvPr/>
        </p:nvSpPr>
        <p:spPr>
          <a:xfrm>
            <a:off x="8155200" y="5315400"/>
            <a:ext cx="3884400" cy="5034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  </a:t>
            </a:r>
            <a:endParaRPr b="1" sz="17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endParaRPr b="1" sz="17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92" name="Google Shape;392;p41"/>
          <p:cNvSpPr txBox="1"/>
          <p:nvPr/>
        </p:nvSpPr>
        <p:spPr>
          <a:xfrm>
            <a:off x="8257950" y="5352600"/>
            <a:ext cx="36789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TKDL &amp; Prior-Art Pointer</a:t>
            </a:r>
            <a:endParaRPr b="1" sz="17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93" name="Google Shape;393;p41"/>
          <p:cNvSpPr txBox="1"/>
          <p:nvPr/>
        </p:nvSpPr>
        <p:spPr>
          <a:xfrm>
            <a:off x="152400" y="5891550"/>
            <a:ext cx="38844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India vs. international answer-sets stay visibly separate — never conflated in one response.</a:t>
            </a:r>
            <a:endParaRPr sz="1250">
              <a:solidFill>
                <a:srgbClr val="3A3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41"/>
          <p:cNvSpPr txBox="1"/>
          <p:nvPr/>
        </p:nvSpPr>
        <p:spPr>
          <a:xfrm>
            <a:off x="4073850" y="5891550"/>
            <a:ext cx="38844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Classifies a product (classical / proprietary / new drug / phytopharmaceutical / nutraceutical / cosmetic) before answering, since each carries a different IP and ABS posture.</a:t>
            </a:r>
            <a:endParaRPr sz="1250">
              <a:solidFill>
                <a:srgbClr val="3A3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41"/>
          <p:cNvSpPr txBox="1"/>
          <p:nvPr/>
        </p:nvSpPr>
        <p:spPr>
          <a:xfrm>
            <a:off x="8155200" y="5891550"/>
            <a:ext cx="38844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Flags the Section 3(p) patenting bar and points to the Traditional Knowledge Digital Library before a user files.</a:t>
            </a:r>
            <a:endParaRPr sz="1250">
              <a:solidFill>
                <a:srgbClr val="3A3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2"/>
          <p:cNvSpPr txBox="1"/>
          <p:nvPr>
            <p:ph type="title"/>
          </p:nvPr>
        </p:nvSpPr>
        <p:spPr>
          <a:xfrm>
            <a:off x="2705367" y="-47625"/>
            <a:ext cx="690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RESEARCH AND REFERENCES</a:t>
            </a:r>
            <a:endParaRPr/>
          </a:p>
        </p:txBody>
      </p:sp>
      <p:pic>
        <p:nvPicPr>
          <p:cNvPr id="402" name="Google Shape;40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42"/>
          <p:cNvSpPr txBox="1"/>
          <p:nvPr/>
        </p:nvSpPr>
        <p:spPr>
          <a:xfrm>
            <a:off x="7219260" y="1129736"/>
            <a:ext cx="33834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F3B73"/>
                </a:solidFill>
                <a:latin typeface="Arial"/>
                <a:ea typeface="Arial"/>
                <a:cs typeface="Arial"/>
                <a:sym typeface="Arial"/>
              </a:rPr>
              <a:t>SDG 9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42"/>
          <p:cNvSpPr/>
          <p:nvPr/>
        </p:nvSpPr>
        <p:spPr>
          <a:xfrm>
            <a:off x="411480" y="1223635"/>
            <a:ext cx="365760" cy="324430"/>
          </a:xfrm>
          <a:prstGeom prst="ellipse">
            <a:avLst/>
          </a:prstGeom>
          <a:solidFill>
            <a:srgbClr val="1F3B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42"/>
          <p:cNvSpPr txBox="1"/>
          <p:nvPr/>
        </p:nvSpPr>
        <p:spPr>
          <a:xfrm>
            <a:off x="411480" y="1223635"/>
            <a:ext cx="365760" cy="324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42"/>
          <p:cNvSpPr txBox="1"/>
          <p:nvPr/>
        </p:nvSpPr>
        <p:spPr>
          <a:xfrm>
            <a:off x="914400" y="1179446"/>
            <a:ext cx="7132320" cy="243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F3B73"/>
                </a:solidFill>
                <a:latin typeface="Arial"/>
                <a:ea typeface="Arial"/>
                <a:cs typeface="Arial"/>
                <a:sym typeface="Arial"/>
              </a:rPr>
              <a:t>Retrieval-Augmented Generation (RAG)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42"/>
          <p:cNvSpPr txBox="1"/>
          <p:nvPr/>
        </p:nvSpPr>
        <p:spPr>
          <a:xfrm>
            <a:off x="914400" y="1435740"/>
            <a:ext cx="7132320" cy="421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Summary:  </a:t>
            </a:r>
            <a:r>
              <a:rPr b="0" i="0" lang="en-US" sz="105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Pairs a language model with a retriever over an external index, grounding answers in retrieved passages rather than model memory alone.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42"/>
          <p:cNvSpPr txBox="1"/>
          <p:nvPr/>
        </p:nvSpPr>
        <p:spPr>
          <a:xfrm>
            <a:off x="914400" y="1877626"/>
            <a:ext cx="7132320" cy="2027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Link:  </a:t>
            </a:r>
            <a:r>
              <a:rPr b="0" i="0" lang="en-US" sz="105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arxiv.org/abs/2005.11401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42"/>
          <p:cNvSpPr/>
          <p:nvPr/>
        </p:nvSpPr>
        <p:spPr>
          <a:xfrm>
            <a:off x="411480" y="2133921"/>
            <a:ext cx="365760" cy="324430"/>
          </a:xfrm>
          <a:prstGeom prst="ellipse">
            <a:avLst/>
          </a:prstGeom>
          <a:solidFill>
            <a:srgbClr val="1F3B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42"/>
          <p:cNvSpPr txBox="1"/>
          <p:nvPr/>
        </p:nvSpPr>
        <p:spPr>
          <a:xfrm>
            <a:off x="411480" y="2133921"/>
            <a:ext cx="365760" cy="324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42"/>
          <p:cNvSpPr txBox="1"/>
          <p:nvPr/>
        </p:nvSpPr>
        <p:spPr>
          <a:xfrm>
            <a:off x="914400" y="2089732"/>
            <a:ext cx="7132320" cy="243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F3B73"/>
                </a:solidFill>
                <a:latin typeface="Arial"/>
                <a:ea typeface="Arial"/>
                <a:cs typeface="Arial"/>
                <a:sym typeface="Arial"/>
              </a:rPr>
              <a:t>Traditional Knowledge Digital Library (TKDL)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42"/>
          <p:cNvSpPr txBox="1"/>
          <p:nvPr/>
        </p:nvSpPr>
        <p:spPr>
          <a:xfrm>
            <a:off x="914400" y="2346026"/>
            <a:ext cx="7132320" cy="421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Summary:  </a:t>
            </a:r>
            <a:r>
              <a:rPr b="0" i="0" lang="en-US" sz="105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CSIR – Ministry of AYUSH prior-art database of India’s classical Ayurveda, Unani, Siddha and Yoga formulations, used to block wrongful patents abroad.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42"/>
          <p:cNvSpPr txBox="1"/>
          <p:nvPr/>
        </p:nvSpPr>
        <p:spPr>
          <a:xfrm>
            <a:off x="914400" y="2787913"/>
            <a:ext cx="7132320" cy="2027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Link:  </a:t>
            </a:r>
            <a:r>
              <a:rPr b="0" i="0" lang="en-US" sz="105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tkdl.res.in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42"/>
          <p:cNvSpPr/>
          <p:nvPr/>
        </p:nvSpPr>
        <p:spPr>
          <a:xfrm>
            <a:off x="411480" y="3044207"/>
            <a:ext cx="365760" cy="324430"/>
          </a:xfrm>
          <a:prstGeom prst="ellipse">
            <a:avLst/>
          </a:prstGeom>
          <a:solidFill>
            <a:srgbClr val="1F3B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42"/>
          <p:cNvSpPr txBox="1"/>
          <p:nvPr/>
        </p:nvSpPr>
        <p:spPr>
          <a:xfrm>
            <a:off x="411480" y="3044207"/>
            <a:ext cx="365760" cy="324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42"/>
          <p:cNvSpPr txBox="1"/>
          <p:nvPr/>
        </p:nvSpPr>
        <p:spPr>
          <a:xfrm>
            <a:off x="914400" y="3000019"/>
            <a:ext cx="7132320" cy="243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F3B73"/>
                </a:solidFill>
                <a:latin typeface="Arial"/>
                <a:ea typeface="Arial"/>
                <a:cs typeface="Arial"/>
                <a:sym typeface="Arial"/>
              </a:rPr>
              <a:t>WIPO GRATK Treaty (2024)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42"/>
          <p:cNvSpPr txBox="1"/>
          <p:nvPr/>
        </p:nvSpPr>
        <p:spPr>
          <a:xfrm>
            <a:off x="914400" y="3256312"/>
            <a:ext cx="7132320" cy="421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Summary:  </a:t>
            </a:r>
            <a:r>
              <a:rPr b="0" i="0" lang="en-US" sz="105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New WIPO treaty requiring patent applicants to disclose the country of origin of genetic resources and associated traditional knowledge used in an invention.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42"/>
          <p:cNvSpPr txBox="1"/>
          <p:nvPr/>
        </p:nvSpPr>
        <p:spPr>
          <a:xfrm>
            <a:off x="914400" y="3698199"/>
            <a:ext cx="7132320" cy="2027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Link:  </a:t>
            </a:r>
            <a:r>
              <a:rPr b="0" i="0" lang="en-US" sz="105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wipo.int/en/web/treaties/ip/gratk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42"/>
          <p:cNvSpPr/>
          <p:nvPr/>
        </p:nvSpPr>
        <p:spPr>
          <a:xfrm>
            <a:off x="411480" y="3954492"/>
            <a:ext cx="365760" cy="324430"/>
          </a:xfrm>
          <a:prstGeom prst="ellipse">
            <a:avLst/>
          </a:prstGeom>
          <a:solidFill>
            <a:srgbClr val="1F3B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2"/>
          <p:cNvSpPr txBox="1"/>
          <p:nvPr/>
        </p:nvSpPr>
        <p:spPr>
          <a:xfrm>
            <a:off x="411480" y="3954492"/>
            <a:ext cx="365760" cy="324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42"/>
          <p:cNvSpPr txBox="1"/>
          <p:nvPr/>
        </p:nvSpPr>
        <p:spPr>
          <a:xfrm>
            <a:off x="914400" y="3910305"/>
            <a:ext cx="7132320" cy="243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F3B73"/>
                </a:solidFill>
                <a:latin typeface="Arial"/>
                <a:ea typeface="Arial"/>
                <a:cs typeface="Arial"/>
                <a:sym typeface="Arial"/>
              </a:rPr>
              <a:t>National Biodiversity Authority – ABS Regulations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42"/>
          <p:cNvSpPr txBox="1"/>
          <p:nvPr/>
        </p:nvSpPr>
        <p:spPr>
          <a:xfrm>
            <a:off x="914400" y="4166598"/>
            <a:ext cx="7132320" cy="421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Summary:  </a:t>
            </a:r>
            <a:r>
              <a:rPr b="0" i="0" lang="en-US" sz="105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Statutory body administering India’s Biological Diversity Act; issues access &amp; benefit-sharing approvals for use of biological resources and associated knowledge.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42"/>
          <p:cNvSpPr txBox="1"/>
          <p:nvPr/>
        </p:nvSpPr>
        <p:spPr>
          <a:xfrm>
            <a:off x="914400" y="4608485"/>
            <a:ext cx="7132320" cy="2027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Link:  </a:t>
            </a:r>
            <a:r>
              <a:rPr b="0" i="0" lang="en-US" sz="105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nbaindia.nic.in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42"/>
          <p:cNvSpPr/>
          <p:nvPr/>
        </p:nvSpPr>
        <p:spPr>
          <a:xfrm>
            <a:off x="411480" y="4864779"/>
            <a:ext cx="365760" cy="324430"/>
          </a:xfrm>
          <a:prstGeom prst="ellipse">
            <a:avLst/>
          </a:prstGeom>
          <a:solidFill>
            <a:srgbClr val="1F3B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42"/>
          <p:cNvSpPr txBox="1"/>
          <p:nvPr/>
        </p:nvSpPr>
        <p:spPr>
          <a:xfrm>
            <a:off x="411480" y="4864779"/>
            <a:ext cx="365760" cy="324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2"/>
          <p:cNvSpPr txBox="1"/>
          <p:nvPr/>
        </p:nvSpPr>
        <p:spPr>
          <a:xfrm>
            <a:off x="914400" y="4820590"/>
            <a:ext cx="7132320" cy="243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F3B73"/>
                </a:solidFill>
                <a:latin typeface="Arial"/>
                <a:ea typeface="Arial"/>
                <a:cs typeface="Arial"/>
                <a:sym typeface="Arial"/>
              </a:rPr>
              <a:t>IndicTrans2 (AI4Bharat)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42"/>
          <p:cNvSpPr txBox="1"/>
          <p:nvPr/>
        </p:nvSpPr>
        <p:spPr>
          <a:xfrm>
            <a:off x="914400" y="5076885"/>
            <a:ext cx="7132320" cy="421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Summary:  </a:t>
            </a:r>
            <a:r>
              <a:rPr b="0" i="0" lang="en-US" sz="105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Open-source translation system covering all 22 scheduled Indian languages, built by AI4Bharat (IIT Madras) — powers our multilingual layer.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42"/>
          <p:cNvSpPr txBox="1"/>
          <p:nvPr/>
        </p:nvSpPr>
        <p:spPr>
          <a:xfrm>
            <a:off x="914400" y="5518771"/>
            <a:ext cx="7132320" cy="2027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Link:  </a:t>
            </a:r>
            <a:r>
              <a:rPr b="0" i="0" lang="en-US" sz="105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github.com/AI4Bharat/IndicTrans2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42"/>
          <p:cNvSpPr/>
          <p:nvPr/>
        </p:nvSpPr>
        <p:spPr>
          <a:xfrm>
            <a:off x="411480" y="5775065"/>
            <a:ext cx="365760" cy="324430"/>
          </a:xfrm>
          <a:prstGeom prst="ellipse">
            <a:avLst/>
          </a:prstGeom>
          <a:solidFill>
            <a:srgbClr val="1F3B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42"/>
          <p:cNvSpPr txBox="1"/>
          <p:nvPr/>
        </p:nvSpPr>
        <p:spPr>
          <a:xfrm>
            <a:off x="411480" y="5775065"/>
            <a:ext cx="365760" cy="324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42"/>
          <p:cNvSpPr txBox="1"/>
          <p:nvPr/>
        </p:nvSpPr>
        <p:spPr>
          <a:xfrm>
            <a:off x="914400" y="5730876"/>
            <a:ext cx="7132320" cy="243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F3B73"/>
                </a:solidFill>
                <a:latin typeface="Arial"/>
                <a:ea typeface="Arial"/>
                <a:cs typeface="Arial"/>
                <a:sym typeface="Arial"/>
              </a:rPr>
              <a:t>Patents Act, 1970 – Section 3(p) (IP India)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42"/>
          <p:cNvSpPr txBox="1"/>
          <p:nvPr/>
        </p:nvSpPr>
        <p:spPr>
          <a:xfrm>
            <a:off x="914400" y="5987171"/>
            <a:ext cx="7132320" cy="421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Summary:  </a:t>
            </a:r>
            <a:r>
              <a:rPr b="0" i="0" lang="en-US" sz="105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Official text of India’s Patents Act, including Section 3(p), which bars patents that are, in effect, traditional knowledge.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42"/>
          <p:cNvSpPr txBox="1"/>
          <p:nvPr/>
        </p:nvSpPr>
        <p:spPr>
          <a:xfrm>
            <a:off x="914400" y="6429057"/>
            <a:ext cx="7132320" cy="2027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Link:  </a:t>
            </a:r>
            <a:r>
              <a:rPr b="0" i="0" lang="en-US" sz="105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ipindia.gov.in/pages/patents/chapter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42"/>
          <p:cNvSpPr/>
          <p:nvPr/>
        </p:nvSpPr>
        <p:spPr>
          <a:xfrm>
            <a:off x="8412480" y="1506939"/>
            <a:ext cx="3383280" cy="1090542"/>
          </a:xfrm>
          <a:prstGeom prst="roundRect">
            <a:avLst>
              <a:gd fmla="val 9375" name="adj"/>
            </a:avLst>
          </a:prstGeom>
          <a:solidFill>
            <a:srgbClr val="FBDFC0"/>
          </a:solidFill>
          <a:ln cap="flat" cmpd="sng" w="12700">
            <a:solidFill>
              <a:srgbClr val="F0B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42"/>
          <p:cNvSpPr txBox="1"/>
          <p:nvPr/>
        </p:nvSpPr>
        <p:spPr>
          <a:xfrm>
            <a:off x="8577072" y="1599775"/>
            <a:ext cx="3054096" cy="920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F3B73"/>
                </a:solidFill>
                <a:latin typeface="Arial"/>
                <a:ea typeface="Arial"/>
                <a:cs typeface="Arial"/>
                <a:sym typeface="Arial"/>
              </a:rPr>
              <a:t>Target 9.1 — Access to Quality Infrastructure</a:t>
            </a:r>
            <a:br>
              <a:rPr b="1" i="0" lang="en-US" sz="1150" u="none" cap="none" strike="noStrike">
                <a:solidFill>
                  <a:srgbClr val="1F3B7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Turns India’s scattered IP, ABS and drug-regulatory rules into one searchable, plain-language system.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42"/>
          <p:cNvSpPr/>
          <p:nvPr/>
        </p:nvSpPr>
        <p:spPr>
          <a:xfrm>
            <a:off x="8412480" y="2825196"/>
            <a:ext cx="3383280" cy="1090542"/>
          </a:xfrm>
          <a:prstGeom prst="roundRect">
            <a:avLst>
              <a:gd fmla="val 9375" name="adj"/>
            </a:avLst>
          </a:prstGeom>
          <a:solidFill>
            <a:srgbClr val="FBDFC0"/>
          </a:solidFill>
          <a:ln cap="flat" cmpd="sng" w="12700">
            <a:solidFill>
              <a:srgbClr val="F0B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42"/>
          <p:cNvSpPr txBox="1"/>
          <p:nvPr/>
        </p:nvSpPr>
        <p:spPr>
          <a:xfrm>
            <a:off x="8577072" y="2918032"/>
            <a:ext cx="3054096" cy="920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F3B73"/>
                </a:solidFill>
                <a:latin typeface="Arial"/>
                <a:ea typeface="Arial"/>
                <a:cs typeface="Arial"/>
                <a:sym typeface="Arial"/>
              </a:rPr>
              <a:t>Target 9.3 — MSME &amp; Startup Access</a:t>
            </a:r>
            <a:br>
              <a:rPr b="1" i="0" lang="en-US" sz="1150" u="none" cap="none" strike="noStrike">
                <a:solidFill>
                  <a:srgbClr val="1F3B7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Gives AYUSH startups and small manufacturers affordable, guided IP and compliance direction without a specialist consultant.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42"/>
          <p:cNvSpPr/>
          <p:nvPr/>
        </p:nvSpPr>
        <p:spPr>
          <a:xfrm>
            <a:off x="8412480" y="4143454"/>
            <a:ext cx="3383280" cy="1090542"/>
          </a:xfrm>
          <a:prstGeom prst="roundRect">
            <a:avLst>
              <a:gd fmla="val 9375" name="adj"/>
            </a:avLst>
          </a:prstGeom>
          <a:solidFill>
            <a:srgbClr val="FBDFC0"/>
          </a:solidFill>
          <a:ln cap="flat" cmpd="sng" w="12700">
            <a:solidFill>
              <a:srgbClr val="F0B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42"/>
          <p:cNvSpPr txBox="1"/>
          <p:nvPr/>
        </p:nvSpPr>
        <p:spPr>
          <a:xfrm>
            <a:off x="8577072" y="4236290"/>
            <a:ext cx="3054096" cy="920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F3B73"/>
                </a:solidFill>
                <a:latin typeface="Arial"/>
                <a:ea typeface="Arial"/>
                <a:cs typeface="Arial"/>
                <a:sym typeface="Arial"/>
              </a:rPr>
              <a:t>Target 9.5 — Enhance Scientific Research</a:t>
            </a:r>
            <a:br>
              <a:rPr b="1" i="0" lang="en-US" sz="1150" u="none" cap="none" strike="noStrike">
                <a:solidFill>
                  <a:srgbClr val="1F3B7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Applies modern retrieval-augmented AI and a version-tracked legal corpus to India’s legal-tech research base.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42"/>
          <p:cNvSpPr/>
          <p:nvPr/>
        </p:nvSpPr>
        <p:spPr>
          <a:xfrm>
            <a:off x="8412480" y="5461711"/>
            <a:ext cx="3383280" cy="1090542"/>
          </a:xfrm>
          <a:prstGeom prst="roundRect">
            <a:avLst>
              <a:gd fmla="val 9375" name="adj"/>
            </a:avLst>
          </a:prstGeom>
          <a:solidFill>
            <a:srgbClr val="FBDFC0"/>
          </a:solidFill>
          <a:ln cap="flat" cmpd="sng" w="12700">
            <a:solidFill>
              <a:srgbClr val="F0B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42"/>
          <p:cNvSpPr txBox="1"/>
          <p:nvPr/>
        </p:nvSpPr>
        <p:spPr>
          <a:xfrm>
            <a:off x="8577072" y="5554547"/>
            <a:ext cx="3054096" cy="920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F3B73"/>
                </a:solidFill>
                <a:latin typeface="Arial"/>
                <a:ea typeface="Arial"/>
                <a:cs typeface="Arial"/>
                <a:sym typeface="Arial"/>
              </a:rPr>
              <a:t>Target 9.b — Domestic Technology Capacity</a:t>
            </a:r>
            <a:br>
              <a:rPr b="1" i="0" lang="en-US" sz="1150" u="none" cap="none" strike="noStrike">
                <a:solidFill>
                  <a:srgbClr val="1F3B7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Built on IndicTrans2 (AI4Bharat) and an Indian legal corpus instead of foreign NLP tools or generic AI.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2" name="Google Shape;442;p42"/>
          <p:cNvPicPr preferRelativeResize="0"/>
          <p:nvPr/>
        </p:nvPicPr>
        <p:blipFill rotWithShape="1">
          <a:blip r:embed="rId10">
            <a:alphaModFix/>
          </a:blip>
          <a:srcRect b="29070" l="0" r="0" t="23997"/>
          <a:stretch/>
        </p:blipFill>
        <p:spPr>
          <a:xfrm>
            <a:off x="139450" y="220175"/>
            <a:ext cx="2651851" cy="780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