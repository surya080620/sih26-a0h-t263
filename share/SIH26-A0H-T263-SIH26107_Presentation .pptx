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169" name="Google Shape;1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10" name="Google Shape;2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284" name="Google Shape;2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"/>
            <a:headEnd len="sm" w="sm" type="none"/>
            <a:tailEnd len="sm" w="sm" type="none"/>
          </a:ln>
        </p:spPr>
      </p:sp>
      <p:sp>
        <p:nvSpPr>
          <p:cNvPr id="341" name="Google Shape;3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1198800" y="914400"/>
            <a:ext cx="97992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1198800" y="3560400"/>
            <a:ext cx="9799200" cy="14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990800" y="3848400"/>
            <a:ext cx="7768800" cy="7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Aria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1990800" y="4615200"/>
            <a:ext cx="77688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sz="1800">
                <a:solidFill>
                  <a:srgbClr val="595959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6084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2" type="body"/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7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608400" y="1429200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body"/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8"/>
          <p:cNvSpPr txBox="1"/>
          <p:nvPr>
            <p:ph idx="3" type="body"/>
          </p:nvPr>
        </p:nvSpPr>
        <p:spPr>
          <a:xfrm>
            <a:off x="6235750" y="1421729"/>
            <a:ext cx="5342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101600" spcFirstLastPara="1" rIns="76200" wrap="square" tIns="381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8"/>
          <p:cNvSpPr txBox="1"/>
          <p:nvPr>
            <p:ph idx="4" type="body"/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1600" spcFirstLastPara="1" rIns="82550" wrap="square" tIns="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18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8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>
            <p:ph idx="2" type="pic"/>
          </p:nvPr>
        </p:nvSpPr>
        <p:spPr>
          <a:xfrm>
            <a:off x="608400" y="1555200"/>
            <a:ext cx="5233077" cy="460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None/>
              <a:defRPr sz="16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21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 rot="5400000">
            <a:off x="8242200" y="2907000"/>
            <a:ext cx="5029200" cy="10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Arial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 rot="5400000">
            <a:off x="2984400" y="-1155600"/>
            <a:ext cx="5029200" cy="9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46800" spcFirstLastPara="1" rIns="468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302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2pPr>
            <a:lvl3pPr indent="-3302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Char char="●"/>
              <a:defRPr/>
            </a:lvl3pPr>
            <a:lvl4pPr indent="-3175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2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608400" y="774000"/>
            <a:ext cx="10972800" cy="54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">
  <p:cSld name="Last Slide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24"/>
          <p:cNvSpPr txBox="1"/>
          <p:nvPr>
            <p:ph type="title"/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" type="body"/>
          </p:nvPr>
        </p:nvSpPr>
        <p:spPr>
          <a:xfrm>
            <a:off x="1198800" y="3560400"/>
            <a:ext cx="97992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400"/>
              <a:buNone/>
              <a:defRPr sz="2400"/>
            </a:lvl1pPr>
            <a:lvl2pPr indent="-342900" lvl="1" marL="9144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975" lIns="90150" spcFirstLastPara="1" rIns="90150" wrap="square" tIns="4697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rmAutofit/>
          </a:bodyPr>
          <a:lstStyle>
            <a:lvl1pPr indent="-3429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Char char="●"/>
              <a:defRPr b="0" i="0" sz="16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Noto Sans Symbols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14.png"/><Relationship Id="rId10" Type="http://schemas.openxmlformats.org/officeDocument/2006/relationships/image" Target="../media/image20.png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11" Type="http://schemas.openxmlformats.org/officeDocument/2006/relationships/hyperlink" Target="https://arxiv.org/abs/2005.11401" TargetMode="External"/><Relationship Id="rId22" Type="http://schemas.openxmlformats.org/officeDocument/2006/relationships/image" Target="../media/image11.png"/><Relationship Id="rId10" Type="http://schemas.openxmlformats.org/officeDocument/2006/relationships/hyperlink" Target="https://arxiv.org/abs/2005.11401" TargetMode="External"/><Relationship Id="rId21" Type="http://schemas.openxmlformats.org/officeDocument/2006/relationships/image" Target="../media/image14.png"/><Relationship Id="rId13" Type="http://schemas.openxmlformats.org/officeDocument/2006/relationships/hyperlink" Target="https://arxiv.org/abs/2310.11511" TargetMode="External"/><Relationship Id="rId24" Type="http://schemas.openxmlformats.org/officeDocument/2006/relationships/image" Target="../media/image23.png"/><Relationship Id="rId12" Type="http://schemas.openxmlformats.org/officeDocument/2006/relationships/hyperlink" Target="https://arxiv.org/abs/2310.11511" TargetMode="External"/><Relationship Id="rId23" Type="http://schemas.openxmlformats.org/officeDocument/2006/relationships/hyperlink" Target="https://qdrant.tech/documentation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18.png"/><Relationship Id="rId15" Type="http://schemas.openxmlformats.org/officeDocument/2006/relationships/hyperlink" Target="https://www.bis.gov.in/know-your-standard/?lang=en" TargetMode="External"/><Relationship Id="rId14" Type="http://schemas.openxmlformats.org/officeDocument/2006/relationships/hyperlink" Target="https://www.bis.gov.in/know-your-standard/?lang=en" TargetMode="External"/><Relationship Id="rId17" Type="http://schemas.openxmlformats.org/officeDocument/2006/relationships/hyperlink" Target="https://github.com/AI4Bharat/IndicTrans2" TargetMode="External"/><Relationship Id="rId16" Type="http://schemas.openxmlformats.org/officeDocument/2006/relationships/hyperlink" Target="https://github.com/AI4Bharat/IndicTrans2" TargetMode="External"/><Relationship Id="rId5" Type="http://schemas.openxmlformats.org/officeDocument/2006/relationships/image" Target="../media/image22.png"/><Relationship Id="rId19" Type="http://schemas.openxmlformats.org/officeDocument/2006/relationships/hyperlink" Target="https://www.crsbis.in/BIS/whatisCRS.do" TargetMode="External"/><Relationship Id="rId6" Type="http://schemas.openxmlformats.org/officeDocument/2006/relationships/image" Target="../media/image19.png"/><Relationship Id="rId18" Type="http://schemas.openxmlformats.org/officeDocument/2006/relationships/hyperlink" Target="https://www.crsbis.in/BIS/whatisCRS.do" TargetMode="External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5"/>
          <p:cNvSpPr/>
          <p:nvPr/>
        </p:nvSpPr>
        <p:spPr>
          <a:xfrm>
            <a:off x="-74025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7391330" y="938896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8676436" y="1803256"/>
            <a:ext cx="3203507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>
            <p:ph type="ctrTitle"/>
          </p:nvPr>
        </p:nvSpPr>
        <p:spPr>
          <a:xfrm>
            <a:off x="347761" y="-273357"/>
            <a:ext cx="10363200" cy="20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152775" y="1518975"/>
            <a:ext cx="91440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 SIH26107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 </a:t>
            </a:r>
            <a:r>
              <a:rPr b="0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AI-powered Intelligent Assistant for Indian Standards and BIS Services for Industries and Consumers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r>
              <a:rPr b="1" i="0" lang="en-US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ID-</a:t>
            </a: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SIH26-A0H-T263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Name-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Byte Busters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/>
          <p:nvPr/>
        </p:nvSpPr>
        <p:spPr>
          <a:xfrm>
            <a:off x="147300" y="4762700"/>
            <a:ext cx="3132600" cy="1023600"/>
          </a:xfrm>
          <a:prstGeom prst="roundRect">
            <a:avLst>
              <a:gd fmla="val 2105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6"/>
          <p:cNvSpPr/>
          <p:nvPr/>
        </p:nvSpPr>
        <p:spPr>
          <a:xfrm>
            <a:off x="147300" y="5849418"/>
            <a:ext cx="3132600" cy="986400"/>
          </a:xfrm>
          <a:prstGeom prst="roundRect">
            <a:avLst>
              <a:gd fmla="val 21053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6"/>
          <p:cNvSpPr txBox="1"/>
          <p:nvPr>
            <p:ph type="title"/>
          </p:nvPr>
        </p:nvSpPr>
        <p:spPr>
          <a:xfrm>
            <a:off x="227348" y="-1239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/>
          </a:p>
        </p:txBody>
      </p:sp>
      <p:sp>
        <p:nvSpPr>
          <p:cNvPr id="175" name="Google Shape;175;p26"/>
          <p:cNvSpPr txBox="1"/>
          <p:nvPr/>
        </p:nvSpPr>
        <p:spPr>
          <a:xfrm>
            <a:off x="-1" y="2064929"/>
            <a:ext cx="224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6"/>
          <p:cNvSpPr/>
          <p:nvPr/>
        </p:nvSpPr>
        <p:spPr>
          <a:xfrm>
            <a:off x="111600" y="1687675"/>
            <a:ext cx="3204000" cy="897600"/>
          </a:xfrm>
          <a:prstGeom prst="roundRect">
            <a:avLst>
              <a:gd fmla="val 21053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6"/>
          <p:cNvSpPr txBox="1"/>
          <p:nvPr/>
        </p:nvSpPr>
        <p:spPr>
          <a:xfrm>
            <a:off x="113950" y="1629750"/>
            <a:ext cx="33174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Fragmented Information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BIS standards, certification, licensing and testing info are spread across multiple portals. 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6"/>
          <p:cNvSpPr txBox="1"/>
          <p:nvPr/>
        </p:nvSpPr>
        <p:spPr>
          <a:xfrm>
            <a:off x="179650" y="4762704"/>
            <a:ext cx="3132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Accessibility Gap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Technical BIS information isn't easily accessible in regional languages, voice, or conversational form </a:t>
            </a:r>
            <a:endParaRPr b="1" i="0" sz="13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111600" y="2662175"/>
            <a:ext cx="3204000" cy="986400"/>
          </a:xfrm>
          <a:prstGeom prst="roundRect">
            <a:avLst>
              <a:gd fmla="val 21053" name="adj"/>
            </a:avLst>
          </a:prstGeom>
          <a:solidFill>
            <a:srgbClr val="3F8F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193650" y="2668830"/>
            <a:ext cx="2966400" cy="9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Difficult Standard Discovery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Users struggle to identify the correct Indian Standard from a product description or spec 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146250" y="3713177"/>
            <a:ext cx="3132600" cy="986400"/>
          </a:xfrm>
          <a:prstGeom prst="roundRect">
            <a:avLst>
              <a:gd fmla="val 21053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227350" y="5849424"/>
            <a:ext cx="3204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Trust &amp; Freshness Issues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need assurance that answers reference current, applicable standards — not outdated ones 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242050" y="3661951"/>
            <a:ext cx="30612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Certification Process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Certification, testing and scheme requirements often need manual interpretation or outside help 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26"/>
          <p:cNvCxnSpPr/>
          <p:nvPr/>
        </p:nvCxnSpPr>
        <p:spPr>
          <a:xfrm flipH="1" rot="10800000">
            <a:off x="-9375" y="1093075"/>
            <a:ext cx="12206400" cy="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26"/>
          <p:cNvCxnSpPr/>
          <p:nvPr/>
        </p:nvCxnSpPr>
        <p:spPr>
          <a:xfrm>
            <a:off x="3536675" y="1093075"/>
            <a:ext cx="58500" cy="55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26"/>
          <p:cNvCxnSpPr/>
          <p:nvPr/>
        </p:nvCxnSpPr>
        <p:spPr>
          <a:xfrm>
            <a:off x="9224350" y="1105542"/>
            <a:ext cx="0" cy="563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8" name="Google Shape;188;p26"/>
          <p:cNvPicPr preferRelativeResize="0"/>
          <p:nvPr/>
        </p:nvPicPr>
        <p:blipFill rotWithShape="1">
          <a:blip r:embed="rId4">
            <a:alphaModFix/>
          </a:blip>
          <a:srcRect b="29070" l="0" r="0" t="23997"/>
          <a:stretch/>
        </p:blipFill>
        <p:spPr>
          <a:xfrm>
            <a:off x="0" y="14675"/>
            <a:ext cx="2651851" cy="78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3768775" y="1767000"/>
            <a:ext cx="5341500" cy="713100"/>
          </a:xfrm>
          <a:prstGeom prst="roundRect">
            <a:avLst>
              <a:gd fmla="val 15385" name="adj"/>
            </a:avLst>
          </a:prstGeom>
          <a:solidFill>
            <a:srgbClr val="A9CFA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6"/>
          <p:cNvSpPr txBox="1"/>
          <p:nvPr/>
        </p:nvSpPr>
        <p:spPr>
          <a:xfrm>
            <a:off x="3855859" y="1840052"/>
            <a:ext cx="4944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A3A24"/>
              </a:buClr>
              <a:buSzPts val="1000"/>
              <a:buFont typeface="Calibri"/>
              <a:buNone/>
            </a:pPr>
            <a:r>
              <a:rPr b="1" i="0" lang="en-US" sz="1500" u="none" cap="none" strike="noStrike">
                <a:solidFill>
                  <a:srgbClr val="1A3A24"/>
                </a:solidFill>
                <a:latin typeface="Calibri"/>
                <a:ea typeface="Calibri"/>
                <a:cs typeface="Calibri"/>
                <a:sym typeface="Calibri"/>
              </a:rPr>
              <a:t>A multilingual, source-grounded AI assistant that turns scattered BIS standards and certification rules into one trusted conversation.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3768775" y="2494855"/>
            <a:ext cx="5341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1150"/>
              <a:buFont typeface="Calibri"/>
              <a:buNone/>
            </a:pPr>
            <a:r>
              <a:rPr b="1" i="0" lang="en-US" sz="155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What it does: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3885425" y="2670049"/>
            <a:ext cx="534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32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Matches a description, voice query, or spec sheet to the correct Indian Standard</a:t>
            </a:r>
            <a:endParaRPr b="0" i="0" sz="13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3885437" y="3068565"/>
            <a:ext cx="521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32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Guides </a:t>
            </a:r>
            <a:r>
              <a:rPr b="1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step-by-step certification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(ISI / CRS / FMCS)</a:t>
            </a:r>
            <a:endParaRPr b="0" i="0" sz="13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3885437" y="3282471"/>
            <a:ext cx="521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32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Verifies</a:t>
            </a:r>
            <a:r>
              <a:rPr b="1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BIS marks and live license status</a:t>
            </a:r>
            <a:endParaRPr b="1" i="0" sz="13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3885437" y="3496355"/>
            <a:ext cx="521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32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Attaches </a:t>
            </a:r>
            <a:r>
              <a:rPr b="1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source link, last-updated date, and a real time contact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to every answer</a:t>
            </a:r>
            <a:endParaRPr b="0" i="0" sz="13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3885437" y="3854333"/>
            <a:ext cx="521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920"/>
              <a:buFont typeface="Calibri"/>
              <a:buNone/>
            </a:pPr>
            <a:r>
              <a:rPr b="1" i="0" lang="en-US" sz="132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Escalates </a:t>
            </a:r>
            <a:r>
              <a:rPr b="1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low-confidence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answers to the </a:t>
            </a:r>
            <a:r>
              <a:rPr b="1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BIS helpline</a:t>
            </a:r>
            <a:endParaRPr b="1" i="0" sz="13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3768775" y="4105946"/>
            <a:ext cx="5341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8F5F"/>
              </a:buClr>
              <a:buSzPts val="1150"/>
              <a:buFont typeface="Calibri"/>
              <a:buNone/>
            </a:pPr>
            <a:r>
              <a:rPr b="1" i="0" lang="en-US" sz="1550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Methodology used: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3841862" y="4394184"/>
            <a:ext cx="521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F8F5F"/>
              </a:buClr>
              <a:buSzPts val="920"/>
              <a:buFont typeface="Calibri"/>
              <a:buNone/>
            </a:pPr>
            <a:r>
              <a:rPr b="1" i="0" lang="en-US" sz="1320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over BIS's Know Your Standard, CRS, and licensing portals — every answer is source-grounded</a:t>
            </a:r>
            <a:endParaRPr b="0" i="0" sz="13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3819600" y="4792971"/>
            <a:ext cx="521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F8F5F"/>
              </a:buClr>
              <a:buSzPts val="920"/>
              <a:buFont typeface="Calibri"/>
              <a:buNone/>
            </a:pPr>
            <a:r>
              <a:rPr b="1" i="0" lang="en-US" sz="1320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Confidence scoring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— triggers human escalation below a threshold</a:t>
            </a:r>
            <a:endParaRPr b="0" i="0" sz="13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3819600" y="5035287"/>
            <a:ext cx="521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F8F5F"/>
              </a:buClr>
              <a:buSzPts val="920"/>
              <a:buFont typeface="Calibri"/>
              <a:buNone/>
            </a:pPr>
            <a:r>
              <a:rPr b="1" i="0" lang="en-US" sz="1320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Multilingual NLP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(IndicTrans 2) for Indian-language text and voice</a:t>
            </a:r>
            <a:endParaRPr b="0" i="0" sz="13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6"/>
          <p:cNvSpPr txBox="1"/>
          <p:nvPr/>
        </p:nvSpPr>
        <p:spPr>
          <a:xfrm>
            <a:off x="3819600" y="5277603"/>
            <a:ext cx="521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F8F5F"/>
              </a:buClr>
              <a:buSzPts val="920"/>
              <a:buFont typeface="Calibri"/>
              <a:buNone/>
            </a:pPr>
            <a:r>
              <a:rPr b="1" i="0" lang="en-US" sz="1320" u="none" cap="none" strike="noStrike">
                <a:solidFill>
                  <a:srgbClr val="3F8F5F"/>
                </a:solidFill>
                <a:latin typeface="Calibri"/>
                <a:ea typeface="Calibri"/>
                <a:cs typeface="Calibri"/>
                <a:sym typeface="Calibri"/>
              </a:rPr>
              <a:t>•  </a:t>
            </a:r>
            <a:r>
              <a:rPr b="1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Vision/OCR</a:t>
            </a:r>
            <a:r>
              <a:rPr b="0" i="0" lang="en-US" sz="132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for spec-sheet and image uploads</a:t>
            </a:r>
            <a:endParaRPr b="0" i="0" sz="132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2" name="Google Shape;202;p26"/>
          <p:cNvPicPr preferRelativeResize="0"/>
          <p:nvPr/>
        </p:nvPicPr>
        <p:blipFill rotWithShape="1">
          <a:blip r:embed="rId5">
            <a:alphaModFix/>
          </a:blip>
          <a:srcRect b="28592" l="0" r="0" t="14766"/>
          <a:stretch/>
        </p:blipFill>
        <p:spPr>
          <a:xfrm>
            <a:off x="3739025" y="5829275"/>
            <a:ext cx="5341476" cy="102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 txBox="1"/>
          <p:nvPr/>
        </p:nvSpPr>
        <p:spPr>
          <a:xfrm>
            <a:off x="3653525" y="5458725"/>
            <a:ext cx="2249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 it Works ?</a:t>
            </a:r>
            <a:endParaRPr b="0" i="0" sz="2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04" name="Google Shape;204;p26"/>
          <p:cNvPicPr preferRelativeResize="0"/>
          <p:nvPr/>
        </p:nvPicPr>
        <p:blipFill rotWithShape="1">
          <a:blip r:embed="rId6">
            <a:alphaModFix/>
          </a:blip>
          <a:srcRect b="0" l="0" r="10579" t="0"/>
          <a:stretch/>
        </p:blipFill>
        <p:spPr>
          <a:xfrm>
            <a:off x="9224350" y="1645975"/>
            <a:ext cx="2966400" cy="511784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6"/>
          <p:cNvSpPr/>
          <p:nvPr/>
        </p:nvSpPr>
        <p:spPr>
          <a:xfrm>
            <a:off x="4602550" y="1161838"/>
            <a:ext cx="3614400" cy="415200"/>
          </a:xfrm>
          <a:prstGeom prst="roundRect">
            <a:avLst>
              <a:gd fmla="val 50000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Our Solution &amp; Working</a:t>
            </a:r>
            <a:endParaRPr b="0" i="0" sz="1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7303A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9331450" y="1186875"/>
            <a:ext cx="2865600" cy="415200"/>
          </a:xfrm>
          <a:prstGeom prst="roundRect">
            <a:avLst>
              <a:gd fmla="val 50000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Key Features</a:t>
            </a:r>
            <a:endParaRPr b="0" i="0" sz="1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313150" y="1178775"/>
            <a:ext cx="2865600" cy="415200"/>
          </a:xfrm>
          <a:prstGeom prst="roundRect">
            <a:avLst>
              <a:gd fmla="val 50000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Major Problems</a:t>
            </a:r>
            <a:endParaRPr b="0" i="0" sz="19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690675" y="-126350"/>
            <a:ext cx="102123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214" name="Google Shape;214;p27"/>
          <p:cNvSpPr txBox="1"/>
          <p:nvPr>
            <p:ph idx="11" type="ftr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15" name="Google Shape;2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1125" y="-96027"/>
            <a:ext cx="2121400" cy="848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7"/>
          <p:cNvPicPr preferRelativeResize="0"/>
          <p:nvPr/>
        </p:nvPicPr>
        <p:blipFill rotWithShape="1">
          <a:blip r:embed="rId4">
            <a:alphaModFix/>
          </a:blip>
          <a:srcRect b="0" l="13107" r="12632" t="0"/>
          <a:stretch/>
        </p:blipFill>
        <p:spPr>
          <a:xfrm>
            <a:off x="65975" y="1309700"/>
            <a:ext cx="2953874" cy="554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/>
          <p:nvPr/>
        </p:nvSpPr>
        <p:spPr>
          <a:xfrm>
            <a:off x="377113" y="852300"/>
            <a:ext cx="2331600" cy="365100"/>
          </a:xfrm>
          <a:prstGeom prst="roundRect">
            <a:avLst>
              <a:gd fmla="val 50000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7303A"/>
                </a:solidFill>
                <a:latin typeface="Oswald"/>
                <a:ea typeface="Oswald"/>
                <a:cs typeface="Oswald"/>
                <a:sym typeface="Oswald"/>
              </a:rPr>
              <a:t>Clarification Flow</a:t>
            </a:r>
            <a:endParaRPr b="0" i="0" sz="2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8" name="Google Shape;218;p27"/>
          <p:cNvPicPr preferRelativeResize="0"/>
          <p:nvPr/>
        </p:nvPicPr>
        <p:blipFill rotWithShape="1">
          <a:blip r:embed="rId5">
            <a:alphaModFix/>
          </a:blip>
          <a:srcRect b="29070" l="0" r="0" t="23997"/>
          <a:stretch/>
        </p:blipFill>
        <p:spPr>
          <a:xfrm>
            <a:off x="0" y="14675"/>
            <a:ext cx="2651851" cy="780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19850" y="714600"/>
            <a:ext cx="9010314" cy="600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/>
        </p:nvSpPr>
        <p:spPr>
          <a:xfrm>
            <a:off x="2688250" y="1135375"/>
            <a:ext cx="9318900" cy="56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8"/>
          <p:cNvSpPr txBox="1"/>
          <p:nvPr>
            <p:ph type="title"/>
          </p:nvPr>
        </p:nvSpPr>
        <p:spPr>
          <a:xfrm>
            <a:off x="609600" y="-1890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Times New Roman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0" y="0"/>
            <a:ext cx="2377440" cy="112105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8"/>
          <p:cNvSpPr txBox="1"/>
          <p:nvPr/>
        </p:nvSpPr>
        <p:spPr>
          <a:xfrm>
            <a:off x="2619032" y="864509"/>
            <a:ext cx="900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7303A"/>
                </a:solidFill>
                <a:latin typeface="Cambria"/>
                <a:ea typeface="Cambria"/>
                <a:cs typeface="Cambria"/>
                <a:sym typeface="Cambria"/>
              </a:rPr>
              <a:t>FEASIBILITY &amp; VIABILITY PILLARS</a:t>
            </a:r>
            <a:endParaRPr b="1" i="0" sz="1800" u="none" cap="none" strike="noStrike">
              <a:solidFill>
                <a:srgbClr val="2730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3476735" y="1213005"/>
            <a:ext cx="365700" cy="365700"/>
          </a:xfrm>
          <a:prstGeom prst="ellipse">
            <a:avLst/>
          </a:prstGeom>
          <a:solidFill>
            <a:srgbClr val="E879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0" name="Google Shape;23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9244" y="1309330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8"/>
          <p:cNvSpPr txBox="1"/>
          <p:nvPr/>
        </p:nvSpPr>
        <p:spPr>
          <a:xfrm>
            <a:off x="2863805" y="1730460"/>
            <a:ext cx="1500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1. TECHNICAL FEASIBILITY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8"/>
          <p:cNvSpPr txBox="1"/>
          <p:nvPr/>
        </p:nvSpPr>
        <p:spPr>
          <a:xfrm>
            <a:off x="2796100" y="2254575"/>
            <a:ext cx="15000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RAG pipeline with OCR/vision parsing on FastAPI + Postgresql </a:t>
            </a:r>
            <a:endParaRPr b="0" i="0" sz="140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28"/>
          <p:cNvCxnSpPr/>
          <p:nvPr/>
        </p:nvCxnSpPr>
        <p:spPr>
          <a:xfrm>
            <a:off x="4359400" y="1141538"/>
            <a:ext cx="0" cy="2457450"/>
          </a:xfrm>
          <a:prstGeom prst="straightConnector1">
            <a:avLst/>
          </a:prstGeom>
          <a:noFill/>
          <a:ln cap="flat" cmpd="sng" w="12700">
            <a:solidFill>
              <a:srgbClr val="9A9A9A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34" name="Google Shape;234;p28"/>
          <p:cNvSpPr/>
          <p:nvPr/>
        </p:nvSpPr>
        <p:spPr>
          <a:xfrm>
            <a:off x="4977135" y="1239836"/>
            <a:ext cx="365700" cy="3657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5" name="Google Shape;23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644" y="1309330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8"/>
          <p:cNvSpPr txBox="1"/>
          <p:nvPr/>
        </p:nvSpPr>
        <p:spPr>
          <a:xfrm>
            <a:off x="4364205" y="1690214"/>
            <a:ext cx="1500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2. DATA &amp; AI FEASIBILITY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8"/>
          <p:cNvSpPr txBox="1"/>
          <p:nvPr/>
        </p:nvSpPr>
        <p:spPr>
          <a:xfrm>
            <a:off x="4434205" y="2286876"/>
            <a:ext cx="1362300" cy="11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Knowledge base from official BIS sources, with status and revision tracking. </a:t>
            </a:r>
            <a:endParaRPr b="0" i="0" sz="140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28"/>
          <p:cNvCxnSpPr/>
          <p:nvPr/>
        </p:nvCxnSpPr>
        <p:spPr>
          <a:xfrm>
            <a:off x="5866785" y="1141538"/>
            <a:ext cx="0" cy="2440305"/>
          </a:xfrm>
          <a:prstGeom prst="straightConnector1">
            <a:avLst/>
          </a:prstGeom>
          <a:noFill/>
          <a:ln cap="flat" cmpd="sng" w="12700">
            <a:solidFill>
              <a:srgbClr val="9A9A9A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39" name="Google Shape;239;p28"/>
          <p:cNvSpPr/>
          <p:nvPr/>
        </p:nvSpPr>
        <p:spPr>
          <a:xfrm>
            <a:off x="6477536" y="1239836"/>
            <a:ext cx="365700" cy="3657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0" name="Google Shape;24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0044" y="1309330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8"/>
          <p:cNvSpPr txBox="1"/>
          <p:nvPr/>
        </p:nvSpPr>
        <p:spPr>
          <a:xfrm>
            <a:off x="5864606" y="1730460"/>
            <a:ext cx="1500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3. ECONOMIC VIABILITY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5959448" y="2187495"/>
            <a:ext cx="13623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Open-source AI infrastructure reduces licensing costs; one backend supports multiple channels. 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28"/>
          <p:cNvCxnSpPr/>
          <p:nvPr/>
        </p:nvCxnSpPr>
        <p:spPr>
          <a:xfrm>
            <a:off x="7365280" y="1141538"/>
            <a:ext cx="635" cy="2442845"/>
          </a:xfrm>
          <a:prstGeom prst="straightConnector1">
            <a:avLst/>
          </a:prstGeom>
          <a:noFill/>
          <a:ln cap="flat" cmpd="sng" w="12700">
            <a:solidFill>
              <a:srgbClr val="9A9A9A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44" name="Google Shape;244;p28"/>
          <p:cNvSpPr/>
          <p:nvPr/>
        </p:nvSpPr>
        <p:spPr>
          <a:xfrm>
            <a:off x="7977936" y="1239836"/>
            <a:ext cx="365700" cy="36570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.png" id="245" name="Google Shape;24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30444" y="1309330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8"/>
          <p:cNvSpPr txBox="1"/>
          <p:nvPr/>
        </p:nvSpPr>
        <p:spPr>
          <a:xfrm>
            <a:off x="7365005" y="1703629"/>
            <a:ext cx="1500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4. OPERATIONAL VIABILITY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7413675" y="2174213"/>
            <a:ext cx="1509900" cy="14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One backend supports Web, WhatsApp and SMS; clarification is requested only when required. </a:t>
            </a:r>
            <a:endParaRPr b="0" i="0" sz="135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28"/>
          <p:cNvCxnSpPr/>
          <p:nvPr/>
        </p:nvCxnSpPr>
        <p:spPr>
          <a:xfrm>
            <a:off x="8898700" y="1142808"/>
            <a:ext cx="8255" cy="2433320"/>
          </a:xfrm>
          <a:prstGeom prst="straightConnector1">
            <a:avLst/>
          </a:prstGeom>
          <a:noFill/>
          <a:ln cap="flat" cmpd="sng" w="12700">
            <a:solidFill>
              <a:srgbClr val="9A9A9A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49" name="Google Shape;249;p28"/>
          <p:cNvSpPr/>
          <p:nvPr/>
        </p:nvSpPr>
        <p:spPr>
          <a:xfrm>
            <a:off x="9478337" y="1239836"/>
            <a:ext cx="365700" cy="365700"/>
          </a:xfrm>
          <a:prstGeom prst="ellipse">
            <a:avLst/>
          </a:prstGeom>
          <a:solidFill>
            <a:srgbClr val="E879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0" name="Google Shape;250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30845" y="1309330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8"/>
          <p:cNvSpPr txBox="1"/>
          <p:nvPr/>
        </p:nvSpPr>
        <p:spPr>
          <a:xfrm>
            <a:off x="8865405" y="1703629"/>
            <a:ext cx="1500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5. SOCIAL &amp; ACCESSIBILITY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8971325" y="2237175"/>
            <a:ext cx="13023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Multilingual text/voice via </a:t>
            </a:r>
            <a:r>
              <a:rPr lang="en-US" sz="135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IndicTrans 2</a:t>
            </a:r>
            <a:r>
              <a:rPr b="0" i="0" lang="en-US" sz="135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, over WhatsApp/SMS — no new app. </a:t>
            </a:r>
            <a:endParaRPr b="0" i="0" sz="135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28"/>
          <p:cNvCxnSpPr/>
          <p:nvPr/>
        </p:nvCxnSpPr>
        <p:spPr>
          <a:xfrm flipH="1">
            <a:off x="10361636" y="1142808"/>
            <a:ext cx="8890" cy="2441575"/>
          </a:xfrm>
          <a:prstGeom prst="straightConnector1">
            <a:avLst/>
          </a:prstGeom>
          <a:noFill/>
          <a:ln cap="flat" cmpd="sng" w="12700">
            <a:solidFill>
              <a:srgbClr val="9A9A9A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54" name="Google Shape;254;p28"/>
          <p:cNvSpPr/>
          <p:nvPr/>
        </p:nvSpPr>
        <p:spPr>
          <a:xfrm>
            <a:off x="10978737" y="1239836"/>
            <a:ext cx="365700" cy="365700"/>
          </a:xfrm>
          <a:prstGeom prst="ellipse">
            <a:avLst/>
          </a:prstGeom>
          <a:solidFill>
            <a:srgbClr val="E879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le.png" id="255" name="Google Shape;255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31245" y="1309330"/>
            <a:ext cx="226771" cy="226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8"/>
          <p:cNvSpPr txBox="1"/>
          <p:nvPr/>
        </p:nvSpPr>
        <p:spPr>
          <a:xfrm>
            <a:off x="10439731" y="1650885"/>
            <a:ext cx="1500000" cy="4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lang="en-US" sz="1450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SECURITY, LEGAL &amp; TRUST 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8"/>
          <p:cNvSpPr txBox="1"/>
          <p:nvPr/>
        </p:nvSpPr>
        <p:spPr>
          <a:xfrm>
            <a:off x="10476050" y="2153725"/>
            <a:ext cx="1500000" cy="17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RBAC, encryption, API protection and secrets management safeguard user data, AI services and system access.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50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28"/>
          <p:cNvCxnSpPr/>
          <p:nvPr/>
        </p:nvCxnSpPr>
        <p:spPr>
          <a:xfrm>
            <a:off x="2864716" y="3589834"/>
            <a:ext cx="9002400" cy="0"/>
          </a:xfrm>
          <a:prstGeom prst="straightConnector1">
            <a:avLst/>
          </a:prstGeom>
          <a:noFill/>
          <a:ln cap="flat" cmpd="sng" w="13950">
            <a:solidFill>
              <a:srgbClr val="1A1A1A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59" name="Google Shape;259;p28"/>
          <p:cNvSpPr txBox="1"/>
          <p:nvPr/>
        </p:nvSpPr>
        <p:spPr>
          <a:xfrm>
            <a:off x="2346681" y="3719233"/>
            <a:ext cx="4599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7303A"/>
                </a:solidFill>
                <a:latin typeface="Cambria"/>
                <a:ea typeface="Cambria"/>
                <a:cs typeface="Cambria"/>
                <a:sym typeface="Cambria"/>
              </a:rPr>
              <a:t>POTENTIAL CHALLENGES AND RISKS</a:t>
            </a:r>
            <a:endParaRPr b="1" i="0" sz="1450" u="none" cap="none" strike="noStrike">
              <a:solidFill>
                <a:srgbClr val="2730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6870184" y="3732649"/>
            <a:ext cx="51999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7303A"/>
                </a:solidFill>
                <a:latin typeface="Cambria"/>
                <a:ea typeface="Cambria"/>
                <a:cs typeface="Cambria"/>
                <a:sym typeface="Cambria"/>
              </a:rPr>
              <a:t>STRATEGIES FOR OVERCOMING THESE CHALLENGES</a:t>
            </a:r>
            <a:endParaRPr b="1" i="0" sz="1450" u="none" cap="none" strike="noStrike">
              <a:solidFill>
                <a:srgbClr val="2730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cxnSp>
        <p:nvCxnSpPr>
          <p:cNvPr id="261" name="Google Shape;261;p28"/>
          <p:cNvCxnSpPr/>
          <p:nvPr/>
        </p:nvCxnSpPr>
        <p:spPr>
          <a:xfrm flipH="1">
            <a:off x="7105725" y="3589260"/>
            <a:ext cx="8400" cy="3141000"/>
          </a:xfrm>
          <a:prstGeom prst="straightConnector1">
            <a:avLst/>
          </a:prstGeom>
          <a:noFill/>
          <a:ln cap="flat" cmpd="sng" w="22225">
            <a:solidFill>
              <a:srgbClr val="1A1A1A"/>
            </a:solidFill>
            <a:prstDash val="solid"/>
            <a:miter lim="0"/>
            <a:headEnd len="sm" w="sm" type="none"/>
            <a:tailEnd len="sm" w="sm" type="none"/>
          </a:ln>
        </p:spPr>
      </p:cxnSp>
      <p:cxnSp>
        <p:nvCxnSpPr>
          <p:cNvPr id="262" name="Google Shape;262;p28"/>
          <p:cNvCxnSpPr/>
          <p:nvPr/>
        </p:nvCxnSpPr>
        <p:spPr>
          <a:xfrm>
            <a:off x="2864716" y="4048746"/>
            <a:ext cx="9002400" cy="0"/>
          </a:xfrm>
          <a:prstGeom prst="straightConnector1">
            <a:avLst/>
          </a:prstGeom>
          <a:noFill/>
          <a:ln cap="flat" cmpd="sng" w="13950">
            <a:solidFill>
              <a:srgbClr val="1A1A1A"/>
            </a:solidFill>
            <a:prstDash val="solid"/>
            <a:miter lim="0"/>
            <a:headEnd len="sm" w="sm" type="none"/>
            <a:tailEnd len="sm" w="sm" type="none"/>
          </a:ln>
        </p:spPr>
      </p:cxnSp>
      <p:sp>
        <p:nvSpPr>
          <p:cNvPr id="263" name="Google Shape;263;p28"/>
          <p:cNvSpPr txBox="1"/>
          <p:nvPr/>
        </p:nvSpPr>
        <p:spPr>
          <a:xfrm>
            <a:off x="2851301" y="4156187"/>
            <a:ext cx="161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BIS DATA CHANGES</a:t>
            </a:r>
            <a:endParaRPr b="1" i="0" sz="1400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8"/>
          <p:cNvSpPr txBox="1"/>
          <p:nvPr/>
        </p:nvSpPr>
        <p:spPr>
          <a:xfrm>
            <a:off x="2784475" y="4361815"/>
            <a:ext cx="2059305" cy="1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Standards get revised or withdrawn — stale answers mislead users. </a:t>
            </a:r>
            <a:endParaRPr b="0" i="0" sz="150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8"/>
          <p:cNvSpPr txBox="1"/>
          <p:nvPr/>
        </p:nvSpPr>
        <p:spPr>
          <a:xfrm>
            <a:off x="4998030" y="4156187"/>
            <a:ext cx="161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AI HALLUCINATION</a:t>
            </a:r>
            <a:endParaRPr b="1" i="0" sz="1400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4980940" y="4413692"/>
            <a:ext cx="20244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 confident-looking wrong answer carries real legal risk. </a:t>
            </a:r>
            <a:endParaRPr b="0" i="0" sz="150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8"/>
          <p:cNvSpPr txBox="1"/>
          <p:nvPr/>
        </p:nvSpPr>
        <p:spPr>
          <a:xfrm>
            <a:off x="2837894" y="5445903"/>
            <a:ext cx="1618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COPYRIGHTED STANDARD TEXT</a:t>
            </a:r>
            <a:endParaRPr b="1" i="0" sz="1400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2757170" y="5904865"/>
            <a:ext cx="1816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Full IS text is copyrighted, not freely scrapable at scale. </a:t>
            </a:r>
            <a:endParaRPr b="0" i="0" sz="150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 txBox="1"/>
          <p:nvPr/>
        </p:nvSpPr>
        <p:spPr>
          <a:xfrm>
            <a:off x="4970621" y="5368429"/>
            <a:ext cx="1618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4620F"/>
                </a:solidFill>
                <a:latin typeface="Calibri"/>
                <a:ea typeface="Calibri"/>
                <a:cs typeface="Calibri"/>
                <a:sym typeface="Calibri"/>
              </a:rPr>
              <a:t>MULTILINGUAL ACCURACY</a:t>
            </a:r>
            <a:endParaRPr b="1" i="0" sz="1400" u="none" cap="none" strike="noStrike">
              <a:solidFill>
                <a:srgbClr val="C4620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8"/>
          <p:cNvSpPr txBox="1"/>
          <p:nvPr/>
        </p:nvSpPr>
        <p:spPr>
          <a:xfrm>
            <a:off x="4904105" y="5874275"/>
            <a:ext cx="20511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5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Hindi/Hinglish queries confuse translation; terms rarely map 1:1.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 txBox="1"/>
          <p:nvPr/>
        </p:nvSpPr>
        <p:spPr>
          <a:xfrm>
            <a:off x="7375651" y="4129350"/>
            <a:ext cx="17913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6E43"/>
                </a:solidFill>
                <a:latin typeface="Calibri"/>
                <a:ea typeface="Calibri"/>
                <a:cs typeface="Calibri"/>
                <a:sym typeface="Calibri"/>
              </a:rPr>
              <a:t>FRESHNESS &amp; STATUS CHECK</a:t>
            </a:r>
            <a:endParaRPr b="1" i="0" sz="1400" u="none" cap="none" strike="noStrike">
              <a:solidFill>
                <a:srgbClr val="1F6E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7381012" y="4586598"/>
            <a:ext cx="20592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Live status badge and last-updated date, via license lookups.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9723599" y="4102525"/>
            <a:ext cx="195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6E43"/>
                </a:solidFill>
                <a:latin typeface="Calibri"/>
                <a:ea typeface="Calibri"/>
                <a:cs typeface="Calibri"/>
                <a:sym typeface="Calibri"/>
              </a:rPr>
              <a:t>GROUNDED, CITED RAG</a:t>
            </a:r>
            <a:endParaRPr b="1" i="0" sz="1400" u="none" cap="none" strike="noStrike">
              <a:solidFill>
                <a:srgbClr val="1F6E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9624695" y="4428877"/>
            <a:ext cx="22917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rPr b="0" i="0" lang="en-US" sz="15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Answers restricted to retrieved BIS text, with citation and confidence score. 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7335396" y="5365425"/>
            <a:ext cx="1618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6E43"/>
                </a:solidFill>
                <a:latin typeface="Calibri"/>
                <a:ea typeface="Calibri"/>
                <a:cs typeface="Calibri"/>
                <a:sym typeface="Calibri"/>
              </a:rPr>
              <a:t>SCOPED, LICENSED INGESTION</a:t>
            </a:r>
            <a:endParaRPr b="1" i="0" sz="1400" u="none" cap="none" strike="noStrike">
              <a:solidFill>
                <a:srgbClr val="1F6E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7322185" y="5825490"/>
            <a:ext cx="2209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0"/>
              <a:buFont typeface="Arial"/>
              <a:buNone/>
            </a:pPr>
            <a:r>
              <a:rPr b="0" i="0" lang="en-US" sz="148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Scoped to compulsory-certification categories, via BIS's free-download facility. </a:t>
            </a:r>
            <a:endParaRPr b="0" i="0" sz="14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9707095" y="5406700"/>
            <a:ext cx="1618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F6E43"/>
                </a:solidFill>
                <a:latin typeface="Calibri"/>
                <a:ea typeface="Calibri"/>
                <a:cs typeface="Calibri"/>
                <a:sym typeface="Calibri"/>
              </a:rPr>
              <a:t>TRANSLATION VALIDATION</a:t>
            </a:r>
            <a:endParaRPr b="1" i="0" sz="1400" u="none" cap="none" strike="noStrike">
              <a:solidFill>
                <a:srgbClr val="1F6E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8"/>
          <p:cNvSpPr txBox="1"/>
          <p:nvPr/>
        </p:nvSpPr>
        <p:spPr>
          <a:xfrm>
            <a:off x="9531350" y="5826318"/>
            <a:ext cx="2335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5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IndicTrans 2</a:t>
            </a:r>
            <a:r>
              <a:rPr b="0" i="0" lang="en-US" sz="15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preserves technical terms; reconfirmation confirms intent first. </a:t>
            </a:r>
            <a:endParaRPr b="0" i="0" sz="1500" u="none" cap="none" strike="noStrike">
              <a:solidFill>
                <a:srgbClr val="3A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788086613359_image.png" id="279" name="Google Shape;279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625" y="1501300"/>
            <a:ext cx="2619300" cy="531250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/>
        </p:nvSpPr>
        <p:spPr>
          <a:xfrm>
            <a:off x="35352" y="1058300"/>
            <a:ext cx="2619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7303A"/>
                </a:solidFill>
                <a:latin typeface="Cambria"/>
                <a:ea typeface="Cambria"/>
                <a:cs typeface="Cambria"/>
                <a:sym typeface="Cambria"/>
              </a:rPr>
              <a:t>MULTILINGUAL SUPPORT</a:t>
            </a:r>
            <a:endParaRPr b="1" i="0" sz="1600" u="none" cap="none" strike="noStrike">
              <a:solidFill>
                <a:srgbClr val="27303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81" name="Google Shape;281;p28"/>
          <p:cNvPicPr preferRelativeResize="0"/>
          <p:nvPr/>
        </p:nvPicPr>
        <p:blipFill rotWithShape="1">
          <a:blip r:embed="rId11">
            <a:alphaModFix/>
          </a:blip>
          <a:srcRect b="29070" l="0" r="0" t="23997"/>
          <a:stretch/>
        </p:blipFill>
        <p:spPr>
          <a:xfrm>
            <a:off x="0" y="14675"/>
            <a:ext cx="2651851" cy="78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1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289" name="Google Shape;289;p29"/>
          <p:cNvSpPr txBox="1"/>
          <p:nvPr/>
        </p:nvSpPr>
        <p:spPr>
          <a:xfrm>
            <a:off x="365760" y="932688"/>
            <a:ext cx="2788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620F"/>
              </a:buClr>
              <a:buSzPts val="1600"/>
              <a:buFont typeface="Cambria"/>
              <a:buNone/>
            </a:pPr>
            <a:r>
              <a:rPr b="1" i="0" lang="en-US" sz="1800" u="none" cap="none" strike="noStrike">
                <a:solidFill>
                  <a:srgbClr val="C4620F"/>
                </a:solidFill>
                <a:latin typeface="Cambria"/>
                <a:ea typeface="Cambria"/>
                <a:cs typeface="Cambria"/>
                <a:sym typeface="Cambria"/>
              </a:rPr>
              <a:t>UNIQUE FEATURES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9"/>
          <p:cNvSpPr/>
          <p:nvPr/>
        </p:nvSpPr>
        <p:spPr>
          <a:xfrm>
            <a:off x="365750" y="1298450"/>
            <a:ext cx="2788800" cy="383400"/>
          </a:xfrm>
          <a:prstGeom prst="roundRect">
            <a:avLst>
              <a:gd fmla="val 21053" name="adj"/>
            </a:avLst>
          </a:prstGeom>
          <a:solidFill>
            <a:srgbClr val="E8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457190" y="1298450"/>
            <a:ext cx="2606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License-Linked Freshness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9"/>
          <p:cNvSpPr txBox="1"/>
          <p:nvPr/>
        </p:nvSpPr>
        <p:spPr>
          <a:xfrm>
            <a:off x="365750" y="1722492"/>
            <a:ext cx="2788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Every answer shows the regulation / last-updated date tied to its license number.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365750" y="2409036"/>
            <a:ext cx="2788800" cy="383400"/>
          </a:xfrm>
          <a:prstGeom prst="roundRect">
            <a:avLst>
              <a:gd fmla="val 21053" name="adj"/>
            </a:avLst>
          </a:prstGeom>
          <a:solidFill>
            <a:srgbClr val="E8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9"/>
          <p:cNvSpPr txBox="1"/>
          <p:nvPr/>
        </p:nvSpPr>
        <p:spPr>
          <a:xfrm>
            <a:off x="457190" y="2409036"/>
            <a:ext cx="2606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Reachable Official Links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365750" y="2833078"/>
            <a:ext cx="2788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Direct links to the official BIS portal — not just bot-generated text.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365750" y="3378422"/>
            <a:ext cx="2788800" cy="383400"/>
          </a:xfrm>
          <a:prstGeom prst="roundRect">
            <a:avLst>
              <a:gd fmla="val 21053" name="adj"/>
            </a:avLst>
          </a:prstGeom>
          <a:solidFill>
            <a:srgbClr val="E8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 txBox="1"/>
          <p:nvPr/>
        </p:nvSpPr>
        <p:spPr>
          <a:xfrm>
            <a:off x="457190" y="3378422"/>
            <a:ext cx="2606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Confidence-Scored Answers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365750" y="3802464"/>
            <a:ext cx="2788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Users see how certain the AI is before they act on it.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365850" y="4529533"/>
            <a:ext cx="2788800" cy="383400"/>
          </a:xfrm>
          <a:prstGeom prst="roundRect">
            <a:avLst>
              <a:gd fmla="val 21053" name="adj"/>
            </a:avLst>
          </a:prstGeom>
          <a:solidFill>
            <a:srgbClr val="E8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"/>
          <p:cNvSpPr txBox="1"/>
          <p:nvPr/>
        </p:nvSpPr>
        <p:spPr>
          <a:xfrm>
            <a:off x="457290" y="4529533"/>
            <a:ext cx="2606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Role-Aware Personalization </a:t>
            </a:r>
            <a:endParaRPr b="1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365850" y="4953575"/>
            <a:ext cx="2788800" cy="6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Role Selector (Consumer / MSME / Student / Manufacturer) tailors each answer's depth and next steps. 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365750" y="5740795"/>
            <a:ext cx="2788800" cy="383400"/>
          </a:xfrm>
          <a:prstGeom prst="roundRect">
            <a:avLst>
              <a:gd fmla="val 21053" name="adj"/>
            </a:avLst>
          </a:prstGeom>
          <a:solidFill>
            <a:srgbClr val="E87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9"/>
          <p:cNvSpPr txBox="1"/>
          <p:nvPr/>
        </p:nvSpPr>
        <p:spPr>
          <a:xfrm>
            <a:off x="457190" y="5740795"/>
            <a:ext cx="2606100" cy="38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Guideline-Query Contacts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365850" y="6124325"/>
            <a:ext cx="2788800" cy="6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BIS contact details auto-attached whenever a guideline question is asked.</a:t>
            </a:r>
            <a:endParaRPr b="0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3429000" y="914400"/>
            <a:ext cx="83667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E43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6E43"/>
                </a:solidFill>
                <a:latin typeface="Cambria"/>
                <a:ea typeface="Cambria"/>
                <a:cs typeface="Cambria"/>
                <a:sym typeface="Cambria"/>
              </a:rPr>
              <a:t>IMPACTS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9"/>
          <p:cNvSpPr/>
          <p:nvPr/>
        </p:nvSpPr>
        <p:spPr>
          <a:xfrm>
            <a:off x="3429000" y="1298450"/>
            <a:ext cx="1563600" cy="8460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3474720" y="1298450"/>
            <a:ext cx="14721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Consumer Trust &amp; Safety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9"/>
          <p:cNvSpPr txBox="1"/>
          <p:nvPr/>
        </p:nvSpPr>
        <p:spPr>
          <a:xfrm>
            <a:off x="3429000" y="2229363"/>
            <a:ext cx="1563600" cy="134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lang="en-US" sz="15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Licence and mark checks help users identify potentially invalid certification information. 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5129781" y="1298450"/>
            <a:ext cx="1563600" cy="8460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5175501" y="1298450"/>
            <a:ext cx="14721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MSME Compliance Speed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129775" y="2229375"/>
            <a:ext cx="1563600" cy="1532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lang="en-US" sz="15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Reduces time spent searching across standards, schemes and certification requirements. 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6830563" y="1298450"/>
            <a:ext cx="1563600" cy="8460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6876282" y="1298450"/>
            <a:ext cx="14721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Inclusion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9"/>
          <p:cNvSpPr txBox="1"/>
          <p:nvPr/>
        </p:nvSpPr>
        <p:spPr>
          <a:xfrm>
            <a:off x="6830575" y="2229363"/>
            <a:ext cx="1563600" cy="134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lang="en-US" sz="15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Voice and regional-language interaction makes BIS information easier to access. 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/>
          <p:nvPr/>
        </p:nvSpPr>
        <p:spPr>
          <a:xfrm>
            <a:off x="8531344" y="1298450"/>
            <a:ext cx="1563600" cy="8460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8577064" y="1298450"/>
            <a:ext cx="14721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Less Counterfeit Circulation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9"/>
          <p:cNvSpPr txBox="1"/>
          <p:nvPr/>
        </p:nvSpPr>
        <p:spPr>
          <a:xfrm>
            <a:off x="8531362" y="2229363"/>
            <a:ext cx="1563600" cy="134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b="0" i="0" lang="en-US" sz="15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Real-time status badges flag withdrawn standards and fake marks fast.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9"/>
          <p:cNvSpPr/>
          <p:nvPr/>
        </p:nvSpPr>
        <p:spPr>
          <a:xfrm>
            <a:off x="10232125" y="1298450"/>
            <a:ext cx="1563600" cy="8460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10277845" y="1298450"/>
            <a:ext cx="14721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Institutional Visibility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10232149" y="2229363"/>
            <a:ext cx="1563600" cy="1345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lang="en-US" sz="15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Query analytics reveal common compliance gaps and information bottlenecks. 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1" name="Google Shape;321;p29"/>
          <p:cNvCxnSpPr/>
          <p:nvPr/>
        </p:nvCxnSpPr>
        <p:spPr>
          <a:xfrm>
            <a:off x="3428990" y="3809037"/>
            <a:ext cx="8366700" cy="0"/>
          </a:xfrm>
          <a:prstGeom prst="straightConnector1">
            <a:avLst/>
          </a:prstGeom>
          <a:noFill/>
          <a:ln cap="flat" cmpd="sng" w="12700">
            <a:solidFill>
              <a:srgbClr val="B9C6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29"/>
          <p:cNvSpPr txBox="1"/>
          <p:nvPr/>
        </p:nvSpPr>
        <p:spPr>
          <a:xfrm>
            <a:off x="3428990" y="3822509"/>
            <a:ext cx="8366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6E43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6E43"/>
                </a:solidFill>
                <a:latin typeface="Cambria"/>
                <a:ea typeface="Cambria"/>
                <a:cs typeface="Cambria"/>
                <a:sym typeface="Cambria"/>
              </a:rPr>
              <a:t>BENEFITS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3429000" y="4246550"/>
            <a:ext cx="1563600" cy="7803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3474720" y="4246550"/>
            <a:ext cx="1472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Certification Cycles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3429025" y="5165100"/>
            <a:ext cx="1584300" cy="160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b="0" i="0" lang="en-US" sz="16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Step-by-step guidance + instant standard-matching gets products to market sooner.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5129781" y="4246550"/>
            <a:ext cx="1563600" cy="7803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9"/>
          <p:cNvSpPr txBox="1"/>
          <p:nvPr/>
        </p:nvSpPr>
        <p:spPr>
          <a:xfrm>
            <a:off x="5175501" y="4246550"/>
            <a:ext cx="1472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Reduced Compliance Errors 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 txBox="1"/>
          <p:nvPr/>
        </p:nvSpPr>
        <p:spPr>
          <a:xfrm>
            <a:off x="5152285" y="5165100"/>
            <a:ext cx="1584300" cy="160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lang="en-US" sz="1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Clear standard identification helps avoid incorrect certification paths. 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6830563" y="4246550"/>
            <a:ext cx="1563600" cy="7803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6876283" y="4246550"/>
            <a:ext cx="1472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Lighter Helpline Load 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 txBox="1"/>
          <p:nvPr/>
        </p:nvSpPr>
        <p:spPr>
          <a:xfrm>
            <a:off x="6875545" y="5165100"/>
            <a:ext cx="1584300" cy="160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lang="en-US" sz="1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Routine questions are handled automatically; complex cases are escalated. 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8531344" y="4246550"/>
            <a:ext cx="1563600" cy="7803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9"/>
          <p:cNvSpPr txBox="1"/>
          <p:nvPr/>
        </p:nvSpPr>
        <p:spPr>
          <a:xfrm>
            <a:off x="8577064" y="4246550"/>
            <a:ext cx="1472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Backend, Every Channel 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 txBox="1"/>
          <p:nvPr/>
        </p:nvSpPr>
        <p:spPr>
          <a:xfrm>
            <a:off x="8598805" y="5165100"/>
            <a:ext cx="1584300" cy="160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b="0" i="0" lang="en-US" sz="165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Web, WhatsApp, and SMS all run off the same engine — no rebuilds.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10232125" y="4246550"/>
            <a:ext cx="1563600" cy="780300"/>
          </a:xfrm>
          <a:prstGeom prst="roundRect">
            <a:avLst>
              <a:gd fmla="val 12903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9"/>
          <p:cNvSpPr txBox="1"/>
          <p:nvPr/>
        </p:nvSpPr>
        <p:spPr>
          <a:xfrm>
            <a:off x="10277845" y="4246550"/>
            <a:ext cx="1472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5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Scalable Operations </a:t>
            </a:r>
            <a:endParaRPr b="0" i="0" sz="15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 txBox="1"/>
          <p:nvPr/>
        </p:nvSpPr>
        <p:spPr>
          <a:xfrm>
            <a:off x="10322075" y="5165100"/>
            <a:ext cx="1584300" cy="160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850"/>
              <a:buFont typeface="Calibri"/>
              <a:buNone/>
            </a:pPr>
            <a:r>
              <a:rPr lang="en-US" sz="1650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Supports large query volumes without proportional growth in manual support. </a:t>
            </a:r>
            <a:endParaRPr b="0" i="0" sz="16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8" name="Google Shape;338;p29"/>
          <p:cNvPicPr preferRelativeResize="0"/>
          <p:nvPr/>
        </p:nvPicPr>
        <p:blipFill rotWithShape="1">
          <a:blip r:embed="rId4">
            <a:alphaModFix/>
          </a:blip>
          <a:srcRect b="29070" l="0" r="0" t="23997"/>
          <a:stretch/>
        </p:blipFill>
        <p:spPr>
          <a:xfrm>
            <a:off x="0" y="14675"/>
            <a:ext cx="2651851" cy="78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0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45" name="Google Shape;3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703" y="3"/>
            <a:ext cx="1631299" cy="77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4612" y="905699"/>
            <a:ext cx="442513" cy="5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94612" y="1955238"/>
            <a:ext cx="442525" cy="50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94612" y="3004800"/>
            <a:ext cx="442525" cy="50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5100" y="19651"/>
            <a:ext cx="5333237" cy="770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0" name="Google Shape;350;p30"/>
          <p:cNvCxnSpPr/>
          <p:nvPr/>
        </p:nvCxnSpPr>
        <p:spPr>
          <a:xfrm>
            <a:off x="2843163" y="32050"/>
            <a:ext cx="87000" cy="687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51" name="Google Shape;351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94611" y="3932150"/>
            <a:ext cx="442525" cy="503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94611" y="4920612"/>
            <a:ext cx="442525" cy="503264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0"/>
          <p:cNvSpPr txBox="1"/>
          <p:nvPr/>
        </p:nvSpPr>
        <p:spPr>
          <a:xfrm>
            <a:off x="3639925" y="898075"/>
            <a:ext cx="54618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(RAG)</a:t>
            </a:r>
            <a:endParaRPr b="1" i="0" sz="17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Summary:  </a:t>
            </a:r>
            <a:r>
              <a:rPr b="0" i="0" lang="en-US" sz="13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Pairs a language model with a retriever over an external index, grounding answers in retrieved passages rather than model memory alone.</a:t>
            </a:r>
            <a:endParaRPr b="0" i="0" sz="13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Link: </a:t>
            </a:r>
            <a:r>
              <a:rPr b="1" i="0" lang="en-US" sz="1350" u="none" cap="none" strike="noStrike">
                <a:solidFill>
                  <a:schemeClr val="hlink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0"/>
              </a:rPr>
              <a:t> </a:t>
            </a:r>
            <a:r>
              <a:rPr b="0" i="0" lang="en-US" sz="13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arxiv.org/abs/2005.11401</a:t>
            </a:r>
            <a:endParaRPr b="0" i="0" sz="155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4" name="Google Shape;354;p30"/>
          <p:cNvSpPr txBox="1"/>
          <p:nvPr/>
        </p:nvSpPr>
        <p:spPr>
          <a:xfrm>
            <a:off x="3574025" y="1955250"/>
            <a:ext cx="53334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Self-RAG (Self-Reflective Retrieval)</a:t>
            </a:r>
            <a:endParaRPr b="1" i="0" sz="16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Summary:  </a:t>
            </a:r>
            <a:r>
              <a:rPr b="0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Trains a model to judge when retrieval is needed and critique its own drafts against retrieved text, cutting hallucinated claims.</a:t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Link: </a:t>
            </a:r>
            <a:r>
              <a:rPr b="1" i="0" lang="en-US" sz="1250" u="none" cap="none" strike="noStrike">
                <a:solidFill>
                  <a:schemeClr val="hlink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2"/>
              </a:rPr>
              <a:t> </a:t>
            </a:r>
            <a:r>
              <a:rPr b="0" i="0" lang="en-US" sz="12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arxiv.org/abs/2310.11511</a:t>
            </a:r>
            <a:endParaRPr b="0" i="0" sz="125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3574025" y="2974450"/>
            <a:ext cx="54618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BIS ‘Know Your Standard’ Portal</a:t>
            </a:r>
            <a:endParaRPr b="1" i="0" sz="16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Summary:  </a:t>
            </a:r>
            <a:r>
              <a:rPr b="0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BIS's official lookup for any IS number or product keyword, showing scope, status and related documents.</a:t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Link: </a:t>
            </a:r>
            <a:r>
              <a:rPr b="1" i="0" lang="en-US" sz="1250" u="none" cap="none" strike="noStrike">
                <a:solidFill>
                  <a:schemeClr val="hlink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4"/>
              </a:rPr>
              <a:t> </a:t>
            </a:r>
            <a:r>
              <a:rPr b="0" i="0" lang="en-US" sz="12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bis.gov.in/know-your-standard</a:t>
            </a:r>
            <a:endParaRPr b="0" i="0" sz="125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3654574" y="3932150"/>
            <a:ext cx="49488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IndicTrans2 (AI4Bharat)</a:t>
            </a:r>
            <a:endParaRPr b="1" i="0" sz="16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Summary:  </a:t>
            </a:r>
            <a:r>
              <a:rPr b="0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Open-source translation system covering all 22 scheduled Indian languages, built by AI4Bharat (IIT Madras).</a:t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Link: </a:t>
            </a:r>
            <a:r>
              <a:rPr b="1" i="0" lang="en-US" sz="1250" u="none" cap="none" strike="noStrike">
                <a:solidFill>
                  <a:schemeClr val="hlink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6"/>
              </a:rPr>
              <a:t> </a:t>
            </a:r>
            <a:r>
              <a:rPr b="0" i="0" lang="en-US" sz="12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7"/>
              </a:rPr>
              <a:t>github.com/AI4Bharat/IndicTrans2</a:t>
            </a:r>
            <a:endParaRPr b="0" i="0" sz="125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7" name="Google Shape;357;p30"/>
          <p:cNvSpPr txBox="1"/>
          <p:nvPr/>
        </p:nvSpPr>
        <p:spPr>
          <a:xfrm>
            <a:off x="3599850" y="4908175"/>
            <a:ext cx="48210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BIS Compulsory Registration Scheme (CRS)</a:t>
            </a:r>
            <a:endParaRPr b="1" i="0" sz="16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Summary:  </a:t>
            </a:r>
            <a:r>
              <a:rPr b="0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Official portal for BIS's CRS scheme on notified electronics/IT products, covering rules and license status.</a:t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Link: </a:t>
            </a:r>
            <a:r>
              <a:rPr b="1" i="0" lang="en-US" sz="1250" u="none" cap="none" strike="noStrike">
                <a:solidFill>
                  <a:schemeClr val="hlink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18"/>
              </a:rPr>
              <a:t> </a:t>
            </a:r>
            <a:r>
              <a:rPr b="0" i="0" lang="en-US" sz="12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9"/>
              </a:rPr>
              <a:t>crsbis.in</a:t>
            </a:r>
            <a:endParaRPr b="0" i="0" sz="1250" u="sng" cap="none" strike="noStrike">
              <a:solidFill>
                <a:schemeClr val="hlink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58" name="Google Shape;358;p30"/>
          <p:cNvSpPr txBox="1"/>
          <p:nvPr/>
        </p:nvSpPr>
        <p:spPr>
          <a:xfrm>
            <a:off x="3210125" y="475700"/>
            <a:ext cx="61896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59" name="Google Shape;359;p3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8725" y="1408950"/>
            <a:ext cx="2703826" cy="532877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0"/>
          <p:cNvSpPr/>
          <p:nvPr/>
        </p:nvSpPr>
        <p:spPr>
          <a:xfrm>
            <a:off x="178363" y="1006150"/>
            <a:ext cx="2331600" cy="365100"/>
          </a:xfrm>
          <a:prstGeom prst="roundRect">
            <a:avLst>
              <a:gd fmla="val 50000" name="adj"/>
            </a:avLst>
          </a:prstGeom>
          <a:solidFill>
            <a:srgbClr val="E7E6E6"/>
          </a:solidFill>
          <a:ln cap="flat" cmpd="sng" w="9525">
            <a:solidFill>
              <a:srgbClr val="44546A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27303A"/>
                </a:solidFill>
                <a:latin typeface="Oswald"/>
                <a:ea typeface="Oswald"/>
                <a:cs typeface="Oswald"/>
                <a:sym typeface="Oswald"/>
              </a:rPr>
              <a:t>APP INTERFACE</a:t>
            </a:r>
            <a:endParaRPr b="0" i="0" sz="2100" u="none" cap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1" name="Google Shape;361;p30"/>
          <p:cNvSpPr txBox="1"/>
          <p:nvPr/>
        </p:nvSpPr>
        <p:spPr>
          <a:xfrm>
            <a:off x="9633250" y="606125"/>
            <a:ext cx="18075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SDG 9</a:t>
            </a:r>
            <a:endParaRPr b="0" i="0" sz="3800" u="none" cap="none" strike="noStrike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62" name="Google Shape;362;p30"/>
          <p:cNvPicPr preferRelativeResize="0"/>
          <p:nvPr/>
        </p:nvPicPr>
        <p:blipFill rotWithShape="1">
          <a:blip r:embed="rId21">
            <a:alphaModFix/>
          </a:blip>
          <a:srcRect b="29070" l="0" r="0" t="23997"/>
          <a:stretch/>
        </p:blipFill>
        <p:spPr>
          <a:xfrm>
            <a:off x="0" y="14675"/>
            <a:ext cx="2651851" cy="780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3094625" y="5909050"/>
            <a:ext cx="497471" cy="56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0"/>
          <p:cNvSpPr txBox="1"/>
          <p:nvPr/>
        </p:nvSpPr>
        <p:spPr>
          <a:xfrm>
            <a:off x="3577925" y="5805850"/>
            <a:ext cx="51942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Quadrant Vector Database</a:t>
            </a:r>
            <a:endParaRPr b="1" i="0" sz="16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Summary:</a:t>
            </a:r>
            <a:r>
              <a:rPr b="1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Open source  embedding database for LLM apps, storing text chunks with embeddings for similarity search.</a:t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7303A"/>
                </a:solidFill>
                <a:latin typeface="Calibri"/>
                <a:ea typeface="Calibri"/>
                <a:cs typeface="Calibri"/>
                <a:sym typeface="Calibri"/>
              </a:rPr>
              <a:t>Link:  </a:t>
            </a:r>
            <a:r>
              <a:rPr b="0" i="0" lang="en-US" sz="125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3"/>
              </a:rPr>
              <a:t>qdrant.tech/documentation</a:t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2730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0"/>
          <p:cNvSpPr txBox="1"/>
          <p:nvPr/>
        </p:nvSpPr>
        <p:spPr>
          <a:xfrm>
            <a:off x="9005200" y="1006150"/>
            <a:ext cx="3063600" cy="28359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Target 9.1 — Access to Quality Infrastructure:</a:t>
            </a:r>
            <a:r>
              <a:rPr lang="en-US" sz="1100">
                <a:solidFill>
                  <a:schemeClr val="dk1"/>
                </a:solidFill>
              </a:rPr>
              <a:t> Makes BIS technical information searchable in plain language.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Target 9.3 — MSME Market Access:</a:t>
            </a:r>
            <a:r>
              <a:rPr lang="en-US" sz="1100">
                <a:solidFill>
                  <a:schemeClr val="dk1"/>
                </a:solidFill>
              </a:rPr>
              <a:t> Simplifies ISI/CRS certification guidance for small manufacturers.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Target 9.b — Indigenous Tech Capacity:</a:t>
            </a:r>
            <a:r>
              <a:rPr lang="en-US" sz="1100">
                <a:solidFill>
                  <a:schemeClr val="dk1"/>
                </a:solidFill>
              </a:rPr>
              <a:t> Uses IndicTrans 2 (AI4Bharat) for Indian-language AI support.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solidFill>
                  <a:schemeClr val="dk1"/>
                </a:solidFill>
              </a:rPr>
              <a:t>Target 9.5 — Innovation in Public Infrastructure:</a:t>
            </a:r>
            <a:r>
              <a:rPr lang="en-US" sz="1100">
                <a:solidFill>
                  <a:schemeClr val="dk1"/>
                </a:solidFill>
              </a:rPr>
              <a:t> Applies RAG-based AI to a government knowledge base.</a:t>
            </a:r>
            <a:endParaRPr sz="32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66" name="Google Shape;366;p30"/>
          <p:cNvSpPr txBox="1"/>
          <p:nvPr/>
        </p:nvSpPr>
        <p:spPr>
          <a:xfrm>
            <a:off x="9465388" y="3821775"/>
            <a:ext cx="18075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Why Our Product?</a:t>
            </a:r>
            <a:endParaRPr sz="1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67" name="Google Shape;367;p30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8420850" y="4172800"/>
            <a:ext cx="3771151" cy="26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