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6858000" cx="12192000"/>
  <p:notesSz cx="6858000" cy="9144000"/>
  <p:embeddedFontLst>
    <p:embeddedFont>
      <p:font typeface="Garamond"/>
      <p:regular r:id="rId13"/>
      <p:bold r:id="rId14"/>
      <p:italic r:id="rId15"/>
      <p:boldItalic r:id="rId16"/>
    </p:embeddedFont>
    <p:embeddedFont>
      <p:font typeface="Oswald"/>
      <p:regular r:id="rId17"/>
      <p:bold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font" Target="fonts/Garamond-regular.fntdata"/><Relationship Id="rId12" Type="http://schemas.openxmlformats.org/officeDocument/2006/relationships/slide" Target="slides/slide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font" Target="fonts/Garamond-italic.fntdata"/><Relationship Id="rId14" Type="http://schemas.openxmlformats.org/officeDocument/2006/relationships/font" Target="fonts/Garamond-bold.fntdata"/><Relationship Id="rId17" Type="http://schemas.openxmlformats.org/officeDocument/2006/relationships/font" Target="fonts/Oswald-regular.fntdata"/><Relationship Id="rId16" Type="http://schemas.openxmlformats.org/officeDocument/2006/relationships/font" Target="fonts/Garamond-bold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18" Type="http://schemas.openxmlformats.org/officeDocument/2006/relationships/font" Target="fonts/Oswald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69" name="Google Shape;16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209" name="Google Shape;20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f8ac4992b7_18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222" name="Google Shape;222;g3f8ac4992b7_18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g3f8ac4992b7_18_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304" name="Google Shape;3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381" name="Google Shape;38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5"/>
          <p:cNvSpPr txBox="1"/>
          <p:nvPr>
            <p:ph idx="2" type="body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"/>
          <p:cNvSpPr txBox="1"/>
          <p:nvPr>
            <p:ph idx="3" type="body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"/>
          <p:cNvSpPr txBox="1"/>
          <p:nvPr>
            <p:ph idx="4" type="body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>
            <p:ph type="ctrTitle"/>
          </p:nvPr>
        </p:nvSpPr>
        <p:spPr>
          <a:xfrm>
            <a:off x="1198800" y="914400"/>
            <a:ext cx="9799200" cy="25704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4"/>
          <p:cNvSpPr txBox="1"/>
          <p:nvPr>
            <p:ph idx="1" type="subTitle"/>
          </p:nvPr>
        </p:nvSpPr>
        <p:spPr>
          <a:xfrm>
            <a:off x="1198800" y="3560400"/>
            <a:ext cx="9799200" cy="14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rmAutofit/>
          </a:bodyPr>
          <a:lstStyle>
            <a:lvl1pPr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93" name="Google Shape;93;p14"/>
          <p:cNvSpPr txBox="1"/>
          <p:nvPr>
            <p:ph idx="10" type="dt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14"/>
          <p:cNvSpPr txBox="1"/>
          <p:nvPr>
            <p:ph idx="11" type="ftr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4"/>
          <p:cNvSpPr txBox="1"/>
          <p:nvPr>
            <p:ph idx="12" type="sldNum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/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00" lIns="90000" spcFirstLastPara="1" rIns="90000" wrap="square" tIns="468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5"/>
          <p:cNvSpPr txBox="1"/>
          <p:nvPr>
            <p:ph idx="1" type="body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rmAutofit/>
          </a:bodyPr>
          <a:lstStyle>
            <a:lvl1pPr indent="-342900" lvl="0" marL="4572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indent="-342900" lvl="2" marL="1371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indent="-342900" lvl="3" marL="18288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5"/>
          <p:cNvSpPr txBox="1"/>
          <p:nvPr>
            <p:ph idx="10" type="dt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15"/>
          <p:cNvSpPr txBox="1"/>
          <p:nvPr>
            <p:ph idx="11" type="ftr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15"/>
          <p:cNvSpPr txBox="1"/>
          <p:nvPr>
            <p:ph idx="12" type="sldNum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/>
          <p:cNvSpPr txBox="1"/>
          <p:nvPr>
            <p:ph type="title"/>
          </p:nvPr>
        </p:nvSpPr>
        <p:spPr>
          <a:xfrm>
            <a:off x="1990800" y="3848400"/>
            <a:ext cx="7768800" cy="76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6800" lIns="90000" spcFirstLastPara="1" rIns="90000" wrap="square" tIns="468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Arial"/>
              <a:buNone/>
              <a:defRPr sz="4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1990800" y="4615200"/>
            <a:ext cx="7768800" cy="8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rmAutofit/>
          </a:bodyPr>
          <a:lstStyle>
            <a:lvl1pPr indent="-228600" lvl="0" marL="4572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>
                <a:solidFill>
                  <a:srgbClr val="595959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idx="10" type="dt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16"/>
          <p:cNvSpPr txBox="1"/>
          <p:nvPr>
            <p:ph idx="11" type="ftr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16"/>
          <p:cNvSpPr txBox="1"/>
          <p:nvPr>
            <p:ph idx="12" type="sldNum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 txBox="1"/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00" lIns="90000" spcFirstLastPara="1" rIns="90000" wrap="square" tIns="468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17"/>
          <p:cNvSpPr txBox="1"/>
          <p:nvPr>
            <p:ph idx="1" type="body"/>
          </p:nvPr>
        </p:nvSpPr>
        <p:spPr>
          <a:xfrm>
            <a:off x="6084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rmAutofit/>
          </a:bodyPr>
          <a:lstStyle>
            <a:lvl1pPr indent="-342900" lvl="0" marL="4572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indent="-342900" lvl="2" marL="1371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indent="-342900" lvl="3" marL="18288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1" name="Google Shape;111;p17"/>
          <p:cNvSpPr txBox="1"/>
          <p:nvPr>
            <p:ph idx="2" type="body"/>
          </p:nvPr>
        </p:nvSpPr>
        <p:spPr>
          <a:xfrm>
            <a:off x="64116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rmAutofit/>
          </a:bodyPr>
          <a:lstStyle>
            <a:lvl1pPr indent="-342900" lvl="0" marL="4572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indent="-342900" lvl="2" marL="1371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indent="-342900" lvl="3" marL="18288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2" name="Google Shape;112;p17"/>
          <p:cNvSpPr txBox="1"/>
          <p:nvPr>
            <p:ph idx="10" type="dt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11" type="ftr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17"/>
          <p:cNvSpPr txBox="1"/>
          <p:nvPr>
            <p:ph idx="12" type="sldNum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00" lIns="90000" spcFirstLastPara="1" rIns="90000" wrap="square" tIns="468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18"/>
          <p:cNvSpPr txBox="1"/>
          <p:nvPr>
            <p:ph idx="1" type="body"/>
          </p:nvPr>
        </p:nvSpPr>
        <p:spPr>
          <a:xfrm>
            <a:off x="608400" y="1429200"/>
            <a:ext cx="53424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8100" lIns="101600" spcFirstLastPara="1" rIns="76200" wrap="square" tIns="381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b="1" sz="2000">
                <a:solidFill>
                  <a:srgbClr val="3F3F3F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8" name="Google Shape;118;p18"/>
          <p:cNvSpPr txBox="1"/>
          <p:nvPr>
            <p:ph idx="2" type="body"/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1600" spcFirstLastPara="1" rIns="82550" wrap="square" tIns="0">
            <a:normAutofit/>
          </a:bodyPr>
          <a:lstStyle>
            <a:lvl1pPr indent="-342900" lvl="0" marL="4572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indent="-342900" lvl="2" marL="1371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indent="-342900" lvl="3" marL="18288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18"/>
          <p:cNvSpPr txBox="1"/>
          <p:nvPr>
            <p:ph idx="3" type="body"/>
          </p:nvPr>
        </p:nvSpPr>
        <p:spPr>
          <a:xfrm>
            <a:off x="6235750" y="1421729"/>
            <a:ext cx="53424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8100" lIns="101600" spcFirstLastPara="1" rIns="76200" wrap="square" tIns="381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b="1" sz="2000">
                <a:solidFill>
                  <a:srgbClr val="3F3F3F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20" name="Google Shape;120;p18"/>
          <p:cNvSpPr txBox="1"/>
          <p:nvPr>
            <p:ph idx="4" type="body"/>
          </p:nvPr>
        </p:nvSpPr>
        <p:spPr>
          <a:xfrm>
            <a:off x="623575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1600" spcFirstLastPara="1" rIns="82550" wrap="square" tIns="0">
            <a:normAutofit/>
          </a:bodyPr>
          <a:lstStyle>
            <a:lvl1pPr indent="-342900" lvl="0" marL="4572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indent="-342900" lvl="2" marL="1371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indent="-342900" lvl="3" marL="18288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1" name="Google Shape;121;p18"/>
          <p:cNvSpPr txBox="1"/>
          <p:nvPr>
            <p:ph idx="10" type="dt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18"/>
          <p:cNvSpPr txBox="1"/>
          <p:nvPr>
            <p:ph idx="11" type="ftr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18"/>
          <p:cNvSpPr txBox="1"/>
          <p:nvPr>
            <p:ph idx="12" type="sldNum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 txBox="1"/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00" lIns="90000" spcFirstLastPara="1" rIns="90000" wrap="square" tIns="468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19"/>
          <p:cNvSpPr txBox="1"/>
          <p:nvPr>
            <p:ph idx="10" type="dt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19"/>
          <p:cNvSpPr txBox="1"/>
          <p:nvPr>
            <p:ph idx="11" type="ftr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19"/>
          <p:cNvSpPr txBox="1"/>
          <p:nvPr>
            <p:ph idx="12" type="sldNum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 txBox="1"/>
          <p:nvPr>
            <p:ph idx="10" type="dt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20"/>
          <p:cNvSpPr txBox="1"/>
          <p:nvPr>
            <p:ph idx="11" type="ftr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20"/>
          <p:cNvSpPr txBox="1"/>
          <p:nvPr>
            <p:ph idx="12" type="sldNum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>
  <p:cSld name="Picture with Caption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608400" y="1555200"/>
            <a:ext cx="5233077" cy="46080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idx="1" type="body"/>
          </p:nvPr>
        </p:nvSpPr>
        <p:spPr>
          <a:xfrm>
            <a:off x="6350400" y="1555200"/>
            <a:ext cx="5227200" cy="46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rmAutofit/>
          </a:bodyPr>
          <a:lstStyle>
            <a:lvl1pPr indent="-228600" lvl="0" marL="4572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indent="-342900" lvl="2" marL="1371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indent="-342900" lvl="3" marL="18288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21"/>
          <p:cNvSpPr txBox="1"/>
          <p:nvPr>
            <p:ph idx="10" type="dt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21"/>
          <p:cNvSpPr txBox="1"/>
          <p:nvPr>
            <p:ph idx="11" type="ftr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21"/>
          <p:cNvSpPr txBox="1"/>
          <p:nvPr>
            <p:ph idx="12" type="sldNum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9" name="Google Shape;139;p21"/>
          <p:cNvSpPr txBox="1"/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975" lIns="90150" spcFirstLastPara="1" rIns="90150" wrap="square" tIns="469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/>
          <p:cNvSpPr txBox="1"/>
          <p:nvPr>
            <p:ph type="title"/>
          </p:nvPr>
        </p:nvSpPr>
        <p:spPr>
          <a:xfrm rot="5400000">
            <a:off x="8242200" y="2907000"/>
            <a:ext cx="5029200" cy="104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00" lIns="90000" spcFirstLastPara="1" rIns="90000" wrap="square" tIns="468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22"/>
          <p:cNvSpPr txBox="1"/>
          <p:nvPr>
            <p:ph idx="1" type="body"/>
          </p:nvPr>
        </p:nvSpPr>
        <p:spPr>
          <a:xfrm rot="5400000">
            <a:off x="2984400" y="-1155600"/>
            <a:ext cx="5029200" cy="9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46800" spcFirstLastPara="1" rIns="46800" wrap="square" tIns="46800">
            <a:normAutofit/>
          </a:bodyPr>
          <a:lstStyle>
            <a:lvl1pPr indent="-342900" lvl="0" marL="4572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indent="-330200" lvl="1" marL="9144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2pPr>
            <a:lvl3pPr indent="-330200" lvl="2" marL="1371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3pPr>
            <a:lvl4pPr indent="-317500" lvl="3" marL="18288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3" name="Google Shape;143;p22"/>
          <p:cNvSpPr txBox="1"/>
          <p:nvPr>
            <p:ph idx="10" type="dt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4" name="Google Shape;144;p22"/>
          <p:cNvSpPr txBox="1"/>
          <p:nvPr>
            <p:ph idx="11" type="ftr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22"/>
          <p:cNvSpPr txBox="1"/>
          <p:nvPr>
            <p:ph idx="12" type="sldNum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3"/>
          <p:cNvSpPr txBox="1"/>
          <p:nvPr>
            <p:ph idx="10" type="dt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23"/>
          <p:cNvSpPr txBox="1"/>
          <p:nvPr>
            <p:ph idx="11" type="ftr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23"/>
          <p:cNvSpPr txBox="1"/>
          <p:nvPr>
            <p:ph idx="12" type="sldNum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0" name="Google Shape;150;p23"/>
          <p:cNvSpPr txBox="1"/>
          <p:nvPr>
            <p:ph idx="1" type="body"/>
          </p:nvPr>
        </p:nvSpPr>
        <p:spPr>
          <a:xfrm>
            <a:off x="608400" y="774000"/>
            <a:ext cx="10972800" cy="54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rmAutofit/>
          </a:bodyPr>
          <a:lstStyle>
            <a:lvl1pPr indent="-342900" lvl="0" marL="4572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indent="-342900" lvl="2" marL="1371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indent="-342900" lvl="3" marL="18288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ast Slide">
  <p:cSld name="Last Slide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/>
          <p:nvPr>
            <p:ph idx="10" type="dt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4"/>
          <p:cNvSpPr txBox="1"/>
          <p:nvPr>
            <p:ph idx="11" type="ftr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24"/>
          <p:cNvSpPr txBox="1"/>
          <p:nvPr>
            <p:ph idx="12" type="sldNum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5" name="Google Shape;155;p24"/>
          <p:cNvSpPr txBox="1"/>
          <p:nvPr>
            <p:ph type="title"/>
          </p:nvPr>
        </p:nvSpPr>
        <p:spPr>
          <a:xfrm>
            <a:off x="1198800" y="2484000"/>
            <a:ext cx="9799200" cy="10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4"/>
          <p:cNvSpPr txBox="1"/>
          <p:nvPr>
            <p:ph idx="1" type="body"/>
          </p:nvPr>
        </p:nvSpPr>
        <p:spPr>
          <a:xfrm>
            <a:off x="1198800" y="3560400"/>
            <a:ext cx="9799200" cy="4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rmAutofit/>
          </a:bodyPr>
          <a:lstStyle>
            <a:lvl1pPr indent="-228600" lvl="0" marL="45720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indent="-342900" lvl="1" marL="9144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indent="-342900" lvl="2" marL="1371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indent="-342900" lvl="3" marL="18288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975" lIns="90150" spcFirstLastPara="1" rIns="90150" wrap="square" tIns="4697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Arial"/>
              <a:buNone/>
              <a:defRPr b="0" i="0" sz="36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6" name="Google Shape;86;p13"/>
          <p:cNvSpPr txBox="1"/>
          <p:nvPr>
            <p:ph idx="1" type="body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rmAutofit/>
          </a:bodyPr>
          <a:lstStyle>
            <a:lvl1pPr indent="-342900" lvl="0" marL="4572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0200" lvl="1" marL="914400" marR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/>
              <a:buChar char="●"/>
              <a:defRPr b="0" i="0" sz="1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/>
              <a:buChar char="●"/>
              <a:defRPr b="0" i="0" sz="1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Noto Sans Symbols"/>
              <a:buChar char="•"/>
              <a:defRPr b="0" i="0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7" name="Google Shape;87;p13"/>
          <p:cNvSpPr txBox="1"/>
          <p:nvPr>
            <p:ph idx="10" type="dt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1" type="ftr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9" name="Google Shape;89;p13"/>
          <p:cNvSpPr txBox="1"/>
          <p:nvPr>
            <p:ph idx="12" type="sldNum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44.png"/><Relationship Id="rId6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26.png"/><Relationship Id="rId5" Type="http://schemas.openxmlformats.org/officeDocument/2006/relationships/image" Target="../media/image43.png"/><Relationship Id="rId6" Type="http://schemas.openxmlformats.org/officeDocument/2006/relationships/image" Target="../media/image11.png"/><Relationship Id="rId7" Type="http://schemas.openxmlformats.org/officeDocument/2006/relationships/image" Target="../media/image44.png"/></Relationships>
</file>

<file path=ppt/slides/_rels/slide4.xml.rels><?xml version="1.0" encoding="UTF-8" standalone="yes"?><Relationships xmlns="http://schemas.openxmlformats.org/package/2006/relationships"><Relationship Id="rId20" Type="http://schemas.openxmlformats.org/officeDocument/2006/relationships/image" Target="../media/image40.png"/><Relationship Id="rId11" Type="http://schemas.openxmlformats.org/officeDocument/2006/relationships/image" Target="../media/image15.png"/><Relationship Id="rId10" Type="http://schemas.openxmlformats.org/officeDocument/2006/relationships/image" Target="../media/image7.png"/><Relationship Id="rId21" Type="http://schemas.openxmlformats.org/officeDocument/2006/relationships/image" Target="../media/image44.png"/><Relationship Id="rId13" Type="http://schemas.openxmlformats.org/officeDocument/2006/relationships/image" Target="../media/image16.png"/><Relationship Id="rId12" Type="http://schemas.openxmlformats.org/officeDocument/2006/relationships/image" Target="../media/image12.png"/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1.png"/><Relationship Id="rId9" Type="http://schemas.openxmlformats.org/officeDocument/2006/relationships/image" Target="../media/image37.png"/><Relationship Id="rId15" Type="http://schemas.openxmlformats.org/officeDocument/2006/relationships/image" Target="../media/image17.png"/><Relationship Id="rId14" Type="http://schemas.openxmlformats.org/officeDocument/2006/relationships/image" Target="../media/image14.png"/><Relationship Id="rId17" Type="http://schemas.openxmlformats.org/officeDocument/2006/relationships/image" Target="../media/image29.png"/><Relationship Id="rId16" Type="http://schemas.openxmlformats.org/officeDocument/2006/relationships/image" Target="../media/image19.png"/><Relationship Id="rId5" Type="http://schemas.openxmlformats.org/officeDocument/2006/relationships/image" Target="../media/image6.png"/><Relationship Id="rId19" Type="http://schemas.openxmlformats.org/officeDocument/2006/relationships/image" Target="../media/image22.png"/><Relationship Id="rId6" Type="http://schemas.openxmlformats.org/officeDocument/2006/relationships/image" Target="../media/image5.png"/><Relationship Id="rId18" Type="http://schemas.openxmlformats.org/officeDocument/2006/relationships/image" Target="../media/image18.png"/><Relationship Id="rId7" Type="http://schemas.openxmlformats.org/officeDocument/2006/relationships/image" Target="../media/image3.png"/><Relationship Id="rId8" Type="http://schemas.openxmlformats.org/officeDocument/2006/relationships/image" Target="../media/image13.png"/></Relationships>
</file>

<file path=ppt/slides/_rels/slide5.xml.rels><?xml version="1.0" encoding="UTF-8" standalone="yes"?><Relationships xmlns="http://schemas.openxmlformats.org/package/2006/relationships"><Relationship Id="rId11" Type="http://schemas.openxmlformats.org/officeDocument/2006/relationships/image" Target="../media/image34.png"/><Relationship Id="rId10" Type="http://schemas.openxmlformats.org/officeDocument/2006/relationships/image" Target="../media/image39.png"/><Relationship Id="rId13" Type="http://schemas.openxmlformats.org/officeDocument/2006/relationships/image" Target="../media/image35.png"/><Relationship Id="rId1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21.png"/><Relationship Id="rId9" Type="http://schemas.openxmlformats.org/officeDocument/2006/relationships/image" Target="../media/image27.png"/><Relationship Id="rId14" Type="http://schemas.openxmlformats.org/officeDocument/2006/relationships/image" Target="../media/image44.png"/><Relationship Id="rId5" Type="http://schemas.openxmlformats.org/officeDocument/2006/relationships/image" Target="../media/image20.png"/><Relationship Id="rId6" Type="http://schemas.openxmlformats.org/officeDocument/2006/relationships/image" Target="../media/image23.png"/><Relationship Id="rId7" Type="http://schemas.openxmlformats.org/officeDocument/2006/relationships/image" Target="../media/image25.png"/><Relationship Id="rId8" Type="http://schemas.openxmlformats.org/officeDocument/2006/relationships/image" Target="../media/image24.png"/></Relationships>
</file>

<file path=ppt/slides/_rels/slide6.xml.rels><?xml version="1.0" encoding="UTF-8" standalone="yes"?><Relationships xmlns="http://schemas.openxmlformats.org/package/2006/relationships"><Relationship Id="rId20" Type="http://schemas.openxmlformats.org/officeDocument/2006/relationships/hyperlink" Target="https://docs.trychroma.com/docs/overview/introduction" TargetMode="External"/><Relationship Id="rId11" Type="http://schemas.openxmlformats.org/officeDocument/2006/relationships/hyperlink" Target="https://arxiv.org/abs/2005.11401" TargetMode="External"/><Relationship Id="rId22" Type="http://schemas.openxmlformats.org/officeDocument/2006/relationships/hyperlink" Target="https://www.crsbis.in/BIS/whatisCRS.do" TargetMode="External"/><Relationship Id="rId10" Type="http://schemas.openxmlformats.org/officeDocument/2006/relationships/image" Target="../media/image36.png"/><Relationship Id="rId21" Type="http://schemas.openxmlformats.org/officeDocument/2006/relationships/hyperlink" Target="https://www.crsbis.in/BIS/whatisCRS.do" TargetMode="External"/><Relationship Id="rId13" Type="http://schemas.openxmlformats.org/officeDocument/2006/relationships/hyperlink" Target="https://arxiv.org/abs/2310.11511" TargetMode="External"/><Relationship Id="rId24" Type="http://schemas.openxmlformats.org/officeDocument/2006/relationships/image" Target="../media/image44.png"/><Relationship Id="rId12" Type="http://schemas.openxmlformats.org/officeDocument/2006/relationships/hyperlink" Target="https://arxiv.org/abs/2005.11401" TargetMode="External"/><Relationship Id="rId23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30.png"/><Relationship Id="rId9" Type="http://schemas.openxmlformats.org/officeDocument/2006/relationships/image" Target="../media/image42.png"/><Relationship Id="rId15" Type="http://schemas.openxmlformats.org/officeDocument/2006/relationships/hyperlink" Target="https://www.bis.gov.in/know-your-standard/?lang=en" TargetMode="External"/><Relationship Id="rId14" Type="http://schemas.openxmlformats.org/officeDocument/2006/relationships/hyperlink" Target="https://arxiv.org/abs/2310.11511" TargetMode="External"/><Relationship Id="rId17" Type="http://schemas.openxmlformats.org/officeDocument/2006/relationships/hyperlink" Target="https://github.com/AI4Bharat/IndicTrans2" TargetMode="External"/><Relationship Id="rId16" Type="http://schemas.openxmlformats.org/officeDocument/2006/relationships/hyperlink" Target="https://www.bis.gov.in/know-your-standard/?lang=en" TargetMode="External"/><Relationship Id="rId5" Type="http://schemas.openxmlformats.org/officeDocument/2006/relationships/image" Target="../media/image31.png"/><Relationship Id="rId19" Type="http://schemas.openxmlformats.org/officeDocument/2006/relationships/hyperlink" Target="https://docs.trychroma.com/docs/overview/introduction" TargetMode="External"/><Relationship Id="rId6" Type="http://schemas.openxmlformats.org/officeDocument/2006/relationships/image" Target="../media/image41.png"/><Relationship Id="rId18" Type="http://schemas.openxmlformats.org/officeDocument/2006/relationships/hyperlink" Target="https://github.com/AI4Bharat/IndicTrans2" TargetMode="External"/><Relationship Id="rId7" Type="http://schemas.openxmlformats.org/officeDocument/2006/relationships/image" Target="../media/image33.png"/><Relationship Id="rId8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5"/>
          <p:cNvSpPr/>
          <p:nvPr/>
        </p:nvSpPr>
        <p:spPr>
          <a:xfrm>
            <a:off x="-74025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5"/>
          <p:cNvSpPr/>
          <p:nvPr/>
        </p:nvSpPr>
        <p:spPr>
          <a:xfrm>
            <a:off x="7391330" y="938896"/>
            <a:ext cx="4638605" cy="5154967"/>
          </a:xfrm>
          <a:custGeom>
            <a:rect b="b" l="l" r="r" t="t"/>
            <a:pathLst>
              <a:path extrusionOk="0" h="5154967" w="6184806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3" name="Google Shape;163;p25"/>
          <p:cNvPicPr preferRelativeResize="0"/>
          <p:nvPr/>
        </p:nvPicPr>
        <p:blipFill rotWithShape="1">
          <a:blip r:embed="rId3">
            <a:alphaModFix/>
          </a:blip>
          <a:srcRect b="0" l="0" r="59916" t="0"/>
          <a:stretch/>
        </p:blipFill>
        <p:spPr>
          <a:xfrm>
            <a:off x="8676436" y="1803256"/>
            <a:ext cx="3203507" cy="3426237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25"/>
          <p:cNvSpPr txBox="1"/>
          <p:nvPr>
            <p:ph type="ctrTitle"/>
          </p:nvPr>
        </p:nvSpPr>
        <p:spPr>
          <a:xfrm>
            <a:off x="347761" y="-273357"/>
            <a:ext cx="10363200" cy="2076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b="1" sz="4000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165" name="Google Shape;165;p25"/>
          <p:cNvSpPr txBox="1"/>
          <p:nvPr/>
        </p:nvSpPr>
        <p:spPr>
          <a:xfrm>
            <a:off x="152775" y="1518975"/>
            <a:ext cx="9144000" cy="535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ID –</a:t>
            </a:r>
            <a:r>
              <a:rPr b="1" lang="en-US" sz="2400">
                <a:solidFill>
                  <a:schemeClr val="dk1"/>
                </a:solidFill>
              </a:rPr>
              <a:t> SIH26107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Title- </a:t>
            </a:r>
            <a:r>
              <a:rPr lang="en-US" sz="2000">
                <a:solidFill>
                  <a:srgbClr val="212529"/>
                </a:solidFill>
              </a:rPr>
              <a:t>AI-powered Intelligent Assistant for Indian Standards and BIS Services for Industries and Consumers</a:t>
            </a:r>
            <a:endParaRPr sz="2400"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Theme-</a:t>
            </a:r>
            <a:r>
              <a:rPr b="1" lang="en-US" sz="3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>
                <a:solidFill>
                  <a:srgbClr val="212529"/>
                </a:solidFill>
              </a:rPr>
              <a:t>Smart Automation</a:t>
            </a:r>
            <a:r>
              <a:rPr lang="en-US" sz="2100">
                <a:solidFill>
                  <a:schemeClr val="dk1"/>
                </a:solidFill>
              </a:rPr>
              <a:t> </a:t>
            </a:r>
            <a:endParaRPr sz="2400"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PS Category-  Software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ID-</a:t>
            </a:r>
            <a:r>
              <a:rPr b="1" lang="en-US" sz="2000">
                <a:solidFill>
                  <a:schemeClr val="dk1"/>
                </a:solidFill>
              </a:rPr>
              <a:t> </a:t>
            </a:r>
            <a:r>
              <a:rPr lang="en-US" sz="2400">
                <a:solidFill>
                  <a:schemeClr val="dk1"/>
                </a:solidFill>
              </a:rPr>
              <a:t>SIH26-A0H-T263</a:t>
            </a:r>
            <a:r>
              <a:rPr lang="en-US" sz="2000">
                <a:solidFill>
                  <a:schemeClr val="dk1"/>
                </a:solidFill>
              </a:rPr>
              <a:t> </a:t>
            </a:r>
            <a:endParaRPr sz="2000">
              <a:solidFill>
                <a:schemeClr val="dk1"/>
              </a:solidFill>
            </a:endParaRPr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Name</a:t>
            </a:r>
            <a:r>
              <a:rPr b="1" lang="en-US" sz="2400">
                <a:solidFill>
                  <a:schemeClr val="dk1"/>
                </a:solidFill>
              </a:rPr>
              <a:t>- </a:t>
            </a:r>
            <a:r>
              <a:rPr lang="en-US" sz="2400">
                <a:solidFill>
                  <a:schemeClr val="dk1"/>
                </a:solidFill>
              </a:rPr>
              <a:t>Byte Busters</a:t>
            </a:r>
            <a:endParaRPr sz="2400">
              <a:solidFill>
                <a:schemeClr val="dk1"/>
              </a:solidFill>
            </a:endParaRPr>
          </a:p>
        </p:txBody>
      </p:sp>
      <p:pic>
        <p:nvPicPr>
          <p:cNvPr id="166" name="Google Shape;166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"/>
          <p:cNvSpPr/>
          <p:nvPr/>
        </p:nvSpPr>
        <p:spPr>
          <a:xfrm>
            <a:off x="147300" y="4762704"/>
            <a:ext cx="3132600" cy="918300"/>
          </a:xfrm>
          <a:prstGeom prst="roundRect">
            <a:avLst>
              <a:gd fmla="val 21053" name="adj"/>
            </a:avLst>
          </a:prstGeom>
          <a:solidFill>
            <a:srgbClr val="2E8B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26"/>
          <p:cNvSpPr/>
          <p:nvPr/>
        </p:nvSpPr>
        <p:spPr>
          <a:xfrm>
            <a:off x="146250" y="5744143"/>
            <a:ext cx="3132600" cy="986400"/>
          </a:xfrm>
          <a:prstGeom prst="roundRect">
            <a:avLst>
              <a:gd fmla="val 21053" name="adj"/>
            </a:avLst>
          </a:prstGeom>
          <a:solidFill>
            <a:srgbClr val="E879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26"/>
          <p:cNvSpPr txBox="1"/>
          <p:nvPr>
            <p:ph type="title"/>
          </p:nvPr>
        </p:nvSpPr>
        <p:spPr>
          <a:xfrm>
            <a:off x="182998" y="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b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IDEA TITLE</a:t>
            </a:r>
            <a:endParaRPr/>
          </a:p>
        </p:txBody>
      </p:sp>
      <p:sp>
        <p:nvSpPr>
          <p:cNvPr id="175" name="Google Shape;175;p26"/>
          <p:cNvSpPr txBox="1"/>
          <p:nvPr/>
        </p:nvSpPr>
        <p:spPr>
          <a:xfrm>
            <a:off x="-1" y="2064929"/>
            <a:ext cx="2249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45720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76" name="Google Shape;176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6"/>
          <p:cNvSpPr/>
          <p:nvPr/>
        </p:nvSpPr>
        <p:spPr>
          <a:xfrm>
            <a:off x="111600" y="1687675"/>
            <a:ext cx="3204000" cy="884100"/>
          </a:xfrm>
          <a:prstGeom prst="roundRect">
            <a:avLst>
              <a:gd fmla="val 21053" name="adj"/>
            </a:avLst>
          </a:prstGeom>
          <a:solidFill>
            <a:srgbClr val="E879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26"/>
          <p:cNvSpPr txBox="1"/>
          <p:nvPr/>
        </p:nvSpPr>
        <p:spPr>
          <a:xfrm>
            <a:off x="113950" y="1645975"/>
            <a:ext cx="3317400" cy="9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Fragmented Information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BIS standards, certification, licensing and testing info are spread across multiple portals. 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6"/>
          <p:cNvSpPr/>
          <p:nvPr/>
        </p:nvSpPr>
        <p:spPr>
          <a:xfrm>
            <a:off x="111600" y="2662183"/>
            <a:ext cx="3204000" cy="942000"/>
          </a:xfrm>
          <a:prstGeom prst="roundRect">
            <a:avLst>
              <a:gd fmla="val 21053" name="adj"/>
            </a:avLst>
          </a:prstGeom>
          <a:solidFill>
            <a:srgbClr val="2E8B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6"/>
          <p:cNvSpPr txBox="1"/>
          <p:nvPr/>
        </p:nvSpPr>
        <p:spPr>
          <a:xfrm>
            <a:off x="193650" y="2668830"/>
            <a:ext cx="2966400" cy="9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lt1"/>
                </a:solidFill>
              </a:rPr>
              <a:t>Difficult Standard Discovery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Users struggle to identify the correct Indian Standard from a product description or spec </a:t>
            </a:r>
            <a:endParaRPr b="1" sz="13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6"/>
          <p:cNvSpPr/>
          <p:nvPr/>
        </p:nvSpPr>
        <p:spPr>
          <a:xfrm>
            <a:off x="146250" y="3713177"/>
            <a:ext cx="3132600" cy="986400"/>
          </a:xfrm>
          <a:prstGeom prst="roundRect">
            <a:avLst>
              <a:gd fmla="val 21053" name="adj"/>
            </a:avLst>
          </a:prstGeom>
          <a:solidFill>
            <a:srgbClr val="E879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26"/>
          <p:cNvSpPr txBox="1"/>
          <p:nvPr/>
        </p:nvSpPr>
        <p:spPr>
          <a:xfrm>
            <a:off x="242050" y="3661951"/>
            <a:ext cx="3061200" cy="86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Complex Certification Process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Certification, testing and scheme requirements often need manual interpretation or outside help </a:t>
            </a:r>
            <a:endParaRPr b="1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6"/>
          <p:cNvSpPr txBox="1"/>
          <p:nvPr/>
        </p:nvSpPr>
        <p:spPr>
          <a:xfrm>
            <a:off x="206350" y="4762704"/>
            <a:ext cx="3132600" cy="10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lt1"/>
                </a:solidFill>
              </a:rPr>
              <a:t>Accessibility Gap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Technical BIS information isn't easily accessible in regional languages, voice, or conversational form </a:t>
            </a:r>
            <a:endParaRPr b="1"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6"/>
          <p:cNvSpPr txBox="1"/>
          <p:nvPr/>
        </p:nvSpPr>
        <p:spPr>
          <a:xfrm>
            <a:off x="170650" y="5676049"/>
            <a:ext cx="3204000" cy="10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Trust &amp; Freshness Issues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need assurance that answers reference current, applicable standards — not outdated ones </a:t>
            </a:r>
            <a:endParaRPr b="1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5" name="Google Shape;185;p26"/>
          <p:cNvCxnSpPr/>
          <p:nvPr/>
        </p:nvCxnSpPr>
        <p:spPr>
          <a:xfrm flipH="1" rot="10800000">
            <a:off x="-9375" y="1093075"/>
            <a:ext cx="12206400" cy="11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6" name="Google Shape;186;p26"/>
          <p:cNvCxnSpPr/>
          <p:nvPr/>
        </p:nvCxnSpPr>
        <p:spPr>
          <a:xfrm>
            <a:off x="3536675" y="1093075"/>
            <a:ext cx="58500" cy="5598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7" name="Google Shape;187;p26"/>
          <p:cNvCxnSpPr/>
          <p:nvPr/>
        </p:nvCxnSpPr>
        <p:spPr>
          <a:xfrm>
            <a:off x="9224350" y="1105542"/>
            <a:ext cx="0" cy="5636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8" name="Google Shape;188;p26"/>
          <p:cNvSpPr/>
          <p:nvPr/>
        </p:nvSpPr>
        <p:spPr>
          <a:xfrm>
            <a:off x="170650" y="1211925"/>
            <a:ext cx="3317400" cy="365125"/>
          </a:xfrm>
          <a:prstGeom prst="flowChartOnlineStorag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latin typeface="Oswald"/>
                <a:ea typeface="Oswald"/>
                <a:cs typeface="Oswald"/>
                <a:sym typeface="Oswald"/>
              </a:rPr>
              <a:t>Problem at Hand</a:t>
            </a:r>
            <a:endParaRPr sz="1900"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89" name="Google Shape;189;p26"/>
          <p:cNvSpPr/>
          <p:nvPr/>
        </p:nvSpPr>
        <p:spPr>
          <a:xfrm>
            <a:off x="4462750" y="1211925"/>
            <a:ext cx="3614450" cy="365125"/>
          </a:xfrm>
          <a:prstGeom prst="flowChartOnlineStorag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latin typeface="Oswald"/>
                <a:ea typeface="Oswald"/>
                <a:cs typeface="Oswald"/>
                <a:sym typeface="Oswald"/>
              </a:rPr>
              <a:t>Our Solution &amp; Working</a:t>
            </a:r>
            <a:endParaRPr sz="1900"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90" name="Google Shape;190;p26"/>
          <p:cNvSpPr/>
          <p:nvPr/>
        </p:nvSpPr>
        <p:spPr>
          <a:xfrm>
            <a:off x="9290850" y="1172350"/>
            <a:ext cx="2906175" cy="365125"/>
          </a:xfrm>
          <a:prstGeom prst="flowChartOnlineStorag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latin typeface="Oswald"/>
                <a:ea typeface="Oswald"/>
                <a:cs typeface="Oswald"/>
                <a:sym typeface="Oswald"/>
              </a:rPr>
              <a:t>Key Features</a:t>
            </a:r>
            <a:endParaRPr sz="1900"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91" name="Google Shape;191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83875" y="1726643"/>
            <a:ext cx="2844800" cy="48714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6"/>
          <p:cNvPicPr preferRelativeResize="0"/>
          <p:nvPr/>
        </p:nvPicPr>
        <p:blipFill rotWithShape="1">
          <a:blip r:embed="rId5">
            <a:alphaModFix/>
          </a:blip>
          <a:srcRect b="29070" l="0" r="0" t="23997"/>
          <a:stretch/>
        </p:blipFill>
        <p:spPr>
          <a:xfrm>
            <a:off x="0" y="14675"/>
            <a:ext cx="2651851" cy="780249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/>
          <p:nvPr/>
        </p:nvSpPr>
        <p:spPr>
          <a:xfrm>
            <a:off x="3768775" y="1767000"/>
            <a:ext cx="5341500" cy="713100"/>
          </a:xfrm>
          <a:prstGeom prst="roundRect">
            <a:avLst>
              <a:gd fmla="val 15385" name="adj"/>
            </a:avLst>
          </a:prstGeom>
          <a:solidFill>
            <a:srgbClr val="A9CFA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  <p:sp>
        <p:nvSpPr>
          <p:cNvPr id="194" name="Google Shape;194;p26"/>
          <p:cNvSpPr txBox="1"/>
          <p:nvPr/>
        </p:nvSpPr>
        <p:spPr>
          <a:xfrm>
            <a:off x="3855859" y="1840052"/>
            <a:ext cx="49440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3A24"/>
              </a:buClr>
              <a:buSzPts val="1000"/>
              <a:buFont typeface="Calibri"/>
              <a:buNone/>
            </a:pPr>
            <a:r>
              <a:rPr b="1" i="0" lang="en-US" sz="1500" u="none" cap="none" strike="noStrike">
                <a:solidFill>
                  <a:srgbClr val="1A3A24"/>
                </a:solidFill>
                <a:latin typeface="Calibri"/>
                <a:ea typeface="Calibri"/>
                <a:cs typeface="Calibri"/>
                <a:sym typeface="Calibri"/>
              </a:rPr>
              <a:t>A multilingual, source-grounded AI assistant that turns scattered BIS standards and certification rules into one trusted conversation.</a:t>
            </a:r>
            <a:endParaRPr b="0" i="0" sz="15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6"/>
          <p:cNvSpPr txBox="1"/>
          <p:nvPr/>
        </p:nvSpPr>
        <p:spPr>
          <a:xfrm>
            <a:off x="3768775" y="2494855"/>
            <a:ext cx="53415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4620F"/>
              </a:buClr>
              <a:buSzPts val="1150"/>
              <a:buFont typeface="Calibri"/>
              <a:buNone/>
            </a:pPr>
            <a:r>
              <a:rPr b="1" i="0" lang="en-US" sz="1550" u="none" cap="none" strike="noStrike">
                <a:solidFill>
                  <a:srgbClr val="C4620F"/>
                </a:solidFill>
                <a:latin typeface="Calibri"/>
                <a:ea typeface="Calibri"/>
                <a:cs typeface="Calibri"/>
                <a:sym typeface="Calibri"/>
              </a:rPr>
              <a:t>What it does:</a:t>
            </a:r>
            <a:endParaRPr b="0" i="0" sz="15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6"/>
          <p:cNvSpPr txBox="1"/>
          <p:nvPr/>
        </p:nvSpPr>
        <p:spPr>
          <a:xfrm>
            <a:off x="3885425" y="2670049"/>
            <a:ext cx="5341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4620F"/>
              </a:buClr>
              <a:buSzPts val="920"/>
              <a:buFont typeface="Calibri"/>
              <a:buNone/>
            </a:pPr>
            <a:r>
              <a:rPr b="1" i="0" lang="en-US" sz="1320" u="none" cap="none" strike="noStrike">
                <a:solidFill>
                  <a:srgbClr val="C4620F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32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Matches a description, voice query, or spec sheet to the correct Indian</a:t>
            </a:r>
            <a:r>
              <a:rPr lang="en-US" sz="1320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32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Standard</a:t>
            </a:r>
            <a:endParaRPr b="0" i="0" sz="132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6"/>
          <p:cNvSpPr txBox="1"/>
          <p:nvPr/>
        </p:nvSpPr>
        <p:spPr>
          <a:xfrm>
            <a:off x="3885437" y="3068565"/>
            <a:ext cx="52176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C4620F"/>
              </a:buClr>
              <a:buSzPts val="920"/>
              <a:buFont typeface="Calibri"/>
              <a:buNone/>
            </a:pPr>
            <a:r>
              <a:rPr b="1" i="0" lang="en-US" sz="1320" u="none" cap="none" strike="noStrike">
                <a:solidFill>
                  <a:srgbClr val="C4620F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32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Guides </a:t>
            </a:r>
            <a:r>
              <a:rPr b="1" i="0" lang="en-US" sz="132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step-by-step certification</a:t>
            </a:r>
            <a:r>
              <a:rPr b="0" i="0" lang="en-US" sz="132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 (ISI / CRS / FMCS)</a:t>
            </a:r>
            <a:endParaRPr b="0" i="0" sz="132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6"/>
          <p:cNvSpPr txBox="1"/>
          <p:nvPr/>
        </p:nvSpPr>
        <p:spPr>
          <a:xfrm>
            <a:off x="3885437" y="3282471"/>
            <a:ext cx="52176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C4620F"/>
              </a:buClr>
              <a:buSzPts val="920"/>
              <a:buFont typeface="Calibri"/>
              <a:buNone/>
            </a:pPr>
            <a:r>
              <a:rPr b="1" i="0" lang="en-US" sz="1320" u="none" cap="none" strike="noStrike">
                <a:solidFill>
                  <a:srgbClr val="C4620F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32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Verifies</a:t>
            </a:r>
            <a:r>
              <a:rPr b="1" i="0" lang="en-US" sz="132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 BIS marks and live license status</a:t>
            </a:r>
            <a:endParaRPr b="1" i="0" sz="132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6"/>
          <p:cNvSpPr txBox="1"/>
          <p:nvPr/>
        </p:nvSpPr>
        <p:spPr>
          <a:xfrm>
            <a:off x="3885437" y="3496355"/>
            <a:ext cx="5217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C4620F"/>
              </a:buClr>
              <a:buSzPts val="920"/>
              <a:buFont typeface="Calibri"/>
              <a:buNone/>
            </a:pPr>
            <a:r>
              <a:rPr b="1" i="0" lang="en-US" sz="1320" u="none" cap="none" strike="noStrike">
                <a:solidFill>
                  <a:srgbClr val="C4620F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32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Attaches source link, last-updated date, and a </a:t>
            </a:r>
            <a:r>
              <a:rPr lang="en-US" sz="1320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real time</a:t>
            </a:r>
            <a:r>
              <a:rPr b="0" i="0" lang="en-US" sz="132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 contact to every answer</a:t>
            </a:r>
            <a:endParaRPr b="0" i="0" sz="132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6"/>
          <p:cNvSpPr txBox="1"/>
          <p:nvPr/>
        </p:nvSpPr>
        <p:spPr>
          <a:xfrm>
            <a:off x="3885437" y="3854333"/>
            <a:ext cx="52176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C4620F"/>
              </a:buClr>
              <a:buSzPts val="920"/>
              <a:buFont typeface="Calibri"/>
              <a:buNone/>
            </a:pPr>
            <a:r>
              <a:rPr b="1" i="0" lang="en-US" sz="1320" u="none" cap="none" strike="noStrike">
                <a:solidFill>
                  <a:srgbClr val="C4620F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32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Escalates low-confidence answers to the BIS helpline</a:t>
            </a:r>
            <a:endParaRPr b="0" i="0" sz="132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6"/>
          <p:cNvSpPr txBox="1"/>
          <p:nvPr/>
        </p:nvSpPr>
        <p:spPr>
          <a:xfrm>
            <a:off x="3768775" y="4105946"/>
            <a:ext cx="53415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8F5F"/>
              </a:buClr>
              <a:buSzPts val="1150"/>
              <a:buFont typeface="Calibri"/>
              <a:buNone/>
            </a:pPr>
            <a:r>
              <a:rPr b="1" i="0" lang="en-US" sz="1550" u="none" cap="none" strike="noStrike">
                <a:solidFill>
                  <a:srgbClr val="3F8F5F"/>
                </a:solidFill>
                <a:latin typeface="Calibri"/>
                <a:ea typeface="Calibri"/>
                <a:cs typeface="Calibri"/>
                <a:sym typeface="Calibri"/>
              </a:rPr>
              <a:t>Methodology used:</a:t>
            </a:r>
            <a:endParaRPr b="0" i="0" sz="15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6"/>
          <p:cNvSpPr txBox="1"/>
          <p:nvPr/>
        </p:nvSpPr>
        <p:spPr>
          <a:xfrm>
            <a:off x="3841862" y="4394184"/>
            <a:ext cx="5217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3F8F5F"/>
              </a:buClr>
              <a:buSzPts val="920"/>
              <a:buFont typeface="Calibri"/>
              <a:buNone/>
            </a:pPr>
            <a:r>
              <a:rPr b="1" i="0" lang="en-US" sz="1320" u="none" cap="none" strike="noStrike">
                <a:solidFill>
                  <a:srgbClr val="3F8F5F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32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RAG</a:t>
            </a:r>
            <a:r>
              <a:rPr b="0" i="0" lang="en-US" sz="132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 over BIS's Know Your Standard, CRS, and licensing portals — every answer is source-grounded</a:t>
            </a:r>
            <a:endParaRPr b="0" i="0" sz="132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6"/>
          <p:cNvSpPr txBox="1"/>
          <p:nvPr/>
        </p:nvSpPr>
        <p:spPr>
          <a:xfrm>
            <a:off x="3819600" y="4792971"/>
            <a:ext cx="5217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3F8F5F"/>
              </a:buClr>
              <a:buSzPts val="920"/>
              <a:buFont typeface="Calibri"/>
              <a:buNone/>
            </a:pPr>
            <a:r>
              <a:rPr b="1" i="0" lang="en-US" sz="1320" u="none" cap="none" strike="noStrike">
                <a:solidFill>
                  <a:srgbClr val="3F8F5F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32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Confidence scoring</a:t>
            </a:r>
            <a:r>
              <a:rPr b="0" i="0" lang="en-US" sz="132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 — triggers human escalation below a threshold</a:t>
            </a:r>
            <a:endParaRPr b="0" i="0" sz="132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6"/>
          <p:cNvSpPr txBox="1"/>
          <p:nvPr/>
        </p:nvSpPr>
        <p:spPr>
          <a:xfrm>
            <a:off x="3819600" y="5035287"/>
            <a:ext cx="5217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3F8F5F"/>
              </a:buClr>
              <a:buSzPts val="920"/>
              <a:buFont typeface="Calibri"/>
              <a:buNone/>
            </a:pPr>
            <a:r>
              <a:rPr b="1" i="0" lang="en-US" sz="1320" u="none" cap="none" strike="noStrike">
                <a:solidFill>
                  <a:srgbClr val="3F8F5F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32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Multilingual NLP</a:t>
            </a:r>
            <a:r>
              <a:rPr b="0" i="0" lang="en-US" sz="132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 (</a:t>
            </a:r>
            <a:r>
              <a:rPr lang="en-US" sz="1320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IndicTrans 2</a:t>
            </a:r>
            <a:r>
              <a:rPr b="0" i="0" lang="en-US" sz="132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) for Indian-language text and voice</a:t>
            </a:r>
            <a:endParaRPr b="0" i="0" sz="132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6"/>
          <p:cNvSpPr txBox="1"/>
          <p:nvPr/>
        </p:nvSpPr>
        <p:spPr>
          <a:xfrm>
            <a:off x="3819600" y="5277603"/>
            <a:ext cx="52176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3F8F5F"/>
              </a:buClr>
              <a:buSzPts val="920"/>
              <a:buFont typeface="Calibri"/>
              <a:buNone/>
            </a:pPr>
            <a:r>
              <a:rPr b="1" i="0" lang="en-US" sz="1320" u="none" cap="none" strike="noStrike">
                <a:solidFill>
                  <a:srgbClr val="3F8F5F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32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Vision/OCR</a:t>
            </a:r>
            <a:r>
              <a:rPr b="0" i="0" lang="en-US" sz="132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 for spec-sheet and image uploads</a:t>
            </a:r>
            <a:endParaRPr b="0" i="0" sz="132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6" name="Google Shape;206;p26"/>
          <p:cNvPicPr preferRelativeResize="0"/>
          <p:nvPr/>
        </p:nvPicPr>
        <p:blipFill rotWithShape="1">
          <a:blip r:embed="rId6">
            <a:alphaModFix/>
          </a:blip>
          <a:srcRect b="24374" l="0" r="0" t="0"/>
          <a:stretch/>
        </p:blipFill>
        <p:spPr>
          <a:xfrm>
            <a:off x="3603424" y="5566725"/>
            <a:ext cx="5620924" cy="1269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7"/>
          <p:cNvSpPr txBox="1"/>
          <p:nvPr>
            <p:ph type="title"/>
          </p:nvPr>
        </p:nvSpPr>
        <p:spPr>
          <a:xfrm>
            <a:off x="690675" y="-126350"/>
            <a:ext cx="10212300" cy="106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/>
          </a:p>
        </p:txBody>
      </p:sp>
      <p:sp>
        <p:nvSpPr>
          <p:cNvPr id="213" name="Google Shape;213;p27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214" name="Google Shape;214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61125" y="-96027"/>
            <a:ext cx="2121400" cy="848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7"/>
          <p:cNvPicPr preferRelativeResize="0"/>
          <p:nvPr/>
        </p:nvPicPr>
        <p:blipFill rotWithShape="1">
          <a:blip r:embed="rId4">
            <a:alphaModFix/>
          </a:blip>
          <a:srcRect b="774" l="0" r="0" t="0"/>
          <a:stretch/>
        </p:blipFill>
        <p:spPr>
          <a:xfrm>
            <a:off x="2905875" y="905625"/>
            <a:ext cx="8946374" cy="601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7"/>
          <p:cNvPicPr preferRelativeResize="0"/>
          <p:nvPr/>
        </p:nvPicPr>
        <p:blipFill rotWithShape="1">
          <a:blip r:embed="rId5">
            <a:alphaModFix/>
          </a:blip>
          <a:srcRect b="6253" l="5725" r="8061" t="0"/>
          <a:stretch/>
        </p:blipFill>
        <p:spPr>
          <a:xfrm>
            <a:off x="9791725" y="905625"/>
            <a:ext cx="1952951" cy="13774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17" name="Google Shape;217;p27"/>
          <p:cNvPicPr preferRelativeResize="0"/>
          <p:nvPr/>
        </p:nvPicPr>
        <p:blipFill rotWithShape="1">
          <a:blip r:embed="rId6">
            <a:alphaModFix/>
          </a:blip>
          <a:srcRect b="0" l="13107" r="12632" t="0"/>
          <a:stretch/>
        </p:blipFill>
        <p:spPr>
          <a:xfrm>
            <a:off x="65975" y="1309700"/>
            <a:ext cx="2953874" cy="5548301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7"/>
          <p:cNvSpPr/>
          <p:nvPr/>
        </p:nvSpPr>
        <p:spPr>
          <a:xfrm>
            <a:off x="377113" y="852300"/>
            <a:ext cx="2331600" cy="365100"/>
          </a:xfrm>
          <a:prstGeom prst="roundRect">
            <a:avLst>
              <a:gd fmla="val 50000" name="adj"/>
            </a:avLst>
          </a:prstGeom>
          <a:solidFill>
            <a:srgbClr val="E7E6E6"/>
          </a:solidFill>
          <a:ln cap="flat" cmpd="sng" w="9525">
            <a:solidFill>
              <a:srgbClr val="44546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27303A"/>
                </a:solidFill>
                <a:latin typeface="Oswald"/>
                <a:ea typeface="Oswald"/>
                <a:cs typeface="Oswald"/>
                <a:sym typeface="Oswald"/>
              </a:rPr>
              <a:t>Clarification Flow</a:t>
            </a:r>
            <a:endParaRPr sz="2100"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219" name="Google Shape;219;p27"/>
          <p:cNvPicPr preferRelativeResize="0"/>
          <p:nvPr/>
        </p:nvPicPr>
        <p:blipFill rotWithShape="1">
          <a:blip r:embed="rId7">
            <a:alphaModFix/>
          </a:blip>
          <a:srcRect b="29070" l="0" r="0" t="23997"/>
          <a:stretch/>
        </p:blipFill>
        <p:spPr>
          <a:xfrm>
            <a:off x="0" y="14675"/>
            <a:ext cx="2651851" cy="780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8"/>
          <p:cNvSpPr txBox="1"/>
          <p:nvPr/>
        </p:nvSpPr>
        <p:spPr>
          <a:xfrm>
            <a:off x="2688250" y="1135375"/>
            <a:ext cx="9318900" cy="56448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595959"/>
              </a:solidFill>
            </a:endParaRPr>
          </a:p>
        </p:txBody>
      </p:sp>
      <p:sp>
        <p:nvSpPr>
          <p:cNvPr id="226" name="Google Shape;226;p28"/>
          <p:cNvSpPr txBox="1"/>
          <p:nvPr>
            <p:ph type="title"/>
          </p:nvPr>
        </p:nvSpPr>
        <p:spPr>
          <a:xfrm>
            <a:off x="609600" y="-18900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Times New Roman"/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27" name="Google Shape;227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92640" y="0"/>
            <a:ext cx="2377440" cy="1121054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8"/>
          <p:cNvSpPr txBox="1"/>
          <p:nvPr/>
        </p:nvSpPr>
        <p:spPr>
          <a:xfrm>
            <a:off x="2619032" y="864509"/>
            <a:ext cx="9002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7303A"/>
                </a:solidFill>
                <a:latin typeface="Cambria"/>
                <a:ea typeface="Cambria"/>
                <a:cs typeface="Cambria"/>
                <a:sym typeface="Cambria"/>
              </a:rPr>
              <a:t>FEASIBILITY &amp; VIABILITY PILLARS</a:t>
            </a:r>
            <a:endParaRPr/>
          </a:p>
        </p:txBody>
      </p:sp>
      <p:sp>
        <p:nvSpPr>
          <p:cNvPr id="229" name="Google Shape;229;p28"/>
          <p:cNvSpPr/>
          <p:nvPr/>
        </p:nvSpPr>
        <p:spPr>
          <a:xfrm>
            <a:off x="3476735" y="1213005"/>
            <a:ext cx="365700" cy="365700"/>
          </a:xfrm>
          <a:prstGeom prst="ellipse">
            <a:avLst/>
          </a:prstGeom>
          <a:solidFill>
            <a:srgbClr val="E879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30" name="Google Shape;230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29244" y="1309330"/>
            <a:ext cx="226771" cy="226771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8"/>
          <p:cNvSpPr txBox="1"/>
          <p:nvPr/>
        </p:nvSpPr>
        <p:spPr>
          <a:xfrm>
            <a:off x="2863805" y="1730460"/>
            <a:ext cx="1500000" cy="4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C4620F"/>
                </a:solidFill>
                <a:latin typeface="Calibri"/>
                <a:ea typeface="Calibri"/>
                <a:cs typeface="Calibri"/>
                <a:sym typeface="Calibri"/>
              </a:rPr>
              <a:t>1. TECHNICAL FEASIBILITY</a:t>
            </a:r>
            <a:endParaRPr sz="1700"/>
          </a:p>
        </p:txBody>
      </p:sp>
      <p:sp>
        <p:nvSpPr>
          <p:cNvPr id="232" name="Google Shape;232;p28"/>
          <p:cNvSpPr txBox="1"/>
          <p:nvPr/>
        </p:nvSpPr>
        <p:spPr>
          <a:xfrm>
            <a:off x="2933800" y="2254578"/>
            <a:ext cx="1362300" cy="9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3A3A3A"/>
                </a:solidFill>
                <a:latin typeface="Calibri"/>
                <a:ea typeface="Calibri"/>
                <a:cs typeface="Calibri"/>
                <a:sym typeface="Calibri"/>
              </a:rPr>
              <a:t>RAG pipeline with OCR/vision parsing on a Flask + MariaDB backend. </a:t>
            </a:r>
            <a:endParaRPr/>
          </a:p>
        </p:txBody>
      </p:sp>
      <p:cxnSp>
        <p:nvCxnSpPr>
          <p:cNvPr id="233" name="Google Shape;233;p28"/>
          <p:cNvCxnSpPr/>
          <p:nvPr/>
        </p:nvCxnSpPr>
        <p:spPr>
          <a:xfrm>
            <a:off x="4365115" y="1221548"/>
            <a:ext cx="0" cy="2121300"/>
          </a:xfrm>
          <a:prstGeom prst="straightConnector1">
            <a:avLst/>
          </a:prstGeom>
          <a:noFill/>
          <a:ln cap="flat" cmpd="sng" w="12700">
            <a:solidFill>
              <a:srgbClr val="9A9A9A"/>
            </a:solidFill>
            <a:prstDash val="dot"/>
            <a:miter lim="8000"/>
            <a:headEnd len="sm" w="sm" type="none"/>
            <a:tailEnd len="sm" w="sm" type="none"/>
          </a:ln>
          <a:effectLst>
            <a:outerShdw blurRad="101600" rotWithShape="0" algn="ctr" dir="5400000" dist="50800">
              <a:srgbClr val="000000"/>
            </a:outerShdw>
          </a:effectLst>
        </p:spPr>
      </p:cxnSp>
      <p:sp>
        <p:nvSpPr>
          <p:cNvPr id="234" name="Google Shape;234;p28"/>
          <p:cNvSpPr/>
          <p:nvPr/>
        </p:nvSpPr>
        <p:spPr>
          <a:xfrm>
            <a:off x="4977135" y="1239836"/>
            <a:ext cx="365700" cy="365700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35" name="Google Shape;235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9644" y="1309330"/>
            <a:ext cx="226771" cy="226771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8"/>
          <p:cNvSpPr txBox="1"/>
          <p:nvPr/>
        </p:nvSpPr>
        <p:spPr>
          <a:xfrm>
            <a:off x="4364205" y="1690214"/>
            <a:ext cx="1500000" cy="4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2. DATA &amp; AI FEASIBILITY</a:t>
            </a:r>
            <a:endParaRPr sz="1700"/>
          </a:p>
        </p:txBody>
      </p:sp>
      <p:sp>
        <p:nvSpPr>
          <p:cNvPr id="237" name="Google Shape;237;p28"/>
          <p:cNvSpPr txBox="1"/>
          <p:nvPr/>
        </p:nvSpPr>
        <p:spPr>
          <a:xfrm>
            <a:off x="4434205" y="2187485"/>
            <a:ext cx="1362300" cy="13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3A3A3A"/>
                </a:solidFill>
                <a:latin typeface="Calibri"/>
                <a:ea typeface="Calibri"/>
                <a:cs typeface="Calibri"/>
                <a:sym typeface="Calibri"/>
              </a:rPr>
              <a:t>Knowledge base built from official BIS sources, with metadata tracking status and revision. </a:t>
            </a:r>
            <a:endParaRPr/>
          </a:p>
        </p:txBody>
      </p:sp>
      <p:cxnSp>
        <p:nvCxnSpPr>
          <p:cNvPr id="238" name="Google Shape;238;p28"/>
          <p:cNvCxnSpPr/>
          <p:nvPr/>
        </p:nvCxnSpPr>
        <p:spPr>
          <a:xfrm>
            <a:off x="5865515" y="1221548"/>
            <a:ext cx="0" cy="2121300"/>
          </a:xfrm>
          <a:prstGeom prst="straightConnector1">
            <a:avLst/>
          </a:prstGeom>
          <a:noFill/>
          <a:ln cap="flat" cmpd="sng" w="12700">
            <a:solidFill>
              <a:srgbClr val="9A9A9A"/>
            </a:solidFill>
            <a:prstDash val="dot"/>
            <a:miter lim="8000"/>
            <a:headEnd len="sm" w="sm" type="none"/>
            <a:tailEnd len="sm" w="sm" type="none"/>
          </a:ln>
          <a:effectLst>
            <a:outerShdw blurRad="101600" rotWithShape="0" algn="ctr" dir="5400000" dist="50800">
              <a:srgbClr val="000000"/>
            </a:outerShdw>
          </a:effectLst>
        </p:spPr>
      </p:cxnSp>
      <p:sp>
        <p:nvSpPr>
          <p:cNvPr id="239" name="Google Shape;239;p28"/>
          <p:cNvSpPr/>
          <p:nvPr/>
        </p:nvSpPr>
        <p:spPr>
          <a:xfrm>
            <a:off x="6477536" y="1239836"/>
            <a:ext cx="365700" cy="365700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40" name="Google Shape;240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30044" y="1309330"/>
            <a:ext cx="226771" cy="226771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28"/>
          <p:cNvSpPr txBox="1"/>
          <p:nvPr/>
        </p:nvSpPr>
        <p:spPr>
          <a:xfrm>
            <a:off x="5864606" y="1730460"/>
            <a:ext cx="1500000" cy="4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3. ECONOMIC VIABILITY</a:t>
            </a:r>
            <a:endParaRPr sz="1450"/>
          </a:p>
        </p:txBody>
      </p:sp>
      <p:sp>
        <p:nvSpPr>
          <p:cNvPr id="242" name="Google Shape;242;p28"/>
          <p:cNvSpPr txBox="1"/>
          <p:nvPr/>
        </p:nvSpPr>
        <p:spPr>
          <a:xfrm>
            <a:off x="5934600" y="2187495"/>
            <a:ext cx="1362300" cy="13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A3A3A"/>
                </a:solidFill>
                <a:latin typeface="Calibri"/>
                <a:ea typeface="Calibri"/>
                <a:cs typeface="Calibri"/>
                <a:sym typeface="Calibri"/>
              </a:rPr>
              <a:t>Open-source vector DB and translation model minimize licensing costs, with built-in analytics for BIS </a:t>
            </a:r>
            <a:endParaRPr sz="1350"/>
          </a:p>
        </p:txBody>
      </p:sp>
      <p:cxnSp>
        <p:nvCxnSpPr>
          <p:cNvPr id="243" name="Google Shape;243;p28"/>
          <p:cNvCxnSpPr/>
          <p:nvPr/>
        </p:nvCxnSpPr>
        <p:spPr>
          <a:xfrm>
            <a:off x="7365915" y="1221548"/>
            <a:ext cx="0" cy="2121300"/>
          </a:xfrm>
          <a:prstGeom prst="straightConnector1">
            <a:avLst/>
          </a:prstGeom>
          <a:noFill/>
          <a:ln cap="flat" cmpd="sng" w="12700">
            <a:solidFill>
              <a:srgbClr val="9A9A9A"/>
            </a:solidFill>
            <a:prstDash val="dot"/>
            <a:miter lim="8000"/>
            <a:headEnd len="sm" w="sm" type="none"/>
            <a:tailEnd len="sm" w="sm" type="none"/>
          </a:ln>
          <a:effectLst>
            <a:outerShdw blurRad="101600" rotWithShape="0" algn="ctr" dir="5400000" dist="50800">
              <a:srgbClr val="000000"/>
            </a:outerShdw>
          </a:effectLst>
        </p:spPr>
      </p:cxnSp>
      <p:sp>
        <p:nvSpPr>
          <p:cNvPr id="244" name="Google Shape;244;p28"/>
          <p:cNvSpPr/>
          <p:nvPr/>
        </p:nvSpPr>
        <p:spPr>
          <a:xfrm>
            <a:off x="7977936" y="1239836"/>
            <a:ext cx="365700" cy="365700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etwork.png" id="245" name="Google Shape;245;p2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30444" y="1309330"/>
            <a:ext cx="226771" cy="226771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8"/>
          <p:cNvSpPr txBox="1"/>
          <p:nvPr/>
        </p:nvSpPr>
        <p:spPr>
          <a:xfrm>
            <a:off x="7365005" y="1703629"/>
            <a:ext cx="1500000" cy="4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4. OPERATIONAL VIABILITY</a:t>
            </a:r>
            <a:endParaRPr sz="1450"/>
          </a:p>
        </p:txBody>
      </p:sp>
      <p:sp>
        <p:nvSpPr>
          <p:cNvPr id="247" name="Google Shape;247;p28"/>
          <p:cNvSpPr txBox="1"/>
          <p:nvPr/>
        </p:nvSpPr>
        <p:spPr>
          <a:xfrm>
            <a:off x="7435000" y="2120400"/>
            <a:ext cx="1509900" cy="140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50">
                <a:solidFill>
                  <a:srgbClr val="3A3A3A"/>
                </a:solidFill>
                <a:latin typeface="Calibri"/>
                <a:ea typeface="Calibri"/>
                <a:cs typeface="Calibri"/>
                <a:sym typeface="Calibri"/>
              </a:rPr>
              <a:t>A unified backend supports web, WhatsApp, and SMS, asking clarifying questions only when necessary.</a:t>
            </a:r>
            <a:endParaRPr sz="1350">
              <a:solidFill>
                <a:srgbClr val="3A3A3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8" name="Google Shape;248;p28"/>
          <p:cNvCxnSpPr/>
          <p:nvPr/>
        </p:nvCxnSpPr>
        <p:spPr>
          <a:xfrm>
            <a:off x="8866315" y="1221548"/>
            <a:ext cx="0" cy="2121300"/>
          </a:xfrm>
          <a:prstGeom prst="straightConnector1">
            <a:avLst/>
          </a:prstGeom>
          <a:noFill/>
          <a:ln cap="flat" cmpd="sng" w="12700">
            <a:solidFill>
              <a:srgbClr val="9A9A9A"/>
            </a:solidFill>
            <a:prstDash val="dot"/>
            <a:miter lim="8000"/>
            <a:headEnd len="sm" w="sm" type="none"/>
            <a:tailEnd len="sm" w="sm" type="none"/>
          </a:ln>
          <a:effectLst>
            <a:outerShdw blurRad="101600" rotWithShape="0" algn="ctr" dir="5400000" dist="50800">
              <a:srgbClr val="000000"/>
            </a:outerShdw>
          </a:effectLst>
        </p:spPr>
      </p:cxnSp>
      <p:sp>
        <p:nvSpPr>
          <p:cNvPr id="249" name="Google Shape;249;p28"/>
          <p:cNvSpPr/>
          <p:nvPr/>
        </p:nvSpPr>
        <p:spPr>
          <a:xfrm>
            <a:off x="9478337" y="1239836"/>
            <a:ext cx="365700" cy="365700"/>
          </a:xfrm>
          <a:prstGeom prst="ellipse">
            <a:avLst/>
          </a:prstGeom>
          <a:solidFill>
            <a:srgbClr val="E879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0" name="Google Shape;250;p2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530845" y="1309330"/>
            <a:ext cx="226771" cy="226771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8"/>
          <p:cNvSpPr txBox="1"/>
          <p:nvPr/>
        </p:nvSpPr>
        <p:spPr>
          <a:xfrm>
            <a:off x="8865405" y="1703629"/>
            <a:ext cx="1500000" cy="4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C4620F"/>
                </a:solidFill>
                <a:latin typeface="Calibri"/>
                <a:ea typeface="Calibri"/>
                <a:cs typeface="Calibri"/>
                <a:sym typeface="Calibri"/>
              </a:rPr>
              <a:t>5. SOCIAL &amp; ACCESSIBILITY</a:t>
            </a:r>
            <a:endParaRPr sz="1450"/>
          </a:p>
        </p:txBody>
      </p:sp>
      <p:sp>
        <p:nvSpPr>
          <p:cNvPr id="252" name="Google Shape;252;p28"/>
          <p:cNvSpPr txBox="1"/>
          <p:nvPr/>
        </p:nvSpPr>
        <p:spPr>
          <a:xfrm>
            <a:off x="8935405" y="2187485"/>
            <a:ext cx="1362300" cy="13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A3A3A"/>
                </a:solidFill>
                <a:latin typeface="Calibri"/>
                <a:ea typeface="Calibri"/>
                <a:cs typeface="Calibri"/>
                <a:sym typeface="Calibri"/>
              </a:rPr>
              <a:t>Multilingual text and voice via </a:t>
            </a:r>
            <a:r>
              <a:rPr lang="en-US" sz="1350">
                <a:solidFill>
                  <a:srgbClr val="3A3A3A"/>
                </a:solidFill>
                <a:latin typeface="Calibri"/>
                <a:ea typeface="Calibri"/>
                <a:cs typeface="Calibri"/>
                <a:sym typeface="Calibri"/>
              </a:rPr>
              <a:t>IndicTrans 2</a:t>
            </a:r>
            <a:r>
              <a:rPr lang="en-US" sz="1350">
                <a:solidFill>
                  <a:srgbClr val="3A3A3A"/>
                </a:solidFill>
                <a:latin typeface="Calibri"/>
                <a:ea typeface="Calibri"/>
                <a:cs typeface="Calibri"/>
                <a:sym typeface="Calibri"/>
              </a:rPr>
              <a:t>, reachable through WhatsApp/SMS with no new app. </a:t>
            </a:r>
            <a:endParaRPr sz="1350"/>
          </a:p>
        </p:txBody>
      </p:sp>
      <p:cxnSp>
        <p:nvCxnSpPr>
          <p:cNvPr id="253" name="Google Shape;253;p28"/>
          <p:cNvCxnSpPr/>
          <p:nvPr/>
        </p:nvCxnSpPr>
        <p:spPr>
          <a:xfrm>
            <a:off x="10366716" y="1221548"/>
            <a:ext cx="0" cy="2121300"/>
          </a:xfrm>
          <a:prstGeom prst="straightConnector1">
            <a:avLst/>
          </a:prstGeom>
          <a:noFill/>
          <a:ln cap="flat" cmpd="sng" w="12700">
            <a:solidFill>
              <a:srgbClr val="9A9A9A"/>
            </a:solidFill>
            <a:prstDash val="dot"/>
            <a:miter lim="8000"/>
            <a:headEnd len="sm" w="sm" type="none"/>
            <a:tailEnd len="sm" w="sm" type="none"/>
          </a:ln>
          <a:effectLst>
            <a:outerShdw blurRad="101600" rotWithShape="0" algn="ctr" dir="5400000" dist="50800">
              <a:srgbClr val="000000"/>
            </a:outerShdw>
          </a:effectLst>
        </p:spPr>
      </p:cxnSp>
      <p:sp>
        <p:nvSpPr>
          <p:cNvPr id="254" name="Google Shape;254;p28"/>
          <p:cNvSpPr/>
          <p:nvPr/>
        </p:nvSpPr>
        <p:spPr>
          <a:xfrm>
            <a:off x="10978737" y="1239836"/>
            <a:ext cx="365700" cy="365700"/>
          </a:xfrm>
          <a:prstGeom prst="ellipse">
            <a:avLst/>
          </a:prstGeom>
          <a:solidFill>
            <a:srgbClr val="E879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scale.png" id="255" name="Google Shape;255;p2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1031245" y="1309330"/>
            <a:ext cx="226771" cy="226771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8"/>
          <p:cNvSpPr txBox="1"/>
          <p:nvPr/>
        </p:nvSpPr>
        <p:spPr>
          <a:xfrm>
            <a:off x="10365806" y="1730460"/>
            <a:ext cx="1500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C4620F"/>
                </a:solidFill>
                <a:latin typeface="Calibri"/>
                <a:ea typeface="Calibri"/>
                <a:cs typeface="Calibri"/>
                <a:sym typeface="Calibri"/>
              </a:rPr>
              <a:t>6. LEGAL &amp; TRUST</a:t>
            </a:r>
            <a:endParaRPr sz="1450"/>
          </a:p>
        </p:txBody>
      </p:sp>
      <p:sp>
        <p:nvSpPr>
          <p:cNvPr id="257" name="Google Shape;257;p28"/>
          <p:cNvSpPr txBox="1"/>
          <p:nvPr/>
        </p:nvSpPr>
        <p:spPr>
          <a:xfrm>
            <a:off x="10476052" y="2066746"/>
            <a:ext cx="13623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3A3A3A"/>
                </a:solidFill>
                <a:latin typeface="Calibri"/>
                <a:ea typeface="Calibri"/>
                <a:cs typeface="Calibri"/>
                <a:sym typeface="Calibri"/>
              </a:rPr>
              <a:t>Every answer carries an IS clause citation, status badge, and confidence score. </a:t>
            </a:r>
            <a:endParaRPr/>
          </a:p>
        </p:txBody>
      </p:sp>
      <p:cxnSp>
        <p:nvCxnSpPr>
          <p:cNvPr id="258" name="Google Shape;258;p28"/>
          <p:cNvCxnSpPr/>
          <p:nvPr/>
        </p:nvCxnSpPr>
        <p:spPr>
          <a:xfrm>
            <a:off x="2864716" y="3569260"/>
            <a:ext cx="9002400" cy="0"/>
          </a:xfrm>
          <a:prstGeom prst="straightConnector1">
            <a:avLst/>
          </a:prstGeom>
          <a:noFill/>
          <a:ln cap="flat" cmpd="sng" w="13950">
            <a:solidFill>
              <a:srgbClr val="1A1A1A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101600" rotWithShape="0" algn="ctr" dir="5400000" dist="50800">
              <a:srgbClr val="000000"/>
            </a:outerShdw>
          </a:effectLst>
        </p:spPr>
      </p:cxnSp>
      <p:cxnSp>
        <p:nvCxnSpPr>
          <p:cNvPr id="259" name="Google Shape;259;p28"/>
          <p:cNvCxnSpPr/>
          <p:nvPr/>
        </p:nvCxnSpPr>
        <p:spPr>
          <a:xfrm>
            <a:off x="2864716" y="3610408"/>
            <a:ext cx="9002400" cy="0"/>
          </a:xfrm>
          <a:prstGeom prst="straightConnector1">
            <a:avLst/>
          </a:prstGeom>
          <a:noFill/>
          <a:ln cap="flat" cmpd="sng" w="13950">
            <a:solidFill>
              <a:srgbClr val="1A1A1A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101600" rotWithShape="0" algn="ctr" dir="5400000" dist="50800">
              <a:srgbClr val="000000"/>
            </a:outerShdw>
          </a:effectLst>
        </p:spPr>
      </p:cxnSp>
      <p:sp>
        <p:nvSpPr>
          <p:cNvPr id="260" name="Google Shape;260;p28"/>
          <p:cNvSpPr txBox="1"/>
          <p:nvPr/>
        </p:nvSpPr>
        <p:spPr>
          <a:xfrm>
            <a:off x="2462251" y="3719233"/>
            <a:ext cx="4599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7303A"/>
                </a:solidFill>
                <a:latin typeface="Cambria"/>
                <a:ea typeface="Cambria"/>
                <a:cs typeface="Cambria"/>
                <a:sym typeface="Cambria"/>
              </a:rPr>
              <a:t>POTENTIAL CHALLENGES AND RISKS</a:t>
            </a:r>
            <a:endParaRPr/>
          </a:p>
        </p:txBody>
      </p:sp>
      <p:sp>
        <p:nvSpPr>
          <p:cNvPr id="261" name="Google Shape;261;p28"/>
          <p:cNvSpPr txBox="1"/>
          <p:nvPr/>
        </p:nvSpPr>
        <p:spPr>
          <a:xfrm>
            <a:off x="6870184" y="3732649"/>
            <a:ext cx="5199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7303A"/>
                </a:solidFill>
                <a:latin typeface="Cambria"/>
                <a:ea typeface="Cambria"/>
                <a:cs typeface="Cambria"/>
                <a:sym typeface="Cambria"/>
              </a:rPr>
              <a:t>STRATEGIES FOR OVERCOMING THESE CHALLENGES</a:t>
            </a:r>
            <a:endParaRPr/>
          </a:p>
        </p:txBody>
      </p:sp>
      <p:cxnSp>
        <p:nvCxnSpPr>
          <p:cNvPr id="262" name="Google Shape;262;p28"/>
          <p:cNvCxnSpPr/>
          <p:nvPr/>
        </p:nvCxnSpPr>
        <p:spPr>
          <a:xfrm flipH="1">
            <a:off x="7196530" y="3589260"/>
            <a:ext cx="8400" cy="3141000"/>
          </a:xfrm>
          <a:prstGeom prst="straightConnector1">
            <a:avLst/>
          </a:prstGeom>
          <a:noFill/>
          <a:ln cap="flat" cmpd="sng" w="22225">
            <a:solidFill>
              <a:srgbClr val="1A1A1A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101600" rotWithShape="0" algn="ctr" dir="5400000" dist="50800">
              <a:srgbClr val="000000"/>
            </a:outerShdw>
          </a:effectLst>
        </p:spPr>
      </p:cxnSp>
      <p:cxnSp>
        <p:nvCxnSpPr>
          <p:cNvPr id="263" name="Google Shape;263;p28"/>
          <p:cNvCxnSpPr/>
          <p:nvPr/>
        </p:nvCxnSpPr>
        <p:spPr>
          <a:xfrm>
            <a:off x="2864716" y="4028172"/>
            <a:ext cx="9002400" cy="0"/>
          </a:xfrm>
          <a:prstGeom prst="straightConnector1">
            <a:avLst/>
          </a:prstGeom>
          <a:noFill/>
          <a:ln cap="flat" cmpd="sng" w="13950">
            <a:solidFill>
              <a:srgbClr val="1A1A1A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101600" rotWithShape="0" algn="ctr" dir="5400000" dist="50800">
              <a:srgbClr val="000000"/>
            </a:outerShdw>
          </a:effectLst>
        </p:spPr>
      </p:cxnSp>
      <p:cxnSp>
        <p:nvCxnSpPr>
          <p:cNvPr id="264" name="Google Shape;264;p28"/>
          <p:cNvCxnSpPr/>
          <p:nvPr/>
        </p:nvCxnSpPr>
        <p:spPr>
          <a:xfrm>
            <a:off x="2864716" y="4069320"/>
            <a:ext cx="9002400" cy="0"/>
          </a:xfrm>
          <a:prstGeom prst="straightConnector1">
            <a:avLst/>
          </a:prstGeom>
          <a:noFill/>
          <a:ln cap="flat" cmpd="sng" w="13950">
            <a:solidFill>
              <a:srgbClr val="1A1A1A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101600" rotWithShape="0" algn="ctr" dir="5400000" dist="50800">
              <a:srgbClr val="000000"/>
            </a:outerShdw>
          </a:effectLst>
        </p:spPr>
      </p:cxnSp>
      <p:sp>
        <p:nvSpPr>
          <p:cNvPr id="265" name="Google Shape;265;p28"/>
          <p:cNvSpPr txBox="1"/>
          <p:nvPr/>
        </p:nvSpPr>
        <p:spPr>
          <a:xfrm>
            <a:off x="2851301" y="4156187"/>
            <a:ext cx="1618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C4620F"/>
                </a:solidFill>
                <a:latin typeface="Calibri"/>
                <a:ea typeface="Calibri"/>
                <a:cs typeface="Calibri"/>
                <a:sym typeface="Calibri"/>
              </a:rPr>
              <a:t>BIS DATA CHANGES</a:t>
            </a:r>
            <a:endParaRPr/>
          </a:p>
        </p:txBody>
      </p:sp>
      <p:sp>
        <p:nvSpPr>
          <p:cNvPr id="266" name="Google Shape;266;p28"/>
          <p:cNvSpPr txBox="1"/>
          <p:nvPr/>
        </p:nvSpPr>
        <p:spPr>
          <a:xfrm>
            <a:off x="2784223" y="4361532"/>
            <a:ext cx="1618500" cy="10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A3A3A"/>
                </a:solidFill>
                <a:latin typeface="Calibri"/>
                <a:ea typeface="Calibri"/>
                <a:cs typeface="Calibri"/>
                <a:sym typeface="Calibri"/>
              </a:rPr>
              <a:t>Standards get revised or withdrawn over time — stale answers risk misleading MSMEs and consumers.</a:t>
            </a:r>
            <a:endParaRPr sz="1300"/>
          </a:p>
        </p:txBody>
      </p:sp>
      <p:sp>
        <p:nvSpPr>
          <p:cNvPr id="267" name="Google Shape;267;p28"/>
          <p:cNvSpPr/>
          <p:nvPr/>
        </p:nvSpPr>
        <p:spPr>
          <a:xfrm rot="-420006">
            <a:off x="4392050" y="4536631"/>
            <a:ext cx="512017" cy="512017"/>
          </a:xfrm>
          <a:prstGeom prst="roundRect">
            <a:avLst>
              <a:gd fmla="val 32000" name="adj"/>
            </a:avLst>
          </a:prstGeom>
          <a:solidFill>
            <a:srgbClr val="E8791E"/>
          </a:solidFill>
          <a:ln cap="flat" cmpd="sng" w="31750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292" rotWithShape="0" dir="2700000" dist="25603">
              <a:srgbClr val="404040">
                <a:alpha val="3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lock.png" id="268" name="Google Shape;268;p2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 rot="-419999">
            <a:off x="4504002" y="4622453"/>
            <a:ext cx="286755" cy="286755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28"/>
          <p:cNvSpPr txBox="1"/>
          <p:nvPr/>
        </p:nvSpPr>
        <p:spPr>
          <a:xfrm>
            <a:off x="4998030" y="4156187"/>
            <a:ext cx="1618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C4620F"/>
                </a:solidFill>
                <a:latin typeface="Calibri"/>
                <a:ea typeface="Calibri"/>
                <a:cs typeface="Calibri"/>
                <a:sym typeface="Calibri"/>
              </a:rPr>
              <a:t>AI HALLUCINATION</a:t>
            </a:r>
            <a:endParaRPr/>
          </a:p>
        </p:txBody>
      </p:sp>
      <p:sp>
        <p:nvSpPr>
          <p:cNvPr id="270" name="Google Shape;270;p28"/>
          <p:cNvSpPr txBox="1"/>
          <p:nvPr/>
        </p:nvSpPr>
        <p:spPr>
          <a:xfrm>
            <a:off x="4981243" y="4376734"/>
            <a:ext cx="1618500" cy="96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A3A3A"/>
                </a:solidFill>
                <a:latin typeface="Calibri"/>
                <a:ea typeface="Calibri"/>
                <a:cs typeface="Calibri"/>
                <a:sym typeface="Calibri"/>
              </a:rPr>
              <a:t>A wrong compliance answer can look confident but carries real legal and certification consequences.</a:t>
            </a:r>
            <a:endParaRPr sz="1200"/>
          </a:p>
        </p:txBody>
      </p:sp>
      <p:sp>
        <p:nvSpPr>
          <p:cNvPr id="271" name="Google Shape;271;p28"/>
          <p:cNvSpPr/>
          <p:nvPr/>
        </p:nvSpPr>
        <p:spPr>
          <a:xfrm rot="359065">
            <a:off x="6592515" y="4563404"/>
            <a:ext cx="512191" cy="512191"/>
          </a:xfrm>
          <a:prstGeom prst="roundRect">
            <a:avLst>
              <a:gd fmla="val 32000" name="adj"/>
            </a:avLst>
          </a:prstGeom>
          <a:solidFill>
            <a:srgbClr val="C4620F"/>
          </a:solidFill>
          <a:ln cap="flat" cmpd="sng" w="31750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292" rotWithShape="0" dir="2700000" dist="25603">
              <a:srgbClr val="404040">
                <a:alpha val="3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72" name="Google Shape;272;p2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 rot="359997">
            <a:off x="6731226" y="4676115"/>
            <a:ext cx="286755" cy="286755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28"/>
          <p:cNvSpPr txBox="1"/>
          <p:nvPr/>
        </p:nvSpPr>
        <p:spPr>
          <a:xfrm>
            <a:off x="2837894" y="5445903"/>
            <a:ext cx="1618500" cy="4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C4620F"/>
                </a:solidFill>
                <a:latin typeface="Calibri"/>
                <a:ea typeface="Calibri"/>
                <a:cs typeface="Calibri"/>
                <a:sym typeface="Calibri"/>
              </a:rPr>
              <a:t>COPYRIGHTED STANDARD TEXT</a:t>
            </a:r>
            <a:endParaRPr/>
          </a:p>
        </p:txBody>
      </p:sp>
      <p:sp>
        <p:nvSpPr>
          <p:cNvPr id="274" name="Google Shape;274;p28"/>
          <p:cNvSpPr txBox="1"/>
          <p:nvPr/>
        </p:nvSpPr>
        <p:spPr>
          <a:xfrm>
            <a:off x="2757392" y="5946404"/>
            <a:ext cx="1618500" cy="8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A3A3A"/>
                </a:solidFill>
                <a:latin typeface="Calibri"/>
                <a:ea typeface="Calibri"/>
                <a:cs typeface="Calibri"/>
                <a:sym typeface="Calibri"/>
              </a:rPr>
              <a:t>Full IS standard text is copyrighted and can't be freely scraped or stored at scale.</a:t>
            </a:r>
            <a:endParaRPr sz="1300"/>
          </a:p>
        </p:txBody>
      </p:sp>
      <p:sp>
        <p:nvSpPr>
          <p:cNvPr id="275" name="Google Shape;275;p28"/>
          <p:cNvSpPr/>
          <p:nvPr/>
        </p:nvSpPr>
        <p:spPr>
          <a:xfrm rot="-300540">
            <a:off x="4298176" y="5947061"/>
            <a:ext cx="511955" cy="511955"/>
          </a:xfrm>
          <a:prstGeom prst="roundRect">
            <a:avLst>
              <a:gd fmla="val 32000" name="adj"/>
            </a:avLst>
          </a:prstGeom>
          <a:solidFill>
            <a:srgbClr val="E8791E"/>
          </a:solidFill>
          <a:ln cap="flat" cmpd="sng" w="31750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292" rotWithShape="0" dir="2700000" dist="25603">
              <a:srgbClr val="404040">
                <a:alpha val="3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ck.png" id="276" name="Google Shape;276;p2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 rot="-300003">
            <a:off x="4423509" y="6059755"/>
            <a:ext cx="286755" cy="286755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8"/>
          <p:cNvSpPr txBox="1"/>
          <p:nvPr/>
        </p:nvSpPr>
        <p:spPr>
          <a:xfrm>
            <a:off x="4970621" y="5368429"/>
            <a:ext cx="1618500" cy="4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C4620F"/>
                </a:solidFill>
                <a:latin typeface="Calibri"/>
                <a:ea typeface="Calibri"/>
                <a:cs typeface="Calibri"/>
                <a:sym typeface="Calibri"/>
              </a:rPr>
              <a:t>MULTILINGUAL ACCURACY</a:t>
            </a:r>
            <a:endParaRPr/>
          </a:p>
        </p:txBody>
      </p:sp>
      <p:sp>
        <p:nvSpPr>
          <p:cNvPr id="278" name="Google Shape;278;p28"/>
          <p:cNvSpPr txBox="1"/>
          <p:nvPr/>
        </p:nvSpPr>
        <p:spPr>
          <a:xfrm>
            <a:off x="4904127" y="5812250"/>
            <a:ext cx="1618500" cy="96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A3A3A"/>
                </a:solidFill>
                <a:latin typeface="Calibri"/>
                <a:ea typeface="Calibri"/>
                <a:cs typeface="Calibri"/>
                <a:sym typeface="Calibri"/>
              </a:rPr>
              <a:t>Hindi/regional and Hinglish queries confuse generic translation; BIS terms rarely map 1:1 across languages </a:t>
            </a:r>
            <a:endParaRPr sz="1200"/>
          </a:p>
        </p:txBody>
      </p:sp>
      <p:sp>
        <p:nvSpPr>
          <p:cNvPr id="279" name="Google Shape;279;p28"/>
          <p:cNvSpPr/>
          <p:nvPr/>
        </p:nvSpPr>
        <p:spPr>
          <a:xfrm rot="420006">
            <a:off x="6431462" y="5947097"/>
            <a:ext cx="512017" cy="512017"/>
          </a:xfrm>
          <a:prstGeom prst="roundRect">
            <a:avLst>
              <a:gd fmla="val 32000" name="adj"/>
            </a:avLst>
          </a:prstGeom>
          <a:solidFill>
            <a:srgbClr val="C4620F"/>
          </a:solidFill>
          <a:ln cap="flat" cmpd="sng" w="31750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292" rotWithShape="0" dir="2700000" dist="25603">
              <a:srgbClr val="404040">
                <a:alpha val="3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80" name="Google Shape;280;p2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 rot="419999">
            <a:off x="6570240" y="6046339"/>
            <a:ext cx="286755" cy="286755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28"/>
          <p:cNvSpPr txBox="1"/>
          <p:nvPr/>
        </p:nvSpPr>
        <p:spPr>
          <a:xfrm>
            <a:off x="7375651" y="4129350"/>
            <a:ext cx="1791300" cy="4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1F6E43"/>
                </a:solidFill>
                <a:latin typeface="Calibri"/>
                <a:ea typeface="Calibri"/>
                <a:cs typeface="Calibri"/>
                <a:sym typeface="Calibri"/>
              </a:rPr>
              <a:t>FRESHNESS &amp; STATUS CHECK</a:t>
            </a:r>
            <a:endParaRPr/>
          </a:p>
        </p:txBody>
      </p:sp>
      <p:sp>
        <p:nvSpPr>
          <p:cNvPr id="282" name="Google Shape;282;p28"/>
          <p:cNvSpPr txBox="1"/>
          <p:nvPr/>
        </p:nvSpPr>
        <p:spPr>
          <a:xfrm>
            <a:off x="7296900" y="4603021"/>
            <a:ext cx="1791300" cy="7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latin typeface="Calibri"/>
                <a:ea typeface="Calibri"/>
                <a:cs typeface="Calibri"/>
                <a:sym typeface="Calibri"/>
              </a:rPr>
              <a:t>LiveActive/Revised/Withdrawn badge and last-updated date, kept current via license lookups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8"/>
          <p:cNvSpPr/>
          <p:nvPr/>
        </p:nvSpPr>
        <p:spPr>
          <a:xfrm rot="-420006">
            <a:off x="9099091" y="4647880"/>
            <a:ext cx="512017" cy="512017"/>
          </a:xfrm>
          <a:prstGeom prst="roundRect">
            <a:avLst>
              <a:gd fmla="val 32000" name="adj"/>
            </a:avLst>
          </a:prstGeom>
          <a:solidFill>
            <a:srgbClr val="2E8B57"/>
          </a:solidFill>
          <a:ln cap="flat" cmpd="sng" w="31750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292" rotWithShape="0" dir="2700000" dist="25603">
              <a:srgbClr val="404040">
                <a:alpha val="3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84" name="Google Shape;284;p28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 rot="-419999">
            <a:off x="9211043" y="4747117"/>
            <a:ext cx="286755" cy="286755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28"/>
          <p:cNvSpPr txBox="1"/>
          <p:nvPr/>
        </p:nvSpPr>
        <p:spPr>
          <a:xfrm>
            <a:off x="9723605" y="4102525"/>
            <a:ext cx="1618500" cy="4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1F6E43"/>
                </a:solidFill>
                <a:latin typeface="Calibri"/>
                <a:ea typeface="Calibri"/>
                <a:cs typeface="Calibri"/>
                <a:sym typeface="Calibri"/>
              </a:rPr>
              <a:t>GROUNDED, CITED RAG</a:t>
            </a:r>
            <a:endParaRPr/>
          </a:p>
        </p:txBody>
      </p:sp>
      <p:sp>
        <p:nvSpPr>
          <p:cNvPr id="286" name="Google Shape;286;p28"/>
          <p:cNvSpPr txBox="1"/>
          <p:nvPr/>
        </p:nvSpPr>
        <p:spPr>
          <a:xfrm>
            <a:off x="9696769" y="4562768"/>
            <a:ext cx="1716300" cy="73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3A3A3A"/>
                </a:solidFill>
                <a:latin typeface="Calibri"/>
                <a:ea typeface="Calibri"/>
                <a:cs typeface="Calibri"/>
                <a:sym typeface="Calibri"/>
              </a:rPr>
              <a:t>Answers restricted to retrieved BIS text only, with mandatory clause citation and visible confidence score.</a:t>
            </a:r>
            <a:endParaRPr sz="1150"/>
          </a:p>
        </p:txBody>
      </p:sp>
      <p:sp>
        <p:nvSpPr>
          <p:cNvPr id="287" name="Google Shape;287;p28"/>
          <p:cNvSpPr/>
          <p:nvPr/>
        </p:nvSpPr>
        <p:spPr>
          <a:xfrm rot="359065">
            <a:off x="11438457" y="4603651"/>
            <a:ext cx="512191" cy="512191"/>
          </a:xfrm>
          <a:prstGeom prst="roundRect">
            <a:avLst>
              <a:gd fmla="val 32000" name="adj"/>
            </a:avLst>
          </a:prstGeom>
          <a:solidFill>
            <a:srgbClr val="1F6E43"/>
          </a:solidFill>
          <a:ln cap="flat" cmpd="sng" w="31750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292" rotWithShape="0" dir="2700000" dist="25603">
              <a:srgbClr val="404040">
                <a:alpha val="3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88" name="Google Shape;288;p28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 rot="359997">
            <a:off x="11550337" y="4702946"/>
            <a:ext cx="286755" cy="286755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28"/>
          <p:cNvSpPr txBox="1"/>
          <p:nvPr/>
        </p:nvSpPr>
        <p:spPr>
          <a:xfrm>
            <a:off x="7335396" y="5365425"/>
            <a:ext cx="1618500" cy="4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1F6E43"/>
                </a:solidFill>
                <a:latin typeface="Calibri"/>
                <a:ea typeface="Calibri"/>
                <a:cs typeface="Calibri"/>
                <a:sym typeface="Calibri"/>
              </a:rPr>
              <a:t>SCOPED, LICENSED INGESTION</a:t>
            </a:r>
            <a:endParaRPr/>
          </a:p>
        </p:txBody>
      </p:sp>
      <p:sp>
        <p:nvSpPr>
          <p:cNvPr id="290" name="Google Shape;290;p28"/>
          <p:cNvSpPr txBox="1"/>
          <p:nvPr/>
        </p:nvSpPr>
        <p:spPr>
          <a:xfrm>
            <a:off x="7321981" y="5825664"/>
            <a:ext cx="1618500" cy="96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A3A3A"/>
                </a:solidFill>
                <a:latin typeface="Calibri"/>
                <a:ea typeface="Calibri"/>
                <a:cs typeface="Calibri"/>
                <a:sym typeface="Calibri"/>
              </a:rPr>
              <a:t>Prototype scoped to compulsory-certification categories, sourced via BIS's free-download facility </a:t>
            </a:r>
            <a:endParaRPr sz="1200"/>
          </a:p>
        </p:txBody>
      </p:sp>
      <p:sp>
        <p:nvSpPr>
          <p:cNvPr id="291" name="Google Shape;291;p28"/>
          <p:cNvSpPr/>
          <p:nvPr/>
        </p:nvSpPr>
        <p:spPr>
          <a:xfrm rot="-300540">
            <a:off x="8938139" y="5964402"/>
            <a:ext cx="511955" cy="511955"/>
          </a:xfrm>
          <a:prstGeom prst="roundRect">
            <a:avLst>
              <a:gd fmla="val 32000" name="adj"/>
            </a:avLst>
          </a:prstGeom>
          <a:solidFill>
            <a:srgbClr val="2E8B57"/>
          </a:solidFill>
          <a:ln cap="flat" cmpd="sng" w="31750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292" rotWithShape="0" dir="2700000" dist="25603">
              <a:srgbClr val="404040">
                <a:alpha val="3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lipboard.png" id="292" name="Google Shape;292;p28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 rot="-300003">
            <a:off x="9063473" y="6063680"/>
            <a:ext cx="286755" cy="286755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28"/>
          <p:cNvSpPr txBox="1"/>
          <p:nvPr/>
        </p:nvSpPr>
        <p:spPr>
          <a:xfrm>
            <a:off x="9723605" y="5365425"/>
            <a:ext cx="1618500" cy="4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1F6E43"/>
                </a:solidFill>
                <a:latin typeface="Calibri"/>
                <a:ea typeface="Calibri"/>
                <a:cs typeface="Calibri"/>
                <a:sym typeface="Calibri"/>
              </a:rPr>
              <a:t>TRANSLATION VALIDATION</a:t>
            </a:r>
            <a:endParaRPr/>
          </a:p>
        </p:txBody>
      </p:sp>
      <p:sp>
        <p:nvSpPr>
          <p:cNvPr id="294" name="Google Shape;294;p28"/>
          <p:cNvSpPr txBox="1"/>
          <p:nvPr/>
        </p:nvSpPr>
        <p:spPr>
          <a:xfrm>
            <a:off x="9723605" y="5772002"/>
            <a:ext cx="1618500" cy="96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A3A3A"/>
                </a:solidFill>
                <a:latin typeface="Calibri"/>
                <a:ea typeface="Calibri"/>
                <a:cs typeface="Calibri"/>
                <a:sym typeface="Calibri"/>
              </a:rPr>
              <a:t>IndicTrans 2</a:t>
            </a:r>
            <a:r>
              <a:rPr b="0" i="0" lang="en-US" sz="1200" u="none" cap="none" strike="noStrike">
                <a:solidFill>
                  <a:srgbClr val="3A3A3A"/>
                </a:solidFill>
                <a:latin typeface="Calibri"/>
                <a:ea typeface="Calibri"/>
                <a:cs typeface="Calibri"/>
                <a:sym typeface="Calibri"/>
              </a:rPr>
              <a:t> preserves Indian-language technical terms; reconfirmation script lets users confirm intent before searching.</a:t>
            </a:r>
            <a:endParaRPr sz="1200"/>
          </a:p>
        </p:txBody>
      </p:sp>
      <p:sp>
        <p:nvSpPr>
          <p:cNvPr id="295" name="Google Shape;295;p28"/>
          <p:cNvSpPr/>
          <p:nvPr/>
        </p:nvSpPr>
        <p:spPr>
          <a:xfrm rot="420006">
            <a:off x="11371313" y="6041006"/>
            <a:ext cx="512017" cy="512017"/>
          </a:xfrm>
          <a:prstGeom prst="roundRect">
            <a:avLst>
              <a:gd fmla="val 32000" name="adj"/>
            </a:avLst>
          </a:prstGeom>
          <a:solidFill>
            <a:srgbClr val="1F6E43"/>
          </a:solidFill>
          <a:ln cap="flat" cmpd="sng" w="31750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292" rotWithShape="0" dir="2700000" dist="25603">
              <a:srgbClr val="404040">
                <a:alpha val="3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96" name="Google Shape;296;p28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 rot="419999">
            <a:off x="11483259" y="6153663"/>
            <a:ext cx="286755" cy="2867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lert_o.png" id="297" name="Google Shape;297;p28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6824936" y="3688624"/>
            <a:ext cx="237744" cy="2377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ightbulb_g.png" id="298" name="Google Shape;298;p28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11679198" y="3715455"/>
            <a:ext cx="237744" cy="2377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1788086613359_image.png" id="299" name="Google Shape;299;p28"/>
          <p:cNvPicPr preferRelativeResize="0"/>
          <p:nvPr/>
        </p:nvPicPr>
        <p:blipFill rotWithShape="1">
          <a:blip r:embed="rId20">
            <a:alphaModFix/>
          </a:blip>
          <a:srcRect b="0" l="0" r="0" t="0"/>
          <a:stretch/>
        </p:blipFill>
        <p:spPr>
          <a:xfrm>
            <a:off x="68850" y="1479900"/>
            <a:ext cx="2619400" cy="5250350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28"/>
          <p:cNvSpPr txBox="1"/>
          <p:nvPr/>
        </p:nvSpPr>
        <p:spPr>
          <a:xfrm>
            <a:off x="35352" y="1058300"/>
            <a:ext cx="2619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7303A"/>
                </a:solidFill>
                <a:latin typeface="Cambria"/>
                <a:ea typeface="Cambria"/>
                <a:cs typeface="Cambria"/>
                <a:sym typeface="Cambria"/>
              </a:rPr>
              <a:t>MULTILINGUAL SUPPORT</a:t>
            </a:r>
            <a:endParaRPr/>
          </a:p>
        </p:txBody>
      </p:sp>
      <p:pic>
        <p:nvPicPr>
          <p:cNvPr id="301" name="Google Shape;301;p28"/>
          <p:cNvPicPr preferRelativeResize="0"/>
          <p:nvPr/>
        </p:nvPicPr>
        <p:blipFill rotWithShape="1">
          <a:blip r:embed="rId21">
            <a:alphaModFix/>
          </a:blip>
          <a:srcRect b="29070" l="0" r="0" t="23997"/>
          <a:stretch/>
        </p:blipFill>
        <p:spPr>
          <a:xfrm>
            <a:off x="0" y="14675"/>
            <a:ext cx="2651851" cy="780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" name="Google Shape;307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1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29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/>
          </a:p>
        </p:txBody>
      </p:sp>
      <p:sp>
        <p:nvSpPr>
          <p:cNvPr id="309" name="Google Shape;309;p29"/>
          <p:cNvSpPr txBox="1"/>
          <p:nvPr/>
        </p:nvSpPr>
        <p:spPr>
          <a:xfrm>
            <a:off x="365760" y="932688"/>
            <a:ext cx="2788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4620F"/>
              </a:buClr>
              <a:buSzPts val="1600"/>
              <a:buFont typeface="Cambria"/>
              <a:buNone/>
            </a:pPr>
            <a:r>
              <a:rPr b="1" i="0" lang="en-US" sz="1600" u="none" cap="none" strike="noStrike">
                <a:solidFill>
                  <a:srgbClr val="C4620F"/>
                </a:solidFill>
                <a:latin typeface="Cambria"/>
                <a:ea typeface="Cambria"/>
                <a:cs typeface="Cambria"/>
                <a:sym typeface="Cambria"/>
              </a:rPr>
              <a:t>UNIQUE FEATURES</a:t>
            </a:r>
            <a:endParaRPr b="0" i="0" sz="1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9"/>
          <p:cNvSpPr/>
          <p:nvPr/>
        </p:nvSpPr>
        <p:spPr>
          <a:xfrm>
            <a:off x="365750" y="1298450"/>
            <a:ext cx="2788800" cy="383400"/>
          </a:xfrm>
          <a:prstGeom prst="roundRect">
            <a:avLst>
              <a:gd fmla="val 21053" name="adj"/>
            </a:avLst>
          </a:prstGeom>
          <a:solidFill>
            <a:srgbClr val="E879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29"/>
          <p:cNvSpPr txBox="1"/>
          <p:nvPr/>
        </p:nvSpPr>
        <p:spPr>
          <a:xfrm>
            <a:off x="457190" y="1298450"/>
            <a:ext cx="2606100" cy="38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License-Linked Freshness</a:t>
            </a:r>
            <a:endParaRPr b="0" i="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29"/>
          <p:cNvSpPr txBox="1"/>
          <p:nvPr/>
        </p:nvSpPr>
        <p:spPr>
          <a:xfrm>
            <a:off x="365750" y="1722492"/>
            <a:ext cx="2788800" cy="6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950"/>
              <a:buFont typeface="Calibri"/>
              <a:buNone/>
            </a:pPr>
            <a:r>
              <a:rPr b="0" i="0" lang="en-US" sz="125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Every answer shows the regulation / last-updated date tied to its license number.</a:t>
            </a:r>
            <a:endParaRPr b="0" i="0" sz="12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9"/>
          <p:cNvSpPr/>
          <p:nvPr/>
        </p:nvSpPr>
        <p:spPr>
          <a:xfrm>
            <a:off x="365750" y="2409036"/>
            <a:ext cx="2788800" cy="383400"/>
          </a:xfrm>
          <a:prstGeom prst="roundRect">
            <a:avLst>
              <a:gd fmla="val 21053" name="adj"/>
            </a:avLst>
          </a:prstGeom>
          <a:solidFill>
            <a:srgbClr val="E879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29"/>
          <p:cNvSpPr txBox="1"/>
          <p:nvPr/>
        </p:nvSpPr>
        <p:spPr>
          <a:xfrm>
            <a:off x="457190" y="2409036"/>
            <a:ext cx="2606100" cy="38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Reachable Official Links</a:t>
            </a:r>
            <a:endParaRPr b="0" i="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9"/>
          <p:cNvSpPr txBox="1"/>
          <p:nvPr/>
        </p:nvSpPr>
        <p:spPr>
          <a:xfrm>
            <a:off x="365750" y="2833078"/>
            <a:ext cx="2788800" cy="6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950"/>
              <a:buFont typeface="Calibri"/>
              <a:buNone/>
            </a:pPr>
            <a:r>
              <a:rPr b="0" i="0" lang="en-US" sz="125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Direct links to the official BIS portal — not just bot-generated text.</a:t>
            </a:r>
            <a:endParaRPr b="0" i="0" sz="12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9"/>
          <p:cNvSpPr/>
          <p:nvPr/>
        </p:nvSpPr>
        <p:spPr>
          <a:xfrm>
            <a:off x="365750" y="3378422"/>
            <a:ext cx="2788800" cy="383400"/>
          </a:xfrm>
          <a:prstGeom prst="roundRect">
            <a:avLst>
              <a:gd fmla="val 21053" name="adj"/>
            </a:avLst>
          </a:prstGeom>
          <a:solidFill>
            <a:srgbClr val="E879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29"/>
          <p:cNvSpPr txBox="1"/>
          <p:nvPr/>
        </p:nvSpPr>
        <p:spPr>
          <a:xfrm>
            <a:off x="457190" y="3378422"/>
            <a:ext cx="2606100" cy="38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Confidence-Scored Answers</a:t>
            </a:r>
            <a:endParaRPr b="0" i="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9"/>
          <p:cNvSpPr txBox="1"/>
          <p:nvPr/>
        </p:nvSpPr>
        <p:spPr>
          <a:xfrm>
            <a:off x="365750" y="3802464"/>
            <a:ext cx="2788800" cy="6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950"/>
              <a:buFont typeface="Calibri"/>
              <a:buNone/>
            </a:pPr>
            <a:r>
              <a:rPr b="0" i="0" lang="en-US" sz="125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Users see how certain the AI is before they act on it.</a:t>
            </a:r>
            <a:endParaRPr b="0" i="0" sz="12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9"/>
          <p:cNvSpPr/>
          <p:nvPr/>
        </p:nvSpPr>
        <p:spPr>
          <a:xfrm>
            <a:off x="365850" y="4529533"/>
            <a:ext cx="2788800" cy="383400"/>
          </a:xfrm>
          <a:prstGeom prst="roundRect">
            <a:avLst>
              <a:gd fmla="val 21053" name="adj"/>
            </a:avLst>
          </a:prstGeom>
          <a:solidFill>
            <a:srgbClr val="E879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29"/>
          <p:cNvSpPr txBox="1"/>
          <p:nvPr/>
        </p:nvSpPr>
        <p:spPr>
          <a:xfrm>
            <a:off x="457290" y="4529533"/>
            <a:ext cx="2606100" cy="38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Role-Aware Personalization </a:t>
            </a:r>
            <a:endParaRPr b="0" i="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9"/>
          <p:cNvSpPr txBox="1"/>
          <p:nvPr/>
        </p:nvSpPr>
        <p:spPr>
          <a:xfrm>
            <a:off x="365850" y="4953575"/>
            <a:ext cx="2788800" cy="6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950"/>
              <a:buFont typeface="Calibri"/>
              <a:buNone/>
            </a:pPr>
            <a:r>
              <a:rPr lang="en-US" sz="125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Role Selector (Consumer / MSME / Student / Manufacturer) tailors each answer's depth and next steps. </a:t>
            </a:r>
            <a:endParaRPr b="0" i="0" sz="12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29"/>
          <p:cNvSpPr/>
          <p:nvPr/>
        </p:nvSpPr>
        <p:spPr>
          <a:xfrm>
            <a:off x="365750" y="5740795"/>
            <a:ext cx="2788800" cy="383400"/>
          </a:xfrm>
          <a:prstGeom prst="roundRect">
            <a:avLst>
              <a:gd fmla="val 21053" name="adj"/>
            </a:avLst>
          </a:prstGeom>
          <a:solidFill>
            <a:srgbClr val="E879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29"/>
          <p:cNvSpPr txBox="1"/>
          <p:nvPr/>
        </p:nvSpPr>
        <p:spPr>
          <a:xfrm>
            <a:off x="457190" y="5740795"/>
            <a:ext cx="2606100" cy="38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Guideline-Query Contacts</a:t>
            </a:r>
            <a:endParaRPr b="0" i="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9"/>
          <p:cNvSpPr txBox="1"/>
          <p:nvPr/>
        </p:nvSpPr>
        <p:spPr>
          <a:xfrm>
            <a:off x="365850" y="6124325"/>
            <a:ext cx="2788800" cy="65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950"/>
              <a:buFont typeface="Calibri"/>
              <a:buNone/>
            </a:pPr>
            <a:r>
              <a:rPr b="0" i="0" lang="en-US" sz="125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BIS contact details auto-attached whenever a guideline question is asked.</a:t>
            </a:r>
            <a:endParaRPr b="0" i="0" sz="12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9"/>
          <p:cNvSpPr txBox="1"/>
          <p:nvPr/>
        </p:nvSpPr>
        <p:spPr>
          <a:xfrm>
            <a:off x="3429000" y="914400"/>
            <a:ext cx="8366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6E43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1F6E43"/>
                </a:solidFill>
                <a:latin typeface="Cambria"/>
                <a:ea typeface="Cambria"/>
                <a:cs typeface="Cambria"/>
                <a:sym typeface="Cambria"/>
              </a:rPr>
              <a:t>IMPACTS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9"/>
          <p:cNvSpPr/>
          <p:nvPr/>
        </p:nvSpPr>
        <p:spPr>
          <a:xfrm>
            <a:off x="3428990" y="1298450"/>
            <a:ext cx="1563600" cy="626100"/>
          </a:xfrm>
          <a:prstGeom prst="roundRect">
            <a:avLst>
              <a:gd fmla="val 12903" name="adj"/>
            </a:avLst>
          </a:prstGeom>
          <a:solidFill>
            <a:srgbClr val="2E8B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29"/>
          <p:cNvSpPr txBox="1"/>
          <p:nvPr/>
        </p:nvSpPr>
        <p:spPr>
          <a:xfrm>
            <a:off x="3474710" y="1298450"/>
            <a:ext cx="14721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Consumer Trust &amp; Safety</a:t>
            </a:r>
            <a:endParaRPr b="0" i="0" sz="14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9"/>
          <p:cNvSpPr/>
          <p:nvPr/>
        </p:nvSpPr>
        <p:spPr>
          <a:xfrm>
            <a:off x="3927338" y="2065764"/>
            <a:ext cx="567000" cy="626100"/>
          </a:xfrm>
          <a:prstGeom prst="ellipse">
            <a:avLst/>
          </a:prstGeom>
          <a:solidFill>
            <a:srgbClr val="1F6E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shield.png" id="329" name="Google Shape;329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46210" y="2197015"/>
            <a:ext cx="329184" cy="363465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29"/>
          <p:cNvSpPr txBox="1"/>
          <p:nvPr/>
        </p:nvSpPr>
        <p:spPr>
          <a:xfrm>
            <a:off x="3428990" y="2792693"/>
            <a:ext cx="1563600" cy="9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850"/>
              <a:buFont typeface="Calibri"/>
              <a:buNone/>
            </a:pPr>
            <a:r>
              <a:rPr b="0" i="0" lang="en-US" sz="115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Instant ISI/CRS/FMCS mark checks help users spot fakes before they buy.</a:t>
            </a:r>
            <a:endParaRPr b="0" i="0" sz="12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9"/>
          <p:cNvSpPr/>
          <p:nvPr/>
        </p:nvSpPr>
        <p:spPr>
          <a:xfrm>
            <a:off x="5129774" y="1298450"/>
            <a:ext cx="1563600" cy="626100"/>
          </a:xfrm>
          <a:prstGeom prst="roundRect">
            <a:avLst>
              <a:gd fmla="val 12903" name="adj"/>
            </a:avLst>
          </a:prstGeom>
          <a:solidFill>
            <a:srgbClr val="2E8B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29"/>
          <p:cNvSpPr txBox="1"/>
          <p:nvPr/>
        </p:nvSpPr>
        <p:spPr>
          <a:xfrm>
            <a:off x="5175494" y="1298450"/>
            <a:ext cx="14721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MSME Compliance Speed</a:t>
            </a:r>
            <a:endParaRPr b="0" i="0" sz="14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9"/>
          <p:cNvSpPr/>
          <p:nvPr/>
        </p:nvSpPr>
        <p:spPr>
          <a:xfrm>
            <a:off x="5628121" y="2065764"/>
            <a:ext cx="567000" cy="626100"/>
          </a:xfrm>
          <a:prstGeom prst="ellipse">
            <a:avLst/>
          </a:prstGeom>
          <a:solidFill>
            <a:srgbClr val="1F6E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tachometer.png" id="334" name="Google Shape;334;p2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46993" y="2197015"/>
            <a:ext cx="329184" cy="363465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Google Shape;335;p29"/>
          <p:cNvSpPr txBox="1"/>
          <p:nvPr/>
        </p:nvSpPr>
        <p:spPr>
          <a:xfrm>
            <a:off x="5129774" y="2792693"/>
            <a:ext cx="1563600" cy="9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850"/>
              <a:buFont typeface="Calibri"/>
              <a:buNone/>
            </a:pPr>
            <a:r>
              <a:rPr b="0" i="0" lang="en-US" sz="115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Cuts certification research from days of PDF-hunting to a short chat.</a:t>
            </a:r>
            <a:endParaRPr b="0" i="0" sz="11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9"/>
          <p:cNvSpPr/>
          <p:nvPr/>
        </p:nvSpPr>
        <p:spPr>
          <a:xfrm>
            <a:off x="6830557" y="1298450"/>
            <a:ext cx="1563600" cy="626100"/>
          </a:xfrm>
          <a:prstGeom prst="roundRect">
            <a:avLst>
              <a:gd fmla="val 12903" name="adj"/>
            </a:avLst>
          </a:prstGeom>
          <a:solidFill>
            <a:srgbClr val="2E8B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29"/>
          <p:cNvSpPr txBox="1"/>
          <p:nvPr/>
        </p:nvSpPr>
        <p:spPr>
          <a:xfrm>
            <a:off x="6876277" y="1298450"/>
            <a:ext cx="14721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Digital Inclusion</a:t>
            </a:r>
            <a:endParaRPr b="0" i="0" sz="14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9"/>
          <p:cNvSpPr/>
          <p:nvPr/>
        </p:nvSpPr>
        <p:spPr>
          <a:xfrm>
            <a:off x="7328905" y="2065764"/>
            <a:ext cx="567000" cy="626100"/>
          </a:xfrm>
          <a:prstGeom prst="ellipse">
            <a:avLst/>
          </a:prstGeom>
          <a:solidFill>
            <a:srgbClr val="1F6E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globe.png" id="339" name="Google Shape;339;p2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447777" y="2197015"/>
            <a:ext cx="329184" cy="363465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29"/>
          <p:cNvSpPr txBox="1"/>
          <p:nvPr/>
        </p:nvSpPr>
        <p:spPr>
          <a:xfrm>
            <a:off x="6830557" y="2792693"/>
            <a:ext cx="1563600" cy="9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850"/>
              <a:buFont typeface="Calibri"/>
              <a:buNone/>
            </a:pPr>
            <a:r>
              <a:rPr b="0" i="0" lang="en-US" sz="115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Voice + regional language reach users literacy and English never could.</a:t>
            </a:r>
            <a:endParaRPr b="0" i="0" sz="11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9"/>
          <p:cNvSpPr/>
          <p:nvPr/>
        </p:nvSpPr>
        <p:spPr>
          <a:xfrm>
            <a:off x="8531341" y="1298450"/>
            <a:ext cx="1563600" cy="626100"/>
          </a:xfrm>
          <a:prstGeom prst="roundRect">
            <a:avLst>
              <a:gd fmla="val 12903" name="adj"/>
            </a:avLst>
          </a:prstGeom>
          <a:solidFill>
            <a:srgbClr val="2E8B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29"/>
          <p:cNvSpPr txBox="1"/>
          <p:nvPr/>
        </p:nvSpPr>
        <p:spPr>
          <a:xfrm>
            <a:off x="8577061" y="1298450"/>
            <a:ext cx="14721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Less Counterfeit Circulation</a:t>
            </a:r>
            <a:endParaRPr b="0" i="0" sz="14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9"/>
          <p:cNvSpPr/>
          <p:nvPr/>
        </p:nvSpPr>
        <p:spPr>
          <a:xfrm>
            <a:off x="9029689" y="2065764"/>
            <a:ext cx="567000" cy="626100"/>
          </a:xfrm>
          <a:prstGeom prst="ellipse">
            <a:avLst/>
          </a:prstGeom>
          <a:solidFill>
            <a:srgbClr val="1F6E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search.png" id="344" name="Google Shape;344;p2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148561" y="2197015"/>
            <a:ext cx="329184" cy="363465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29"/>
          <p:cNvSpPr txBox="1"/>
          <p:nvPr/>
        </p:nvSpPr>
        <p:spPr>
          <a:xfrm>
            <a:off x="8531341" y="2792693"/>
            <a:ext cx="1563600" cy="9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850"/>
              <a:buFont typeface="Calibri"/>
              <a:buNone/>
            </a:pPr>
            <a:r>
              <a:rPr b="0" i="0" lang="en-US" sz="115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Real-time status badges flag withdrawn standards and fake marks fast.</a:t>
            </a:r>
            <a:endParaRPr b="0" i="0" sz="11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9"/>
          <p:cNvSpPr/>
          <p:nvPr/>
        </p:nvSpPr>
        <p:spPr>
          <a:xfrm>
            <a:off x="10232125" y="1298450"/>
            <a:ext cx="1563600" cy="626100"/>
          </a:xfrm>
          <a:prstGeom prst="roundRect">
            <a:avLst>
              <a:gd fmla="val 12903" name="adj"/>
            </a:avLst>
          </a:prstGeom>
          <a:solidFill>
            <a:srgbClr val="2E8B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29"/>
          <p:cNvSpPr txBox="1"/>
          <p:nvPr/>
        </p:nvSpPr>
        <p:spPr>
          <a:xfrm>
            <a:off x="10277845" y="1298450"/>
            <a:ext cx="14721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Institutional Visibility</a:t>
            </a:r>
            <a:endParaRPr b="0" i="0" sz="14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9"/>
          <p:cNvSpPr/>
          <p:nvPr/>
        </p:nvSpPr>
        <p:spPr>
          <a:xfrm>
            <a:off x="10730473" y="2065764"/>
            <a:ext cx="567000" cy="626100"/>
          </a:xfrm>
          <a:prstGeom prst="ellipse">
            <a:avLst/>
          </a:prstGeom>
          <a:solidFill>
            <a:srgbClr val="1F6E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hartline.png" id="349" name="Google Shape;349;p2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849345" y="2197015"/>
            <a:ext cx="329184" cy="363465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29"/>
          <p:cNvSpPr txBox="1"/>
          <p:nvPr/>
        </p:nvSpPr>
        <p:spPr>
          <a:xfrm>
            <a:off x="10232125" y="2792693"/>
            <a:ext cx="1563600" cy="9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850"/>
              <a:buFont typeface="Calibri"/>
              <a:buNone/>
            </a:pPr>
            <a:r>
              <a:rPr b="0" i="0" lang="en-US" sz="115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Query analytics show BIS exactly where citizens get stuck.</a:t>
            </a:r>
            <a:endParaRPr b="0" i="0" sz="11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1" name="Google Shape;351;p29"/>
          <p:cNvCxnSpPr/>
          <p:nvPr/>
        </p:nvCxnSpPr>
        <p:spPr>
          <a:xfrm>
            <a:off x="3428990" y="3681162"/>
            <a:ext cx="8366700" cy="0"/>
          </a:xfrm>
          <a:prstGeom prst="straightConnector1">
            <a:avLst/>
          </a:prstGeom>
          <a:noFill/>
          <a:ln cap="flat" cmpd="sng" w="12700">
            <a:solidFill>
              <a:srgbClr val="B9C6D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2" name="Google Shape;352;p29"/>
          <p:cNvSpPr txBox="1"/>
          <p:nvPr/>
        </p:nvSpPr>
        <p:spPr>
          <a:xfrm>
            <a:off x="3428990" y="3822509"/>
            <a:ext cx="8366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6E43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1F6E43"/>
                </a:solidFill>
                <a:latin typeface="Cambria"/>
                <a:ea typeface="Cambria"/>
                <a:cs typeface="Cambria"/>
                <a:sym typeface="Cambria"/>
              </a:rPr>
              <a:t>BENEFITS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9"/>
          <p:cNvSpPr/>
          <p:nvPr/>
        </p:nvSpPr>
        <p:spPr>
          <a:xfrm>
            <a:off x="3428990" y="4246551"/>
            <a:ext cx="1563600" cy="626100"/>
          </a:xfrm>
          <a:prstGeom prst="roundRect">
            <a:avLst>
              <a:gd fmla="val 12903" name="adj"/>
            </a:avLst>
          </a:prstGeom>
          <a:solidFill>
            <a:srgbClr val="2E8B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29"/>
          <p:cNvSpPr txBox="1"/>
          <p:nvPr/>
        </p:nvSpPr>
        <p:spPr>
          <a:xfrm>
            <a:off x="3474710" y="4246551"/>
            <a:ext cx="14721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Faster Certification Cycles</a:t>
            </a:r>
            <a:endParaRPr b="0" i="0" sz="14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9"/>
          <p:cNvSpPr/>
          <p:nvPr/>
        </p:nvSpPr>
        <p:spPr>
          <a:xfrm>
            <a:off x="3927338" y="5013865"/>
            <a:ext cx="567000" cy="626100"/>
          </a:xfrm>
          <a:prstGeom prst="ellipse">
            <a:avLst/>
          </a:prstGeom>
          <a:solidFill>
            <a:srgbClr val="1F6E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lock.png" id="356" name="Google Shape;356;p2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046210" y="5145117"/>
            <a:ext cx="329184" cy="363465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29"/>
          <p:cNvSpPr txBox="1"/>
          <p:nvPr/>
        </p:nvSpPr>
        <p:spPr>
          <a:xfrm>
            <a:off x="3428990" y="5740795"/>
            <a:ext cx="1563600" cy="9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850"/>
              <a:buFont typeface="Calibri"/>
              <a:buNone/>
            </a:pPr>
            <a:r>
              <a:rPr b="0" i="0" lang="en-US" sz="115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Step-by-step guidance + instant standard-matching gets </a:t>
            </a:r>
            <a:r>
              <a:rPr b="0" i="0" lang="en-US" sz="115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products</a:t>
            </a:r>
            <a:r>
              <a:rPr b="0" i="0" lang="en-US" sz="115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to market sooner.</a:t>
            </a:r>
            <a:endParaRPr b="0" i="0" sz="11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9"/>
          <p:cNvSpPr/>
          <p:nvPr/>
        </p:nvSpPr>
        <p:spPr>
          <a:xfrm>
            <a:off x="5129774" y="4246551"/>
            <a:ext cx="1563600" cy="626100"/>
          </a:xfrm>
          <a:prstGeom prst="roundRect">
            <a:avLst>
              <a:gd fmla="val 12903" name="adj"/>
            </a:avLst>
          </a:prstGeom>
          <a:solidFill>
            <a:srgbClr val="2E8B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29"/>
          <p:cNvSpPr txBox="1"/>
          <p:nvPr/>
        </p:nvSpPr>
        <p:spPr>
          <a:xfrm>
            <a:off x="5175494" y="4246551"/>
            <a:ext cx="14721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Lighter Helpline Load</a:t>
            </a:r>
            <a:endParaRPr b="0" i="0" sz="14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9"/>
          <p:cNvSpPr/>
          <p:nvPr/>
        </p:nvSpPr>
        <p:spPr>
          <a:xfrm>
            <a:off x="5628121" y="5013865"/>
            <a:ext cx="567000" cy="626100"/>
          </a:xfrm>
          <a:prstGeom prst="ellipse">
            <a:avLst/>
          </a:prstGeom>
          <a:solidFill>
            <a:srgbClr val="1F6E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headset.png" id="361" name="Google Shape;361;p29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746993" y="5145117"/>
            <a:ext cx="329184" cy="363465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29"/>
          <p:cNvSpPr txBox="1"/>
          <p:nvPr/>
        </p:nvSpPr>
        <p:spPr>
          <a:xfrm>
            <a:off x="5129774" y="5740795"/>
            <a:ext cx="1563600" cy="9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850"/>
              <a:buFont typeface="Calibri"/>
              <a:buNone/>
            </a:pPr>
            <a:r>
              <a:rPr b="0" i="0" lang="en-US" sz="115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Routine queries handled by AI; agents freed for complex escalations.</a:t>
            </a:r>
            <a:endParaRPr b="0" i="0" sz="11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9"/>
          <p:cNvSpPr/>
          <p:nvPr/>
        </p:nvSpPr>
        <p:spPr>
          <a:xfrm>
            <a:off x="6830557" y="4246551"/>
            <a:ext cx="1563600" cy="626100"/>
          </a:xfrm>
          <a:prstGeom prst="roundRect">
            <a:avLst>
              <a:gd fmla="val 12903" name="adj"/>
            </a:avLst>
          </a:prstGeom>
          <a:solidFill>
            <a:srgbClr val="2E8B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29"/>
          <p:cNvSpPr txBox="1"/>
          <p:nvPr/>
        </p:nvSpPr>
        <p:spPr>
          <a:xfrm>
            <a:off x="6876277" y="4246551"/>
            <a:ext cx="14721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Data-Driven Policy</a:t>
            </a:r>
            <a:endParaRPr b="0" i="0" sz="14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9"/>
          <p:cNvSpPr/>
          <p:nvPr/>
        </p:nvSpPr>
        <p:spPr>
          <a:xfrm>
            <a:off x="7328905" y="5013865"/>
            <a:ext cx="567000" cy="626100"/>
          </a:xfrm>
          <a:prstGeom prst="ellipse">
            <a:avLst/>
          </a:prstGeom>
          <a:solidFill>
            <a:srgbClr val="1F6E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hartpie.png" id="366" name="Google Shape;366;p29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447777" y="5145117"/>
            <a:ext cx="329184" cy="363465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29"/>
          <p:cNvSpPr txBox="1"/>
          <p:nvPr/>
        </p:nvSpPr>
        <p:spPr>
          <a:xfrm>
            <a:off x="6830557" y="5740795"/>
            <a:ext cx="1563600" cy="9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850"/>
              <a:buFont typeface="Calibri"/>
              <a:buNone/>
            </a:pPr>
            <a:r>
              <a:rPr b="0" i="0" lang="en-US" sz="115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Logged query gaps show BIS where standards or outreach need attention.</a:t>
            </a:r>
            <a:endParaRPr b="0" i="0" sz="11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9"/>
          <p:cNvSpPr/>
          <p:nvPr/>
        </p:nvSpPr>
        <p:spPr>
          <a:xfrm>
            <a:off x="8531341" y="4246551"/>
            <a:ext cx="1563600" cy="626100"/>
          </a:xfrm>
          <a:prstGeom prst="roundRect">
            <a:avLst>
              <a:gd fmla="val 12903" name="adj"/>
            </a:avLst>
          </a:prstGeom>
          <a:solidFill>
            <a:srgbClr val="2E8B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29"/>
          <p:cNvSpPr txBox="1"/>
          <p:nvPr/>
        </p:nvSpPr>
        <p:spPr>
          <a:xfrm>
            <a:off x="8577061" y="4246551"/>
            <a:ext cx="14721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One Backend, Every Channel</a:t>
            </a:r>
            <a:endParaRPr b="0" i="0" sz="14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29"/>
          <p:cNvSpPr/>
          <p:nvPr/>
        </p:nvSpPr>
        <p:spPr>
          <a:xfrm>
            <a:off x="9029689" y="5013865"/>
            <a:ext cx="567000" cy="626100"/>
          </a:xfrm>
          <a:prstGeom prst="ellipse">
            <a:avLst/>
          </a:prstGeom>
          <a:solidFill>
            <a:srgbClr val="1F6E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mobile.png" id="371" name="Google Shape;371;p29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9148561" y="5145117"/>
            <a:ext cx="329184" cy="363465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29"/>
          <p:cNvSpPr txBox="1"/>
          <p:nvPr/>
        </p:nvSpPr>
        <p:spPr>
          <a:xfrm>
            <a:off x="8531341" y="5740795"/>
            <a:ext cx="1563600" cy="9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850"/>
              <a:buFont typeface="Calibri"/>
              <a:buNone/>
            </a:pPr>
            <a:r>
              <a:rPr b="0" i="0" lang="en-US" sz="115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Web, WhatsApp, and SMS all run off the same engine — no rebuilds.</a:t>
            </a:r>
            <a:endParaRPr b="0" i="0" sz="11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9"/>
          <p:cNvSpPr/>
          <p:nvPr/>
        </p:nvSpPr>
        <p:spPr>
          <a:xfrm>
            <a:off x="10232125" y="4246551"/>
            <a:ext cx="1563600" cy="626100"/>
          </a:xfrm>
          <a:prstGeom prst="roundRect">
            <a:avLst>
              <a:gd fmla="val 12903" name="adj"/>
            </a:avLst>
          </a:prstGeom>
          <a:solidFill>
            <a:srgbClr val="2E8B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29"/>
          <p:cNvSpPr txBox="1"/>
          <p:nvPr/>
        </p:nvSpPr>
        <p:spPr>
          <a:xfrm>
            <a:off x="10277845" y="4246551"/>
            <a:ext cx="14721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Long-Term Cost Value</a:t>
            </a:r>
            <a:endParaRPr b="0" i="0" sz="14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29"/>
          <p:cNvSpPr/>
          <p:nvPr/>
        </p:nvSpPr>
        <p:spPr>
          <a:xfrm>
            <a:off x="10730473" y="5013865"/>
            <a:ext cx="567000" cy="626100"/>
          </a:xfrm>
          <a:prstGeom prst="ellipse">
            <a:avLst/>
          </a:prstGeom>
          <a:solidFill>
            <a:srgbClr val="1F6E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oins.png" id="376" name="Google Shape;376;p29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10849345" y="5145117"/>
            <a:ext cx="329184" cy="363465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29"/>
          <p:cNvSpPr txBox="1"/>
          <p:nvPr/>
        </p:nvSpPr>
        <p:spPr>
          <a:xfrm>
            <a:off x="10232125" y="5740795"/>
            <a:ext cx="1563600" cy="9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850"/>
              <a:buFont typeface="Calibri"/>
              <a:buNone/>
            </a:pPr>
            <a:r>
              <a:rPr b="0" i="0" lang="en-US" sz="115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Higher build cost upfront, but scales to lakhs of queries without matching staff growth.</a:t>
            </a:r>
            <a:endParaRPr b="0" i="0" sz="11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8" name="Google Shape;378;p29"/>
          <p:cNvPicPr preferRelativeResize="0"/>
          <p:nvPr/>
        </p:nvPicPr>
        <p:blipFill rotWithShape="1">
          <a:blip r:embed="rId14">
            <a:alphaModFix/>
          </a:blip>
          <a:srcRect b="29070" l="0" r="0" t="23997"/>
          <a:stretch/>
        </p:blipFill>
        <p:spPr>
          <a:xfrm>
            <a:off x="0" y="14675"/>
            <a:ext cx="2651851" cy="780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30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385" name="Google Shape;385;p30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386" name="Google Shape;386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60703" y="3"/>
            <a:ext cx="1631299" cy="770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94612" y="905699"/>
            <a:ext cx="442513" cy="503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94612" y="1955238"/>
            <a:ext cx="442525" cy="5032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9" name="Google Shape;389;p3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094612" y="3004800"/>
            <a:ext cx="442525" cy="5032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0" name="Google Shape;390;p3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615100" y="19651"/>
            <a:ext cx="5333237" cy="77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91" name="Google Shape;391;p30"/>
          <p:cNvCxnSpPr/>
          <p:nvPr/>
        </p:nvCxnSpPr>
        <p:spPr>
          <a:xfrm>
            <a:off x="2843163" y="32050"/>
            <a:ext cx="87000" cy="6872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392" name="Google Shape;392;p3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094611" y="3932150"/>
            <a:ext cx="442525" cy="5032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Google Shape;393;p3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094611" y="4920612"/>
            <a:ext cx="442525" cy="5032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4" name="Google Shape;394;p3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3094600" y="5812825"/>
            <a:ext cx="442525" cy="503250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30"/>
          <p:cNvSpPr txBox="1"/>
          <p:nvPr/>
        </p:nvSpPr>
        <p:spPr>
          <a:xfrm>
            <a:off x="3639925" y="898075"/>
            <a:ext cx="5461800" cy="88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Retrieval-Augmented Generation (RAG)</a:t>
            </a:r>
            <a:endParaRPr b="1" sz="1700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Summary:  </a:t>
            </a:r>
            <a:r>
              <a:rPr lang="en-US" sz="1350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Pairs a language model with a retriever over an external index, grounding answers in retrieved passages rather than model memory alone.</a:t>
            </a:r>
            <a:endParaRPr sz="1350">
              <a:solidFill>
                <a:srgbClr val="2730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Link: </a:t>
            </a:r>
            <a:r>
              <a:rPr b="1" lang="en-US" sz="1350">
                <a:solidFill>
                  <a:srgbClr val="27303A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11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35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arxiv.org/abs/2005.11401</a:t>
            </a:r>
            <a:endParaRPr sz="1550" u="sng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396" name="Google Shape;396;p30"/>
          <p:cNvSpPr txBox="1"/>
          <p:nvPr/>
        </p:nvSpPr>
        <p:spPr>
          <a:xfrm>
            <a:off x="3574025" y="1955250"/>
            <a:ext cx="5333400" cy="98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Self-RAG (Self-Reflective Retrieval)</a:t>
            </a:r>
            <a:endParaRPr b="1" sz="1600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Summary:  </a:t>
            </a:r>
            <a:r>
              <a:rPr lang="en-US" sz="1250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Trains a model to judge when retrieval is needed and critique its own drafts against retrieved text, cutting hallucinated claims.</a:t>
            </a:r>
            <a:endParaRPr sz="1250">
              <a:solidFill>
                <a:srgbClr val="2730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Link: </a:t>
            </a:r>
            <a:r>
              <a:rPr b="1" lang="en-US" sz="1250">
                <a:solidFill>
                  <a:srgbClr val="27303A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1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25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arxiv.org/abs/2310.11511</a:t>
            </a:r>
            <a:endParaRPr sz="1250" u="sng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2730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397" name="Google Shape;397;p30"/>
          <p:cNvSpPr txBox="1"/>
          <p:nvPr/>
        </p:nvSpPr>
        <p:spPr>
          <a:xfrm>
            <a:off x="3574025" y="2974450"/>
            <a:ext cx="5461800" cy="98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BIS ‘Know Your Standard’ Portal</a:t>
            </a:r>
            <a:endParaRPr b="1" sz="1600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Summary:  </a:t>
            </a:r>
            <a:r>
              <a:rPr lang="en-US" sz="1250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BIS's official lookup for any IS number or product keyword, showing scope, status and related documents.</a:t>
            </a:r>
            <a:endParaRPr sz="1250">
              <a:solidFill>
                <a:srgbClr val="2730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Link: </a:t>
            </a:r>
            <a:r>
              <a:rPr b="1" lang="en-US" sz="1250">
                <a:solidFill>
                  <a:srgbClr val="27303A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1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25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bis.gov.in/know-your-standard</a:t>
            </a:r>
            <a:endParaRPr sz="1250" u="sng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398" name="Google Shape;398;p30"/>
          <p:cNvSpPr txBox="1"/>
          <p:nvPr/>
        </p:nvSpPr>
        <p:spPr>
          <a:xfrm>
            <a:off x="3606725" y="3873575"/>
            <a:ext cx="5300700" cy="88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IndicTrans2 (AI4Bharat)</a:t>
            </a:r>
            <a:endParaRPr b="1" sz="1600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Summary:  </a:t>
            </a:r>
            <a:r>
              <a:rPr lang="en-US" sz="1250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Open-source translation system covering all 22 scheduled Indian languages, built by AI4Bharat (IIT Madras).</a:t>
            </a:r>
            <a:endParaRPr sz="1250">
              <a:solidFill>
                <a:srgbClr val="2730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Link: </a:t>
            </a:r>
            <a:r>
              <a:rPr b="1" lang="en-US" sz="1250">
                <a:solidFill>
                  <a:srgbClr val="27303A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1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25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/>
              </a:rPr>
              <a:t>github.com/AI4Bharat/IndicTrans2</a:t>
            </a:r>
            <a:endParaRPr sz="1250" u="sng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399" name="Google Shape;399;p30"/>
          <p:cNvSpPr txBox="1"/>
          <p:nvPr/>
        </p:nvSpPr>
        <p:spPr>
          <a:xfrm>
            <a:off x="3574000" y="4825225"/>
            <a:ext cx="5333400" cy="98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Chroma Vector Database</a:t>
            </a:r>
            <a:endParaRPr b="1" sz="1600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250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Summary:  </a:t>
            </a:r>
            <a:r>
              <a:rPr lang="en-US" sz="1250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Open-source embedding database for LLM apps, storing text chunks with embeddings for similarity search.</a:t>
            </a:r>
            <a:endParaRPr sz="1250">
              <a:solidFill>
                <a:srgbClr val="2730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250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Link: </a:t>
            </a:r>
            <a:r>
              <a:rPr b="1" lang="en-US" sz="1250">
                <a:solidFill>
                  <a:srgbClr val="27303A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19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25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/>
              </a:rPr>
              <a:t>docs.trychroma.com</a:t>
            </a:r>
            <a:endParaRPr sz="1250" u="sng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400" name="Google Shape;400;p30"/>
          <p:cNvSpPr txBox="1"/>
          <p:nvPr/>
        </p:nvSpPr>
        <p:spPr>
          <a:xfrm>
            <a:off x="3574000" y="5812825"/>
            <a:ext cx="5300700" cy="98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BIS Compulsory Registration Scheme (CRS)</a:t>
            </a:r>
            <a:endParaRPr b="1" sz="1600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Summary:  </a:t>
            </a:r>
            <a:r>
              <a:rPr lang="en-US" sz="1250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Official portal for BIS's CRS scheme on notified electronics/IT products, covering rules and license status.</a:t>
            </a:r>
            <a:endParaRPr sz="1250">
              <a:solidFill>
                <a:srgbClr val="2730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7303A"/>
                </a:solidFill>
                <a:latin typeface="Calibri"/>
                <a:ea typeface="Calibri"/>
                <a:cs typeface="Calibri"/>
                <a:sym typeface="Calibri"/>
              </a:rPr>
              <a:t>Link: </a:t>
            </a:r>
            <a:r>
              <a:rPr b="1" lang="en-US" sz="1250">
                <a:solidFill>
                  <a:srgbClr val="27303A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21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25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2"/>
              </a:rPr>
              <a:t>crsbis.in</a:t>
            </a:r>
            <a:endParaRPr sz="1250" u="sng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401" name="Google Shape;401;p30"/>
          <p:cNvSpPr txBox="1"/>
          <p:nvPr/>
        </p:nvSpPr>
        <p:spPr>
          <a:xfrm>
            <a:off x="3210125" y="475700"/>
            <a:ext cx="6189600" cy="24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3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402" name="Google Shape;402;p30"/>
          <p:cNvSpPr/>
          <p:nvPr/>
        </p:nvSpPr>
        <p:spPr>
          <a:xfrm>
            <a:off x="9427200" y="1059550"/>
            <a:ext cx="2305500" cy="12891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50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35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Target 9.1 — Access to Quality Infrastructure</a:t>
            </a:r>
            <a:endParaRPr b="1" sz="1350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Makes BIS's technical corpus searchable in plain language</a:t>
            </a:r>
            <a:endParaRPr i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403" name="Google Shape;403;p30"/>
          <p:cNvSpPr/>
          <p:nvPr/>
        </p:nvSpPr>
        <p:spPr>
          <a:xfrm>
            <a:off x="9427200" y="2546463"/>
            <a:ext cx="2305500" cy="12384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     </a:t>
            </a:r>
            <a:endParaRPr b="1" sz="1200" u="sng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35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Target 9.3 — MSME Market Access</a:t>
            </a:r>
            <a:endParaRPr b="1" sz="1350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Simplifies ISI / CRS certification guidance for small manufacturers</a:t>
            </a:r>
            <a:endParaRPr i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404" name="Google Shape;404;p30"/>
          <p:cNvSpPr/>
          <p:nvPr/>
        </p:nvSpPr>
        <p:spPr>
          <a:xfrm>
            <a:off x="9427200" y="3932150"/>
            <a:ext cx="2305500" cy="13368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1" sz="1200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35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Target 9.b — Indigenous Tech Capacity</a:t>
            </a:r>
            <a:endParaRPr b="1" sz="1350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Built on IndicTrans2 (AI4Bharat) instead of foreign NLP tools</a:t>
            </a:r>
            <a:endParaRPr i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405" name="Google Shape;405;p30"/>
          <p:cNvSpPr/>
          <p:nvPr/>
        </p:nvSpPr>
        <p:spPr>
          <a:xfrm>
            <a:off x="9427200" y="5385150"/>
            <a:ext cx="2305500" cy="13368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50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35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Target 9.5 — Innovation in Public Infrastructure</a:t>
            </a:r>
            <a:endParaRPr b="1" sz="1350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Applies modern retrieval-augmented AI to a government knowledge base</a:t>
            </a:r>
            <a:endParaRPr i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406" name="Google Shape;406;p30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88725" y="1408950"/>
            <a:ext cx="2703826" cy="5328774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p30"/>
          <p:cNvSpPr/>
          <p:nvPr/>
        </p:nvSpPr>
        <p:spPr>
          <a:xfrm>
            <a:off x="178363" y="1006150"/>
            <a:ext cx="2331600" cy="365100"/>
          </a:xfrm>
          <a:prstGeom prst="roundRect">
            <a:avLst>
              <a:gd fmla="val 50000" name="adj"/>
            </a:avLst>
          </a:prstGeom>
          <a:solidFill>
            <a:srgbClr val="E7E6E6"/>
          </a:solidFill>
          <a:ln cap="flat" cmpd="sng" w="9525">
            <a:solidFill>
              <a:srgbClr val="44546A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27303A"/>
                </a:solidFill>
                <a:latin typeface="Oswald"/>
                <a:ea typeface="Oswald"/>
                <a:cs typeface="Oswald"/>
                <a:sym typeface="Oswald"/>
              </a:rPr>
              <a:t>APP INTERFACE</a:t>
            </a:r>
            <a:endParaRPr sz="2100"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408" name="Google Shape;408;p30"/>
          <p:cNvSpPr txBox="1"/>
          <p:nvPr/>
        </p:nvSpPr>
        <p:spPr>
          <a:xfrm>
            <a:off x="9633250" y="606125"/>
            <a:ext cx="1807500" cy="2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SDG 9</a:t>
            </a:r>
            <a:endParaRPr sz="38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409" name="Google Shape;409;p30"/>
          <p:cNvPicPr preferRelativeResize="0"/>
          <p:nvPr/>
        </p:nvPicPr>
        <p:blipFill rotWithShape="1">
          <a:blip r:embed="rId24">
            <a:alphaModFix/>
          </a:blip>
          <a:srcRect b="29070" l="0" r="0" t="23997"/>
          <a:stretch/>
        </p:blipFill>
        <p:spPr>
          <a:xfrm>
            <a:off x="0" y="14675"/>
            <a:ext cx="2651851" cy="780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WPS">
  <a:themeElements>
    <a:clrScheme name="WP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