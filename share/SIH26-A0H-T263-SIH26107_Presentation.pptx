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5"/>
    </p:embeddedFon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  <p:embeddedFont>
      <p:font typeface="Times New Roman Bold" charset="1" panose="02020803070505020304"/>
      <p:regular r:id="rId18"/>
    </p:embeddedFont>
    <p:embeddedFont>
      <p:font typeface="Calibri (MS) Bold" charset="1" panose="020F0702030404030204"/>
      <p:regular r:id="rId19"/>
    </p:embeddedFont>
    <p:embeddedFont>
      <p:font typeface="Oswald" charset="1" panose="00000500000000000000"/>
      <p:regular r:id="rId20"/>
    </p:embeddedFont>
    <p:embeddedFont>
      <p:font typeface="Calibri (MS)" charset="1" panose="020F0502020204030204"/>
      <p:regular r:id="rId21"/>
    </p:embeddedFont>
    <p:embeddedFont>
      <p:font typeface="Cambria" charset="1" panose="02040503050406030204"/>
      <p:regular r:id="rId22"/>
    </p:embeddedFont>
    <p:embeddedFont>
      <p:font typeface="Cambria Bold" charset="1" panose="02040803050406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4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6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arxiv.org/abs/2005.11401" TargetMode="External" Type="http://schemas.openxmlformats.org/officeDocument/2006/relationships/hyperlink"/><Relationship Id="rId11" Target="https://arxiv.org/abs/2310.11511" TargetMode="External" Type="http://schemas.openxmlformats.org/officeDocument/2006/relationships/hyperlink"/><Relationship Id="rId12" Target="https://arxiv.org/abs/2310.11511" TargetMode="External" Type="http://schemas.openxmlformats.org/officeDocument/2006/relationships/hyperlink"/><Relationship Id="rId13" Target="https://www.bis.gov.in/know-your-standard/?lang=en" TargetMode="External" Type="http://schemas.openxmlformats.org/officeDocument/2006/relationships/hyperlink"/><Relationship Id="rId14" Target="https://www.bis.gov.in/know-your-standard/?lang=en" TargetMode="External" Type="http://schemas.openxmlformats.org/officeDocument/2006/relationships/hyperlink"/><Relationship Id="rId15" Target="https://github.com/AI4Bharat/IndicTrans2" TargetMode="External" Type="http://schemas.openxmlformats.org/officeDocument/2006/relationships/hyperlink"/><Relationship Id="rId16" Target="https://github.com/AI4Bharat/IndicTrans2" TargetMode="External" Type="http://schemas.openxmlformats.org/officeDocument/2006/relationships/hyperlink"/><Relationship Id="rId17" Target="https://www.crsbis.in/BIS/whatisCRS.do" TargetMode="External" Type="http://schemas.openxmlformats.org/officeDocument/2006/relationships/hyperlink"/><Relationship Id="rId18" Target="https://www.crsbis.in/BIS/whatisCRS.do" TargetMode="External" Type="http://schemas.openxmlformats.org/officeDocument/2006/relationships/hyperlink"/><Relationship Id="rId19" Target="../media/image33.png" Type="http://schemas.openxmlformats.org/officeDocument/2006/relationships/image"/><Relationship Id="rId2" Target="../media/image5.png" Type="http://schemas.openxmlformats.org/officeDocument/2006/relationships/image"/><Relationship Id="rId20" Target="../media/image34.png" Type="http://schemas.openxmlformats.org/officeDocument/2006/relationships/image"/><Relationship Id="rId21" Target="https://qdrant.tech/documentation/" TargetMode="External" Type="http://schemas.openxmlformats.org/officeDocument/2006/relationships/hyperlink"/><Relationship Id="rId22" Target="../media/image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https://arxiv.org/abs/2005.11401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1033" y="0"/>
            <a:ext cx="13716000" cy="10287000"/>
            <a:chOff x="0" y="0"/>
            <a:chExt cx="18288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086995" y="1408347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24180" y="2704881"/>
            <a:ext cx="4805258" cy="5139357"/>
            <a:chOff x="0" y="0"/>
            <a:chExt cx="6407010" cy="6852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49475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1646" y="-410032"/>
            <a:ext cx="15544800" cy="3114904"/>
            <a:chOff x="0" y="0"/>
            <a:chExt cx="20726400" cy="4153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4153200"/>
            </a:xfrm>
            <a:custGeom>
              <a:avLst/>
              <a:gdLst/>
              <a:ahLst/>
              <a:cxnLst/>
              <a:rect r="r" b="b" t="t" l="l"/>
              <a:pathLst>
                <a:path h="4153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3200"/>
                  </a:lnTo>
                  <a:lnTo>
                    <a:pt x="0" y="4153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239" r="0" b="-4723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726400" cy="4172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20583" y="2295592"/>
            <a:ext cx="13533149" cy="79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SIH26107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AI-powered Intelligent Assistant for Indian Standards and BIS Services for Industries and Consumers</a:t>
            </a:r>
          </a:p>
          <a:p>
            <a:pPr algn="just" marL="542925" indent="-271462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 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SIH26-A0H-T263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 Busters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10" y="7002579"/>
            <a:ext cx="4698902" cy="1535401"/>
            <a:chOff x="0" y="0"/>
            <a:chExt cx="6265202" cy="20472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65291" cy="2047240"/>
            </a:xfrm>
            <a:custGeom>
              <a:avLst/>
              <a:gdLst/>
              <a:ahLst/>
              <a:cxnLst/>
              <a:rect r="r" b="b" t="t" l="l"/>
              <a:pathLst>
                <a:path h="2047240" w="6265291">
                  <a:moveTo>
                    <a:pt x="0" y="431038"/>
                  </a:moveTo>
                  <a:cubicBezTo>
                    <a:pt x="0" y="192913"/>
                    <a:pt x="192913" y="0"/>
                    <a:pt x="431038" y="0"/>
                  </a:cubicBezTo>
                  <a:lnTo>
                    <a:pt x="5834253" y="0"/>
                  </a:lnTo>
                  <a:cubicBezTo>
                    <a:pt x="6072251" y="0"/>
                    <a:pt x="6265291" y="192913"/>
                    <a:pt x="6265291" y="431038"/>
                  </a:cubicBezTo>
                  <a:lnTo>
                    <a:pt x="6265291" y="1616202"/>
                  </a:lnTo>
                  <a:cubicBezTo>
                    <a:pt x="6265291" y="1854200"/>
                    <a:pt x="6072378" y="2047240"/>
                    <a:pt x="5834253" y="2047240"/>
                  </a:cubicBezTo>
                  <a:lnTo>
                    <a:pt x="431038" y="2047240"/>
                  </a:lnTo>
                  <a:cubicBezTo>
                    <a:pt x="192913" y="2047240"/>
                    <a:pt x="0" y="1854200"/>
                    <a:pt x="0" y="1616202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7110" y="8632659"/>
            <a:ext cx="4698902" cy="1479604"/>
            <a:chOff x="0" y="0"/>
            <a:chExt cx="6265202" cy="19728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5164" cy="1972691"/>
            </a:xfrm>
            <a:custGeom>
              <a:avLst/>
              <a:gdLst/>
              <a:ahLst/>
              <a:cxnLst/>
              <a:rect r="r" b="b" t="t" l="l"/>
              <a:pathLst>
                <a:path h="1972691" w="6265164">
                  <a:moveTo>
                    <a:pt x="0" y="415290"/>
                  </a:moveTo>
                  <a:cubicBezTo>
                    <a:pt x="0" y="185928"/>
                    <a:pt x="185928" y="0"/>
                    <a:pt x="415290" y="0"/>
                  </a:cubicBezTo>
                  <a:lnTo>
                    <a:pt x="5849874" y="0"/>
                  </a:lnTo>
                  <a:cubicBezTo>
                    <a:pt x="6079236" y="0"/>
                    <a:pt x="6265164" y="185928"/>
                    <a:pt x="6265164" y="415290"/>
                  </a:cubicBezTo>
                  <a:lnTo>
                    <a:pt x="6265164" y="1557401"/>
                  </a:lnTo>
                  <a:cubicBezTo>
                    <a:pt x="6265164" y="1786763"/>
                    <a:pt x="6079236" y="1972691"/>
                    <a:pt x="5849874" y="1972691"/>
                  </a:cubicBezTo>
                  <a:lnTo>
                    <a:pt x="415290" y="1972691"/>
                  </a:lnTo>
                  <a:cubicBezTo>
                    <a:pt x="185928" y="1972818"/>
                    <a:pt x="0" y="1786890"/>
                    <a:pt x="0" y="1557528"/>
                  </a:cubicBezTo>
                  <a:close/>
                </a:path>
              </a:pathLst>
            </a:custGeom>
            <a:solidFill>
              <a:srgbClr val="F7964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382421" y="-253109"/>
            <a:ext cx="20062196" cy="1901168"/>
            <a:chOff x="0" y="0"/>
            <a:chExt cx="26749595" cy="2534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49595" cy="2534890"/>
            </a:xfrm>
            <a:custGeom>
              <a:avLst/>
              <a:gdLst/>
              <a:ahLst/>
              <a:cxnLst/>
              <a:rect r="r" b="b" t="t" l="l"/>
              <a:pathLst>
                <a:path h="2534890" w="26749595">
                  <a:moveTo>
                    <a:pt x="0" y="0"/>
                  </a:moveTo>
                  <a:lnTo>
                    <a:pt x="26749595" y="0"/>
                  </a:lnTo>
                  <a:lnTo>
                    <a:pt x="26749595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43" t="-227423" r="0" b="-28481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6749595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706287" y="-13921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3560" y="2390050"/>
            <a:ext cx="4806001" cy="1346397"/>
            <a:chOff x="0" y="0"/>
            <a:chExt cx="6408001" cy="17951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39" cy="1795272"/>
            </a:xfrm>
            <a:custGeom>
              <a:avLst/>
              <a:gdLst/>
              <a:ahLst/>
              <a:cxnLst/>
              <a:rect r="r" b="b" t="t" l="l"/>
              <a:pathLst>
                <a:path h="1795272" w="6408039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lnTo>
                    <a:pt x="6030087" y="0"/>
                  </a:lnTo>
                  <a:cubicBezTo>
                    <a:pt x="6238875" y="0"/>
                    <a:pt x="6408039" y="169164"/>
                    <a:pt x="6408039" y="377952"/>
                  </a:cubicBezTo>
                  <a:lnTo>
                    <a:pt x="6408039" y="1417320"/>
                  </a:lnTo>
                  <a:cubicBezTo>
                    <a:pt x="6408039" y="1626108"/>
                    <a:pt x="6238875" y="1795272"/>
                    <a:pt x="6030087" y="1795272"/>
                  </a:cubicBezTo>
                  <a:lnTo>
                    <a:pt x="377952" y="1795272"/>
                  </a:lnTo>
                  <a:cubicBezTo>
                    <a:pt x="169164" y="1795145"/>
                    <a:pt x="0" y="1625981"/>
                    <a:pt x="0" y="1417320"/>
                  </a:cubicBezTo>
                  <a:close/>
                </a:path>
              </a:pathLst>
            </a:custGeom>
            <a:solidFill>
              <a:srgbClr val="F7964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3560" y="3851795"/>
            <a:ext cx="4806001" cy="1479604"/>
            <a:chOff x="0" y="0"/>
            <a:chExt cx="6408001" cy="19728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7912" cy="1972691"/>
            </a:xfrm>
            <a:custGeom>
              <a:avLst/>
              <a:gdLst/>
              <a:ahLst/>
              <a:cxnLst/>
              <a:rect r="r" b="b" t="t" l="l"/>
              <a:pathLst>
                <a:path h="1972691" w="6407912">
                  <a:moveTo>
                    <a:pt x="0" y="415290"/>
                  </a:moveTo>
                  <a:cubicBezTo>
                    <a:pt x="0" y="185928"/>
                    <a:pt x="185928" y="0"/>
                    <a:pt x="415290" y="0"/>
                  </a:cubicBezTo>
                  <a:lnTo>
                    <a:pt x="5992622" y="0"/>
                  </a:lnTo>
                  <a:cubicBezTo>
                    <a:pt x="6221984" y="0"/>
                    <a:pt x="6407912" y="185928"/>
                    <a:pt x="6407912" y="415290"/>
                  </a:cubicBezTo>
                  <a:lnTo>
                    <a:pt x="6407912" y="1557401"/>
                  </a:lnTo>
                  <a:cubicBezTo>
                    <a:pt x="6407912" y="1786763"/>
                    <a:pt x="6221984" y="1972691"/>
                    <a:pt x="5992622" y="1972691"/>
                  </a:cubicBezTo>
                  <a:lnTo>
                    <a:pt x="415290" y="1972691"/>
                  </a:lnTo>
                  <a:cubicBezTo>
                    <a:pt x="185928" y="1972818"/>
                    <a:pt x="0" y="1786890"/>
                    <a:pt x="0" y="1557528"/>
                  </a:cubicBezTo>
                  <a:close/>
                </a:path>
              </a:pathLst>
            </a:custGeom>
            <a:solidFill>
              <a:srgbClr val="3F8F5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55529" y="5428297"/>
            <a:ext cx="4698902" cy="1479604"/>
            <a:chOff x="0" y="0"/>
            <a:chExt cx="6265202" cy="19728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65164" cy="1972691"/>
            </a:xfrm>
            <a:custGeom>
              <a:avLst/>
              <a:gdLst/>
              <a:ahLst/>
              <a:cxnLst/>
              <a:rect r="r" b="b" t="t" l="l"/>
              <a:pathLst>
                <a:path h="1972691" w="6265164">
                  <a:moveTo>
                    <a:pt x="0" y="415290"/>
                  </a:moveTo>
                  <a:cubicBezTo>
                    <a:pt x="0" y="185928"/>
                    <a:pt x="185928" y="0"/>
                    <a:pt x="415290" y="0"/>
                  </a:cubicBezTo>
                  <a:lnTo>
                    <a:pt x="5849874" y="0"/>
                  </a:lnTo>
                  <a:cubicBezTo>
                    <a:pt x="6079236" y="0"/>
                    <a:pt x="6265164" y="185928"/>
                    <a:pt x="6265164" y="415290"/>
                  </a:cubicBezTo>
                  <a:lnTo>
                    <a:pt x="6265164" y="1557401"/>
                  </a:lnTo>
                  <a:cubicBezTo>
                    <a:pt x="6265164" y="1786763"/>
                    <a:pt x="6079236" y="1972691"/>
                    <a:pt x="5849874" y="1972691"/>
                  </a:cubicBezTo>
                  <a:lnTo>
                    <a:pt x="415290" y="1972691"/>
                  </a:lnTo>
                  <a:cubicBezTo>
                    <a:pt x="185928" y="1972818"/>
                    <a:pt x="0" y="1786890"/>
                    <a:pt x="0" y="1557528"/>
                  </a:cubicBezTo>
                  <a:close/>
                </a:path>
              </a:pathLst>
            </a:custGeom>
            <a:solidFill>
              <a:srgbClr val="F79646"/>
            </a:solidFill>
          </p:spPr>
        </p:sp>
      </p:grpSp>
      <p:sp>
        <p:nvSpPr>
          <p:cNvPr name="AutoShape 17" id="17"/>
          <p:cNvSpPr/>
          <p:nvPr/>
        </p:nvSpPr>
        <p:spPr>
          <a:xfrm flipH="true">
            <a:off x="14951" y="1490930"/>
            <a:ext cx="18323891" cy="31981"/>
          </a:xfrm>
          <a:prstGeom prst="line">
            <a:avLst/>
          </a:prstGeom>
          <a:ln cap="rnd" w="9525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5334016" y="1491005"/>
            <a:ext cx="102051" cy="8412633"/>
          </a:xfrm>
          <a:prstGeom prst="line">
            <a:avLst/>
          </a:prstGeom>
          <a:ln cap="rnd" w="9525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865514" y="1509703"/>
            <a:ext cx="14338" cy="8469342"/>
          </a:xfrm>
          <a:prstGeom prst="line">
            <a:avLst/>
          </a:prstGeom>
          <a:ln cap="rnd" w="9525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5689322" y="2509037"/>
            <a:ext cx="8012249" cy="1069648"/>
            <a:chOff x="0" y="0"/>
            <a:chExt cx="10682999" cy="14261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82987" cy="1426210"/>
            </a:xfrm>
            <a:custGeom>
              <a:avLst/>
              <a:gdLst/>
              <a:ahLst/>
              <a:cxnLst/>
              <a:rect r="r" b="b" t="t" l="l"/>
              <a:pathLst>
                <a:path h="1426210" w="10682987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63530" y="0"/>
                  </a:lnTo>
                  <a:cubicBezTo>
                    <a:pt x="10584688" y="0"/>
                    <a:pt x="10682987" y="98298"/>
                    <a:pt x="10682987" y="219456"/>
                  </a:cubicBezTo>
                  <a:lnTo>
                    <a:pt x="10682987" y="1206754"/>
                  </a:lnTo>
                  <a:cubicBezTo>
                    <a:pt x="10682987" y="1327912"/>
                    <a:pt x="10584688" y="1426210"/>
                    <a:pt x="10463530" y="1426210"/>
                  </a:cubicBezTo>
                  <a:lnTo>
                    <a:pt x="219456" y="1426210"/>
                  </a:lnTo>
                  <a:cubicBezTo>
                    <a:pt x="98298" y="1426210"/>
                    <a:pt x="0" y="1327912"/>
                    <a:pt x="0" y="1206754"/>
                  </a:cubicBezTo>
                  <a:close/>
                </a:path>
              </a:pathLst>
            </a:custGeom>
            <a:solidFill>
              <a:srgbClr val="A9CFA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98955" y="2477652"/>
            <a:ext cx="7416003" cy="1171194"/>
            <a:chOff x="0" y="0"/>
            <a:chExt cx="9888004" cy="1561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88000" cy="1561596"/>
            </a:xfrm>
            <a:custGeom>
              <a:avLst/>
              <a:gdLst/>
              <a:ahLst/>
              <a:cxnLst/>
              <a:rect r="r" b="b" t="t" l="l"/>
              <a:pathLst>
                <a:path h="1561596" w="9888000">
                  <a:moveTo>
                    <a:pt x="0" y="0"/>
                  </a:moveTo>
                  <a:lnTo>
                    <a:pt x="9888000" y="0"/>
                  </a:lnTo>
                  <a:lnTo>
                    <a:pt x="9888000" y="1561596"/>
                  </a:lnTo>
                  <a:lnTo>
                    <a:pt x="0" y="15615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070" r="0" b="-596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9888004" cy="1628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b="true" sz="2250">
                  <a:solidFill>
                    <a:srgbClr val="1A3A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multilingual, source-grounded AI assistant that turns scattered BIS standards and certification rules into one trusted conversation.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689322" y="3600821"/>
            <a:ext cx="8012249" cy="329403"/>
            <a:chOff x="0" y="0"/>
            <a:chExt cx="10682999" cy="4392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83000" cy="439200"/>
            </a:xfrm>
            <a:custGeom>
              <a:avLst/>
              <a:gdLst/>
              <a:ahLst/>
              <a:cxnLst/>
              <a:rect r="r" b="b" t="t" l="l"/>
              <a:pathLst>
                <a:path h="439200" w="10683000">
                  <a:moveTo>
                    <a:pt x="0" y="0"/>
                  </a:moveTo>
                  <a:lnTo>
                    <a:pt x="10683000" y="0"/>
                  </a:lnTo>
                  <a:lnTo>
                    <a:pt x="10683000" y="439200"/>
                  </a:lnTo>
                  <a:lnTo>
                    <a:pt x="0" y="43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3949" r="0" b="-4239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682999" cy="486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C462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it does: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689322" y="6017456"/>
            <a:ext cx="8012249" cy="329403"/>
            <a:chOff x="0" y="0"/>
            <a:chExt cx="10682999" cy="4392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83000" cy="439200"/>
            </a:xfrm>
            <a:custGeom>
              <a:avLst/>
              <a:gdLst/>
              <a:ahLst/>
              <a:cxnLst/>
              <a:rect r="r" b="b" t="t" l="l"/>
              <a:pathLst>
                <a:path h="439200" w="10683000">
                  <a:moveTo>
                    <a:pt x="0" y="0"/>
                  </a:moveTo>
                  <a:lnTo>
                    <a:pt x="10683000" y="0"/>
                  </a:lnTo>
                  <a:lnTo>
                    <a:pt x="10683000" y="439200"/>
                  </a:lnTo>
                  <a:lnTo>
                    <a:pt x="0" y="43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3949" r="0" b="-4239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682999" cy="486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3F8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used: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2839" y="1594151"/>
            <a:ext cx="5435889" cy="637089"/>
            <a:chOff x="0" y="0"/>
            <a:chExt cx="7247852" cy="8494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47763" cy="849376"/>
            </a:xfrm>
            <a:custGeom>
              <a:avLst/>
              <a:gdLst/>
              <a:ahLst/>
              <a:cxnLst/>
              <a:rect r="r" b="b" t="t" l="l"/>
              <a:pathLst>
                <a:path h="849376" w="7247763">
                  <a:moveTo>
                    <a:pt x="0" y="424688"/>
                  </a:moveTo>
                  <a:cubicBezTo>
                    <a:pt x="0" y="190119"/>
                    <a:pt x="190119" y="0"/>
                    <a:pt x="424688" y="0"/>
                  </a:cubicBezTo>
                  <a:lnTo>
                    <a:pt x="6823075" y="0"/>
                  </a:lnTo>
                  <a:cubicBezTo>
                    <a:pt x="7057644" y="0"/>
                    <a:pt x="7247763" y="190119"/>
                    <a:pt x="7247763" y="424688"/>
                  </a:cubicBezTo>
                  <a:cubicBezTo>
                    <a:pt x="7247763" y="659257"/>
                    <a:pt x="7057644" y="849376"/>
                    <a:pt x="6823075" y="849376"/>
                  </a:cubicBezTo>
                  <a:lnTo>
                    <a:pt x="424688" y="849376"/>
                  </a:lnTo>
                  <a:cubicBezTo>
                    <a:pt x="190119" y="849503"/>
                    <a:pt x="0" y="659257"/>
                    <a:pt x="0" y="424688"/>
                  </a:cubicBezTo>
                  <a:close/>
                </a:path>
              </a:pathLst>
            </a:custGeom>
            <a:solidFill>
              <a:srgbClr val="E7E6E6"/>
            </a:solidFill>
            <a:ln w="14288" cap="sq">
              <a:solidFill>
                <a:srgbClr val="44546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7247852" cy="849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</a:p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Our Solution &amp; Working</a:t>
              </a:r>
            </a:p>
            <a:p>
              <a:pPr algn="ctr">
                <a:lnSpc>
                  <a:spcPts val="341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026193" y="1631698"/>
            <a:ext cx="4312691" cy="637089"/>
            <a:chOff x="0" y="0"/>
            <a:chExt cx="5750255" cy="8494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50179" cy="849503"/>
            </a:xfrm>
            <a:custGeom>
              <a:avLst/>
              <a:gdLst/>
              <a:ahLst/>
              <a:cxnLst/>
              <a:rect r="r" b="b" t="t" l="l"/>
              <a:pathLst>
                <a:path h="849503" w="5750179">
                  <a:moveTo>
                    <a:pt x="0" y="424688"/>
                  </a:moveTo>
                  <a:cubicBezTo>
                    <a:pt x="0" y="190119"/>
                    <a:pt x="190119" y="0"/>
                    <a:pt x="424688" y="0"/>
                  </a:cubicBezTo>
                  <a:lnTo>
                    <a:pt x="5325491" y="0"/>
                  </a:lnTo>
                  <a:cubicBezTo>
                    <a:pt x="5560060" y="0"/>
                    <a:pt x="5750179" y="190119"/>
                    <a:pt x="5750179" y="424688"/>
                  </a:cubicBezTo>
                  <a:cubicBezTo>
                    <a:pt x="5750179" y="659257"/>
                    <a:pt x="5560060" y="849503"/>
                    <a:pt x="5325491" y="849503"/>
                  </a:cubicBezTo>
                  <a:lnTo>
                    <a:pt x="424688" y="849503"/>
                  </a:lnTo>
                  <a:cubicBezTo>
                    <a:pt x="190119" y="849503"/>
                    <a:pt x="0" y="659257"/>
                    <a:pt x="0" y="424688"/>
                  </a:cubicBezTo>
                  <a:close/>
                </a:path>
              </a:pathLst>
            </a:custGeom>
            <a:solidFill>
              <a:srgbClr val="E7E6E6"/>
            </a:solidFill>
            <a:ln w="14288" cap="sq">
              <a:solidFill>
                <a:srgbClr val="44546A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750255" cy="849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Key Features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98740" y="1619554"/>
            <a:ext cx="4312691" cy="637089"/>
            <a:chOff x="0" y="0"/>
            <a:chExt cx="5750255" cy="8494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750179" cy="849503"/>
            </a:xfrm>
            <a:custGeom>
              <a:avLst/>
              <a:gdLst/>
              <a:ahLst/>
              <a:cxnLst/>
              <a:rect r="r" b="b" t="t" l="l"/>
              <a:pathLst>
                <a:path h="849503" w="5750179">
                  <a:moveTo>
                    <a:pt x="0" y="424688"/>
                  </a:moveTo>
                  <a:cubicBezTo>
                    <a:pt x="0" y="190119"/>
                    <a:pt x="190119" y="0"/>
                    <a:pt x="424688" y="0"/>
                  </a:cubicBezTo>
                  <a:lnTo>
                    <a:pt x="5325491" y="0"/>
                  </a:lnTo>
                  <a:cubicBezTo>
                    <a:pt x="5560060" y="0"/>
                    <a:pt x="5750179" y="190119"/>
                    <a:pt x="5750179" y="424688"/>
                  </a:cubicBezTo>
                  <a:cubicBezTo>
                    <a:pt x="5750179" y="659257"/>
                    <a:pt x="5560060" y="849503"/>
                    <a:pt x="5325491" y="849503"/>
                  </a:cubicBezTo>
                  <a:lnTo>
                    <a:pt x="424688" y="849503"/>
                  </a:lnTo>
                  <a:cubicBezTo>
                    <a:pt x="190119" y="849503"/>
                    <a:pt x="0" y="659257"/>
                    <a:pt x="0" y="424688"/>
                  </a:cubicBezTo>
                  <a:close/>
                </a:path>
              </a:pathLst>
            </a:custGeom>
            <a:solidFill>
              <a:srgbClr val="E7E6E6"/>
            </a:solidFill>
            <a:ln w="14288" cap="sq">
              <a:solidFill>
                <a:srgbClr val="44546A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750255" cy="849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Major Problems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864315" y="5036391"/>
            <a:ext cx="7826397" cy="69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b="true" sz="1979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Attaches 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 link, last-updated date, and a real time contact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to every answer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8505" y="2356484"/>
            <a:ext cx="4793247" cy="133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Fragmented Information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BIS standards, certification, licensing and testing info are spread across multiple portals.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97061" y="7084494"/>
            <a:ext cx="451605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Accessibility Gap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Technical BIS information isn't easily accessible in regional languages, voice, or conversational form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18054" y="3915108"/>
            <a:ext cx="4266752" cy="133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Difficult Standard Discovery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struggle to identify the correct Indian Standard from a product description or spec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68612" y="8714574"/>
            <a:ext cx="4623149" cy="132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Trust &amp; Freshness Issues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need assurance that answers reference current, applicable standards — not outdated ones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90663" y="5404789"/>
            <a:ext cx="4408951" cy="114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Complex Certification Process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Certification, testing and scheme requirements often need manual interpretation or outside help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864296" y="3815981"/>
            <a:ext cx="8012249" cy="50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b="true" sz="1979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Matches a description, voice query, or spec sheet to the correct Indian Standard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64315" y="4394710"/>
            <a:ext cx="7826397" cy="34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b="true" sz="1979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Guides 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step-by-step certification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(ISI / CRS / FMCS)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64315" y="4715570"/>
            <a:ext cx="7826397" cy="34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b="true" sz="1979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Verifies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BIS marks and live license status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64315" y="5573362"/>
            <a:ext cx="7826397" cy="34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b="true" sz="1979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Escalates 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low-confidence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answers to the 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BIS helpline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798955" y="6383130"/>
            <a:ext cx="7826397" cy="50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b="true" sz="1979">
                <a:solidFill>
                  <a:srgbClr val="3F8F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RAG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over BIS's Know Your Standard, CRS, and licensing portals — every answer is source-grounded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765560" y="6981319"/>
            <a:ext cx="7826397" cy="36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b="true" sz="1979">
                <a:solidFill>
                  <a:srgbClr val="3F8F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Confidence scoring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— triggers human escalation below a threshold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765560" y="7344793"/>
            <a:ext cx="7826397" cy="36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b="true" sz="1979">
                <a:solidFill>
                  <a:srgbClr val="3F8F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Multilingual NLP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(IndicTrans 2) for Indian-language text and voice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765560" y="7708267"/>
            <a:ext cx="7826397" cy="34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b="true" sz="1979">
                <a:solidFill>
                  <a:srgbClr val="3F8F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b="true" sz="1979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Vision/OCR</a:t>
            </a:r>
            <a:r>
              <a:rPr lang="en-US" sz="197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for spec-sheet and image uploads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607874" y="8118995"/>
            <a:ext cx="3191704" cy="27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How it Works ?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927390" y="2599562"/>
            <a:ext cx="4411494" cy="867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932" indent="-218466" lvl="1">
              <a:lnSpc>
                <a:spcPts val="2246"/>
              </a:lnSpc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Standard Discovery</a:t>
            </a:r>
          </a:p>
          <a:p>
            <a:pPr algn="l">
              <a:lnSpc>
                <a:spcPts val="2147"/>
              </a:lnSpc>
            </a:pP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Product description →applicable BIS standards</a:t>
            </a:r>
          </a:p>
          <a:p>
            <a:pPr algn="l">
              <a:lnSpc>
                <a:spcPts val="2147"/>
              </a:lnSpc>
            </a:pPr>
          </a:p>
          <a:p>
            <a:pPr algn="l" marL="436932" indent="-218466" lvl="1">
              <a:lnSpc>
                <a:spcPts val="2246"/>
              </a:lnSpc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Image/Spec-Sheet Analysis</a:t>
            </a:r>
          </a:p>
          <a:p>
            <a:pPr algn="l">
              <a:lnSpc>
                <a:spcPts val="2147"/>
              </a:lnSpc>
            </a:pP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product/specifications → identify relevant standards</a:t>
            </a:r>
          </a:p>
          <a:p>
            <a:pPr algn="l">
              <a:lnSpc>
                <a:spcPts val="2147"/>
              </a:lnSpc>
            </a:pPr>
          </a:p>
          <a:p>
            <a:pPr algn="l" marL="436932" indent="-218466" lvl="1">
              <a:lnSpc>
                <a:spcPts val="2246"/>
              </a:lnSpc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 cited Answers</a:t>
            </a:r>
          </a:p>
          <a:p>
            <a:pPr algn="l">
              <a:lnSpc>
                <a:spcPts val="2147"/>
              </a:lnSpc>
            </a:pP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</a:t>
            </a: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Exact IS number + clause +official BIS source</a:t>
            </a:r>
          </a:p>
          <a:p>
            <a:pPr algn="l">
              <a:lnSpc>
                <a:spcPts val="2147"/>
              </a:lnSpc>
            </a:pPr>
          </a:p>
          <a:p>
            <a:pPr algn="l" marL="436932" indent="-218466" lvl="1">
              <a:lnSpc>
                <a:spcPts val="2246"/>
              </a:lnSpc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Trust &amp; Freshness Layer</a:t>
            </a:r>
          </a:p>
          <a:p>
            <a:pPr algn="l">
              <a:lnSpc>
                <a:spcPts val="2147"/>
              </a:lnSpc>
            </a:pP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</a:t>
            </a: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Status of the data +confidence score+ last-updated information</a:t>
            </a:r>
          </a:p>
          <a:p>
            <a:pPr algn="l">
              <a:lnSpc>
                <a:spcPts val="2246"/>
              </a:lnSpc>
            </a:pPr>
          </a:p>
          <a:p>
            <a:pPr algn="l" marL="436932" indent="-218466" lvl="1">
              <a:lnSpc>
                <a:spcPts val="2246"/>
              </a:lnSpc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Certification Guidance </a:t>
            </a:r>
          </a:p>
          <a:p>
            <a:pPr algn="l">
              <a:lnSpc>
                <a:spcPts val="2147"/>
              </a:lnSpc>
            </a:pP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</a:t>
            </a: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Step-by-Step guidance for ISI, CRS, FMCS, hallmarking &amp; licensing</a:t>
            </a:r>
          </a:p>
          <a:p>
            <a:pPr algn="l">
              <a:lnSpc>
                <a:spcPts val="2246"/>
              </a:lnSpc>
            </a:pPr>
          </a:p>
          <a:p>
            <a:pPr algn="l" marL="436932" indent="-218466" lvl="1">
              <a:lnSpc>
                <a:spcPts val="2246"/>
              </a:lnSpc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Actionable Results:</a:t>
            </a:r>
          </a:p>
          <a:p>
            <a:pPr algn="l">
              <a:lnSpc>
                <a:spcPts val="2147"/>
              </a:lnSpc>
            </a:pP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</a:t>
            </a: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Official BIS links + relevant testing labs +BIS </a:t>
            </a:r>
          </a:p>
          <a:p>
            <a:pPr algn="l">
              <a:lnSpc>
                <a:spcPts val="2147"/>
              </a:lnSpc>
            </a:pP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contacts</a:t>
            </a:r>
          </a:p>
          <a:p>
            <a:pPr algn="l">
              <a:lnSpc>
                <a:spcPts val="2246"/>
              </a:lnSpc>
            </a:pPr>
          </a:p>
          <a:p>
            <a:pPr algn="l" marL="436932" indent="-218466" lvl="1">
              <a:lnSpc>
                <a:spcPts val="2246"/>
              </a:lnSpc>
              <a:buFont typeface="Arial"/>
              <a:buChar char="•"/>
            </a:pPr>
            <a:r>
              <a:rPr lang="en-US" b="true" sz="202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Multilingual &amp; voice access</a:t>
            </a:r>
          </a:p>
          <a:p>
            <a:pPr algn="l">
              <a:lnSpc>
                <a:spcPts val="2147"/>
              </a:lnSpc>
            </a:pP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</a:t>
            </a:r>
            <a:r>
              <a:rPr lang="en-US" sz="19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Regional-language text/voice interaction through web and WhatsApp/MSMS</a:t>
            </a:r>
          </a:p>
          <a:p>
            <a:pPr algn="l">
              <a:lnSpc>
                <a:spcPts val="2147"/>
              </a:lnSpc>
            </a:pPr>
          </a:p>
          <a:p>
            <a:pPr algn="l">
              <a:lnSpc>
                <a:spcPts val="2147"/>
              </a:lnSpc>
            </a:pPr>
          </a:p>
          <a:p>
            <a:pPr algn="l">
              <a:lnSpc>
                <a:spcPts val="2147"/>
              </a:lnSpc>
            </a:pPr>
          </a:p>
          <a:p>
            <a:pPr algn="l">
              <a:lnSpc>
                <a:spcPts val="2147"/>
              </a:lnSpc>
            </a:pPr>
          </a:p>
          <a:p>
            <a:pPr algn="l">
              <a:lnSpc>
                <a:spcPts val="2147"/>
              </a:lnSpc>
            </a:pPr>
          </a:p>
        </p:txBody>
      </p:sp>
      <p:grpSp>
        <p:nvGrpSpPr>
          <p:cNvPr name="Group 56" id="56"/>
          <p:cNvGrpSpPr/>
          <p:nvPr/>
        </p:nvGrpSpPr>
        <p:grpSpPr>
          <a:xfrm rot="0">
            <a:off x="108475" y="0"/>
            <a:ext cx="3977773" cy="1333088"/>
            <a:chOff x="0" y="0"/>
            <a:chExt cx="5303698" cy="17774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03647" cy="1777392"/>
            </a:xfrm>
            <a:custGeom>
              <a:avLst/>
              <a:gdLst/>
              <a:ahLst/>
              <a:cxnLst/>
              <a:rect r="r" b="b" t="t" l="l"/>
              <a:pathLst>
                <a:path h="1777392" w="5303647">
                  <a:moveTo>
                    <a:pt x="0" y="0"/>
                  </a:moveTo>
                  <a:lnTo>
                    <a:pt x="5303647" y="0"/>
                  </a:lnTo>
                  <a:lnTo>
                    <a:pt x="5303647" y="1777392"/>
                  </a:lnTo>
                  <a:lnTo>
                    <a:pt x="0" y="1777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143" t="-28446" r="0" b="-44676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931750" y="8632659"/>
            <a:ext cx="7438080" cy="1892563"/>
            <a:chOff x="0" y="0"/>
            <a:chExt cx="9917440" cy="252341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751829" y="133737"/>
              <a:ext cx="1119756" cy="1108559"/>
            </a:xfrm>
            <a:custGeom>
              <a:avLst/>
              <a:gdLst/>
              <a:ahLst/>
              <a:cxnLst/>
              <a:rect r="r" b="b" t="t" l="l"/>
              <a:pathLst>
                <a:path h="1108559" w="1119756">
                  <a:moveTo>
                    <a:pt x="0" y="0"/>
                  </a:moveTo>
                  <a:lnTo>
                    <a:pt x="1119756" y="0"/>
                  </a:lnTo>
                  <a:lnTo>
                    <a:pt x="1119756" y="1108559"/>
                  </a:lnTo>
                  <a:lnTo>
                    <a:pt x="0" y="1108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 rot="0">
              <a:off x="1568120" y="1521876"/>
              <a:ext cx="1487174" cy="677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1"/>
                </a:lnSpc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</a:t>
              </a:r>
            </a:p>
            <a:p>
              <a:pPr algn="ctr">
                <a:lnSpc>
                  <a:spcPts val="1981"/>
                </a:lnSpc>
                <a:spcBef>
                  <a:spcPct val="0"/>
                </a:spcBef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&amp; Reconfirm</a:t>
              </a:r>
            </a:p>
          </p:txBody>
        </p:sp>
        <p:sp>
          <p:nvSpPr>
            <p:cNvPr name="Freeform 61" id="61"/>
            <p:cNvSpPr/>
            <p:nvPr/>
          </p:nvSpPr>
          <p:spPr>
            <a:xfrm flipH="false" flipV="false" rot="0">
              <a:off x="3352725" y="123401"/>
              <a:ext cx="1054204" cy="1054204"/>
            </a:xfrm>
            <a:custGeom>
              <a:avLst/>
              <a:gdLst/>
              <a:ahLst/>
              <a:cxnLst/>
              <a:rect r="r" b="b" t="t" l="l"/>
              <a:pathLst>
                <a:path h="1054204" w="1054204">
                  <a:moveTo>
                    <a:pt x="0" y="0"/>
                  </a:moveTo>
                  <a:lnTo>
                    <a:pt x="1054204" y="0"/>
                  </a:lnTo>
                  <a:lnTo>
                    <a:pt x="1054204" y="1054204"/>
                  </a:lnTo>
                  <a:lnTo>
                    <a:pt x="0" y="1054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 rot="0">
              <a:off x="3136240" y="1511539"/>
              <a:ext cx="1487174" cy="1011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1"/>
                </a:lnSpc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</a:t>
              </a:r>
            </a:p>
            <a:p>
              <a:pPr algn="ctr">
                <a:lnSpc>
                  <a:spcPts val="1981"/>
                </a:lnSpc>
                <a:spcBef>
                  <a:spcPct val="0"/>
                </a:spcBef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Applicable standards</a:t>
              </a:r>
            </a:p>
          </p:txBody>
        </p:sp>
        <p:sp>
          <p:nvSpPr>
            <p:cNvPr name="Freeform 63" id="63"/>
            <p:cNvSpPr/>
            <p:nvPr/>
          </p:nvSpPr>
          <p:spPr>
            <a:xfrm flipH="false" flipV="false" rot="0">
              <a:off x="4770916" y="104885"/>
              <a:ext cx="1192169" cy="1192169"/>
            </a:xfrm>
            <a:custGeom>
              <a:avLst/>
              <a:gdLst/>
              <a:ahLst/>
              <a:cxnLst/>
              <a:rect r="r" b="b" t="t" l="l"/>
              <a:pathLst>
                <a:path h="1192169" w="1192169">
                  <a:moveTo>
                    <a:pt x="0" y="0"/>
                  </a:moveTo>
                  <a:lnTo>
                    <a:pt x="1192169" y="0"/>
                  </a:lnTo>
                  <a:lnTo>
                    <a:pt x="1192169" y="1192169"/>
                  </a:lnTo>
                  <a:lnTo>
                    <a:pt x="0" y="1192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 rot="0">
              <a:off x="4623414" y="1521876"/>
              <a:ext cx="1487174" cy="677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1"/>
                </a:lnSpc>
                <a:spcBef>
                  <a:spcPct val="0"/>
                </a:spcBef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 + BIS Sources</a:t>
              </a:r>
            </a:p>
          </p:txBody>
        </p:sp>
        <p:sp>
          <p:nvSpPr>
            <p:cNvPr name="Freeform 65" id="65"/>
            <p:cNvSpPr/>
            <p:nvPr/>
          </p:nvSpPr>
          <p:spPr>
            <a:xfrm flipH="false" flipV="false" rot="0">
              <a:off x="6579109" y="58897"/>
              <a:ext cx="1218524" cy="1218524"/>
            </a:xfrm>
            <a:custGeom>
              <a:avLst/>
              <a:gdLst/>
              <a:ahLst/>
              <a:cxnLst/>
              <a:rect r="r" b="b" t="t" l="l"/>
              <a:pathLst>
                <a:path h="1218524" w="1218524">
                  <a:moveTo>
                    <a:pt x="0" y="0"/>
                  </a:moveTo>
                  <a:lnTo>
                    <a:pt x="1218524" y="0"/>
                  </a:lnTo>
                  <a:lnTo>
                    <a:pt x="1218524" y="1218524"/>
                  </a:lnTo>
                  <a:lnTo>
                    <a:pt x="0" y="1218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 rot="0">
              <a:off x="6277377" y="1475887"/>
              <a:ext cx="1599385" cy="677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1"/>
                </a:lnSpc>
                <a:spcBef>
                  <a:spcPct val="0"/>
                </a:spcBef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 Requirements</a:t>
              </a:r>
            </a:p>
          </p:txBody>
        </p:sp>
        <p:sp>
          <p:nvSpPr>
            <p:cNvPr name="Freeform 67" id="67"/>
            <p:cNvSpPr/>
            <p:nvPr/>
          </p:nvSpPr>
          <p:spPr>
            <a:xfrm flipH="false" flipV="false" rot="0">
              <a:off x="8367434" y="0"/>
              <a:ext cx="1226124" cy="1226124"/>
            </a:xfrm>
            <a:custGeom>
              <a:avLst/>
              <a:gdLst/>
              <a:ahLst/>
              <a:cxnLst/>
              <a:rect r="r" b="b" t="t" l="l"/>
              <a:pathLst>
                <a:path h="1226124" w="1226124">
                  <a:moveTo>
                    <a:pt x="0" y="0"/>
                  </a:moveTo>
                  <a:lnTo>
                    <a:pt x="1226124" y="0"/>
                  </a:lnTo>
                  <a:lnTo>
                    <a:pt x="1226124" y="1226124"/>
                  </a:lnTo>
                  <a:lnTo>
                    <a:pt x="0" y="1226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 rot="0">
              <a:off x="8043551" y="1534784"/>
              <a:ext cx="1873889" cy="677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1"/>
                </a:lnSpc>
                <a:spcBef>
                  <a:spcPct val="0"/>
                </a:spcBef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 Links/  Contact</a:t>
              </a:r>
            </a:p>
          </p:txBody>
        </p:sp>
        <p:sp>
          <p:nvSpPr>
            <p:cNvPr name="Freeform 69" id="69"/>
            <p:cNvSpPr/>
            <p:nvPr/>
          </p:nvSpPr>
          <p:spPr>
            <a:xfrm flipH="false" flipV="false" rot="0">
              <a:off x="261806" y="132264"/>
              <a:ext cx="963561" cy="1082653"/>
            </a:xfrm>
            <a:custGeom>
              <a:avLst/>
              <a:gdLst/>
              <a:ahLst/>
              <a:cxnLst/>
              <a:rect r="r" b="b" t="t" l="l"/>
              <a:pathLst>
                <a:path h="1082653" w="963561">
                  <a:moveTo>
                    <a:pt x="0" y="0"/>
                  </a:moveTo>
                  <a:lnTo>
                    <a:pt x="963562" y="0"/>
                  </a:lnTo>
                  <a:lnTo>
                    <a:pt x="963562" y="1082653"/>
                  </a:lnTo>
                  <a:lnTo>
                    <a:pt x="0" y="1082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 rot="0">
              <a:off x="0" y="1494497"/>
              <a:ext cx="1487174" cy="677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1"/>
                </a:lnSpc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Query/</a:t>
              </a:r>
            </a:p>
            <a:p>
              <a:pPr algn="ctr">
                <a:lnSpc>
                  <a:spcPts val="1981"/>
                </a:lnSpc>
                <a:spcBef>
                  <a:spcPct val="0"/>
                </a:spcBef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</a:t>
              </a:r>
            </a:p>
          </p:txBody>
        </p:sp>
        <p:sp>
          <p:nvSpPr>
            <p:cNvPr name="AutoShape 71" id="71"/>
            <p:cNvSpPr/>
            <p:nvPr/>
          </p:nvSpPr>
          <p:spPr>
            <a:xfrm flipV="true">
              <a:off x="1317941" y="829976"/>
              <a:ext cx="338466" cy="0"/>
            </a:xfrm>
            <a:prstGeom prst="line">
              <a:avLst/>
            </a:prstGeom>
            <a:ln cap="flat" w="3516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72" id="72"/>
            <p:cNvSpPr/>
            <p:nvPr/>
          </p:nvSpPr>
          <p:spPr>
            <a:xfrm flipV="true">
              <a:off x="6100479" y="812392"/>
              <a:ext cx="338466" cy="0"/>
            </a:xfrm>
            <a:prstGeom prst="line">
              <a:avLst/>
            </a:prstGeom>
            <a:ln cap="flat" w="3516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73" id="73"/>
            <p:cNvSpPr/>
            <p:nvPr/>
          </p:nvSpPr>
          <p:spPr>
            <a:xfrm flipV="true">
              <a:off x="4284948" y="794808"/>
              <a:ext cx="338466" cy="0"/>
            </a:xfrm>
            <a:prstGeom prst="line">
              <a:avLst/>
            </a:prstGeom>
            <a:ln cap="flat" w="3516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74" id="74"/>
            <p:cNvSpPr/>
            <p:nvPr/>
          </p:nvSpPr>
          <p:spPr>
            <a:xfrm flipV="true">
              <a:off x="3055294" y="812392"/>
              <a:ext cx="338466" cy="0"/>
            </a:xfrm>
            <a:prstGeom prst="line">
              <a:avLst/>
            </a:prstGeom>
            <a:ln cap="flat" w="3516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75" id="75"/>
            <p:cNvSpPr/>
            <p:nvPr/>
          </p:nvSpPr>
          <p:spPr>
            <a:xfrm flipV="true">
              <a:off x="7836882" y="812392"/>
              <a:ext cx="338466" cy="0"/>
            </a:xfrm>
            <a:prstGeom prst="line">
              <a:avLst/>
            </a:prstGeom>
            <a:ln cap="flat" w="3516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6015" y="-189528"/>
            <a:ext cx="15318448" cy="1593447"/>
            <a:chOff x="0" y="0"/>
            <a:chExt cx="20424597" cy="21245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24600" cy="2124600"/>
            </a:xfrm>
            <a:custGeom>
              <a:avLst/>
              <a:gdLst/>
              <a:ahLst/>
              <a:cxnLst/>
              <a:rect r="r" b="b" t="t" l="l"/>
              <a:pathLst>
                <a:path h="2124600" w="20424600">
                  <a:moveTo>
                    <a:pt x="0" y="0"/>
                  </a:moveTo>
                  <a:lnTo>
                    <a:pt x="20424600" y="0"/>
                  </a:lnTo>
                  <a:lnTo>
                    <a:pt x="20424600" y="2124600"/>
                  </a:lnTo>
                  <a:lnTo>
                    <a:pt x="0" y="2124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17" r="0" b="-1373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424597" cy="2153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8527" y="1271302"/>
            <a:ext cx="3511687" cy="829437"/>
            <a:chOff x="0" y="0"/>
            <a:chExt cx="4682249" cy="11059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82236" cy="1105967"/>
            </a:xfrm>
            <a:custGeom>
              <a:avLst/>
              <a:gdLst/>
              <a:ahLst/>
              <a:cxnLst/>
              <a:rect r="r" b="b" t="t" l="l"/>
              <a:pathLst>
                <a:path h="1105967" w="4682236">
                  <a:moveTo>
                    <a:pt x="0" y="552996"/>
                  </a:moveTo>
                  <a:cubicBezTo>
                    <a:pt x="0" y="247630"/>
                    <a:pt x="167767" y="0"/>
                    <a:pt x="374650" y="0"/>
                  </a:cubicBezTo>
                  <a:lnTo>
                    <a:pt x="4307586" y="0"/>
                  </a:lnTo>
                  <a:cubicBezTo>
                    <a:pt x="4514469" y="0"/>
                    <a:pt x="4682236" y="247630"/>
                    <a:pt x="4682236" y="552996"/>
                  </a:cubicBezTo>
                  <a:cubicBezTo>
                    <a:pt x="4682236" y="858361"/>
                    <a:pt x="4514469" y="1105967"/>
                    <a:pt x="4307586" y="1105967"/>
                  </a:cubicBezTo>
                  <a:lnTo>
                    <a:pt x="374650" y="1105967"/>
                  </a:lnTo>
                  <a:cubicBezTo>
                    <a:pt x="167767" y="1105967"/>
                    <a:pt x="0" y="858361"/>
                    <a:pt x="0" y="552996"/>
                  </a:cubicBezTo>
                  <a:close/>
                </a:path>
              </a:pathLst>
            </a:custGeom>
            <a:solidFill>
              <a:srgbClr val="E7E6E6"/>
            </a:solidFill>
            <a:ln w="14288" cap="sq">
              <a:solidFill>
                <a:srgbClr val="44546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682249" cy="1115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7303A"/>
                  </a:solidFill>
                  <a:latin typeface="Oswald"/>
                  <a:ea typeface="Oswald"/>
                  <a:cs typeface="Oswald"/>
                  <a:sym typeface="Oswald"/>
                </a:rPr>
                <a:t>Clarification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2012"/>
            <a:ext cx="3977773" cy="1170375"/>
            <a:chOff x="0" y="0"/>
            <a:chExt cx="5303698" cy="1560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647" cy="1560449"/>
            </a:xfrm>
            <a:custGeom>
              <a:avLst/>
              <a:gdLst/>
              <a:ahLst/>
              <a:cxnLst/>
              <a:rect r="r" b="b" t="t" l="l"/>
              <a:pathLst>
                <a:path h="1560449" w="5303647">
                  <a:moveTo>
                    <a:pt x="0" y="0"/>
                  </a:moveTo>
                  <a:lnTo>
                    <a:pt x="5303647" y="0"/>
                  </a:lnTo>
                  <a:lnTo>
                    <a:pt x="5303647" y="1560449"/>
                  </a:lnTo>
                  <a:lnTo>
                    <a:pt x="0" y="1560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43" t="-39353" r="0" b="-578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79086" y="-129311"/>
            <a:ext cx="3566160" cy="1681582"/>
            <a:chOff x="0" y="0"/>
            <a:chExt cx="4754880" cy="22421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2242058"/>
            </a:xfrm>
            <a:custGeom>
              <a:avLst/>
              <a:gdLst/>
              <a:ahLst/>
              <a:cxnLst/>
              <a:rect r="r" b="b" t="t" l="l"/>
              <a:pathLst>
                <a:path h="224205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242058"/>
                  </a:lnTo>
                  <a:lnTo>
                    <a:pt x="0" y="2242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35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34977" y="2176939"/>
            <a:ext cx="3958787" cy="8035805"/>
          </a:xfrm>
          <a:custGeom>
            <a:avLst/>
            <a:gdLst/>
            <a:ahLst/>
            <a:cxnLst/>
            <a:rect r="r" b="b" t="t" l="l"/>
            <a:pathLst>
              <a:path h="8035805" w="3958787">
                <a:moveTo>
                  <a:pt x="0" y="0"/>
                </a:moveTo>
                <a:lnTo>
                  <a:pt x="3958787" y="0"/>
                </a:lnTo>
                <a:lnTo>
                  <a:pt x="3958787" y="8035805"/>
                </a:lnTo>
                <a:lnTo>
                  <a:pt x="0" y="80358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959" t="0" r="-18477" b="-822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293764" y="1686020"/>
            <a:ext cx="13751482" cy="8412722"/>
            <a:chOff x="0" y="0"/>
            <a:chExt cx="18335309" cy="1121696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708271" y="176898"/>
              <a:ext cx="2254757" cy="1350759"/>
              <a:chOff x="0" y="0"/>
              <a:chExt cx="689316" cy="41294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89316" cy="412949"/>
              </a:xfrm>
              <a:custGeom>
                <a:avLst/>
                <a:gdLst/>
                <a:ahLst/>
                <a:cxnLst/>
                <a:rect r="r" b="b" t="t" l="l"/>
                <a:pathLst>
                  <a:path h="412949" w="689316">
                    <a:moveTo>
                      <a:pt x="89957" y="0"/>
                    </a:moveTo>
                    <a:lnTo>
                      <a:pt x="599359" y="0"/>
                    </a:lnTo>
                    <a:cubicBezTo>
                      <a:pt x="623217" y="0"/>
                      <a:pt x="646098" y="9478"/>
                      <a:pt x="662968" y="26348"/>
                    </a:cubicBezTo>
                    <a:cubicBezTo>
                      <a:pt x="679838" y="43218"/>
                      <a:pt x="689316" y="66099"/>
                      <a:pt x="689316" y="89957"/>
                    </a:cubicBezTo>
                    <a:lnTo>
                      <a:pt x="689316" y="322992"/>
                    </a:lnTo>
                    <a:cubicBezTo>
                      <a:pt x="689316" y="372674"/>
                      <a:pt x="649041" y="412949"/>
                      <a:pt x="599359" y="412949"/>
                    </a:cubicBezTo>
                    <a:lnTo>
                      <a:pt x="89957" y="412949"/>
                    </a:lnTo>
                    <a:cubicBezTo>
                      <a:pt x="66099" y="412949"/>
                      <a:pt x="43218" y="403471"/>
                      <a:pt x="26348" y="386601"/>
                    </a:cubicBezTo>
                    <a:cubicBezTo>
                      <a:pt x="9478" y="369731"/>
                      <a:pt x="0" y="346850"/>
                      <a:pt x="0" y="322992"/>
                    </a:cubicBezTo>
                    <a:lnTo>
                      <a:pt x="0" y="89957"/>
                    </a:lnTo>
                    <a:cubicBezTo>
                      <a:pt x="0" y="40275"/>
                      <a:pt x="40275" y="0"/>
                      <a:pt x="89957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689316" cy="431999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22222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1. USER INPUT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22222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Text / Voice / Image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22222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(Web / WhatsApp / SMS)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9520503" y="190088"/>
              <a:ext cx="2676039" cy="1324379"/>
              <a:chOff x="0" y="0"/>
              <a:chExt cx="1012635" cy="50115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12635" cy="501156"/>
              </a:xfrm>
              <a:custGeom>
                <a:avLst/>
                <a:gdLst/>
                <a:ahLst/>
                <a:cxnLst/>
                <a:rect r="r" b="b" t="t" l="l"/>
                <a:pathLst>
                  <a:path h="501156" w="1012635">
                    <a:moveTo>
                      <a:pt x="506318" y="0"/>
                    </a:moveTo>
                    <a:lnTo>
                      <a:pt x="1012635" y="250578"/>
                    </a:lnTo>
                    <a:lnTo>
                      <a:pt x="506318" y="501156"/>
                    </a:lnTo>
                    <a:lnTo>
                      <a:pt x="0" y="250578"/>
                    </a:lnTo>
                    <a:lnTo>
                      <a:pt x="506318" y="0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74047" y="67086"/>
                <a:ext cx="664542" cy="347934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20"/>
                  </a:lnSpc>
                </a:pPr>
                <a:r>
                  <a:rPr lang="en-US" sz="1183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Conversational /</a:t>
                </a:r>
              </a:p>
              <a:p>
                <a:pPr algn="ctr">
                  <a:lnSpc>
                    <a:spcPts val="1420"/>
                  </a:lnSpc>
                </a:pPr>
                <a:r>
                  <a:rPr lang="en-US" b="true" sz="1183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General Query?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721323" y="2020482"/>
              <a:ext cx="4413702" cy="822700"/>
              <a:chOff x="0" y="0"/>
              <a:chExt cx="1196691" cy="22305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96691" cy="223059"/>
              </a:xfrm>
              <a:custGeom>
                <a:avLst/>
                <a:gdLst/>
                <a:ahLst/>
                <a:cxnLst/>
                <a:rect r="r" b="b" t="t" l="l"/>
                <a:pathLst>
                  <a:path h="223059" w="1196691">
                    <a:moveTo>
                      <a:pt x="0" y="0"/>
                    </a:moveTo>
                    <a:lnTo>
                      <a:pt x="1196691" y="0"/>
                    </a:lnTo>
                    <a:lnTo>
                      <a:pt x="1196691" y="223059"/>
                    </a:lnTo>
                    <a:lnTo>
                      <a:pt x="0" y="223059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1196691" cy="242109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4. QUERY RECONFIRMATION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“Here’s what I understood can I confirm it ?”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428410" y="176898"/>
              <a:ext cx="2464134" cy="1350759"/>
              <a:chOff x="0" y="0"/>
              <a:chExt cx="753325" cy="41294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53325" cy="412949"/>
              </a:xfrm>
              <a:custGeom>
                <a:avLst/>
                <a:gdLst/>
                <a:ahLst/>
                <a:cxnLst/>
                <a:rect r="r" b="b" t="t" l="l"/>
                <a:pathLst>
                  <a:path h="412949" w="753325">
                    <a:moveTo>
                      <a:pt x="82313" y="0"/>
                    </a:moveTo>
                    <a:lnTo>
                      <a:pt x="671012" y="0"/>
                    </a:lnTo>
                    <a:cubicBezTo>
                      <a:pt x="716472" y="0"/>
                      <a:pt x="753325" y="36853"/>
                      <a:pt x="753325" y="82313"/>
                    </a:cubicBezTo>
                    <a:lnTo>
                      <a:pt x="753325" y="330636"/>
                    </a:lnTo>
                    <a:cubicBezTo>
                      <a:pt x="753325" y="376096"/>
                      <a:pt x="716472" y="412949"/>
                      <a:pt x="671012" y="412949"/>
                    </a:cubicBezTo>
                    <a:lnTo>
                      <a:pt x="82313" y="412949"/>
                    </a:lnTo>
                    <a:cubicBezTo>
                      <a:pt x="60482" y="412949"/>
                      <a:pt x="39546" y="404277"/>
                      <a:pt x="24109" y="388840"/>
                    </a:cubicBezTo>
                    <a:cubicBezTo>
                      <a:pt x="8672" y="373403"/>
                      <a:pt x="0" y="352466"/>
                      <a:pt x="0" y="330636"/>
                    </a:cubicBezTo>
                    <a:lnTo>
                      <a:pt x="0" y="82313"/>
                    </a:lnTo>
                    <a:cubicBezTo>
                      <a:pt x="0" y="36853"/>
                      <a:pt x="36853" y="0"/>
                      <a:pt x="8231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753325" cy="431999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2. ROLE SELECTOR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(First-time only)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Consumer / MSME /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Student / Manufacturer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6654434" y="43539"/>
              <a:ext cx="2254757" cy="1617478"/>
              <a:chOff x="0" y="0"/>
              <a:chExt cx="689316" cy="49448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89316" cy="494489"/>
              </a:xfrm>
              <a:custGeom>
                <a:avLst/>
                <a:gdLst/>
                <a:ahLst/>
                <a:cxnLst/>
                <a:rect r="r" b="b" t="t" l="l"/>
                <a:pathLst>
                  <a:path h="494489" w="689316">
                    <a:moveTo>
                      <a:pt x="89957" y="0"/>
                    </a:moveTo>
                    <a:lnTo>
                      <a:pt x="599359" y="0"/>
                    </a:lnTo>
                    <a:cubicBezTo>
                      <a:pt x="623217" y="0"/>
                      <a:pt x="646098" y="9478"/>
                      <a:pt x="662968" y="26348"/>
                    </a:cubicBezTo>
                    <a:cubicBezTo>
                      <a:pt x="679838" y="43218"/>
                      <a:pt x="689316" y="66099"/>
                      <a:pt x="689316" y="89957"/>
                    </a:cubicBezTo>
                    <a:lnTo>
                      <a:pt x="689316" y="404532"/>
                    </a:lnTo>
                    <a:cubicBezTo>
                      <a:pt x="689316" y="454214"/>
                      <a:pt x="649041" y="494489"/>
                      <a:pt x="599359" y="494489"/>
                    </a:cubicBezTo>
                    <a:lnTo>
                      <a:pt x="89957" y="494489"/>
                    </a:lnTo>
                    <a:cubicBezTo>
                      <a:pt x="66099" y="494489"/>
                      <a:pt x="43218" y="485012"/>
                      <a:pt x="26348" y="468141"/>
                    </a:cubicBezTo>
                    <a:cubicBezTo>
                      <a:pt x="9478" y="451271"/>
                      <a:pt x="0" y="428390"/>
                      <a:pt x="0" y="404532"/>
                    </a:cubicBezTo>
                    <a:lnTo>
                      <a:pt x="0" y="89957"/>
                    </a:lnTo>
                    <a:cubicBezTo>
                      <a:pt x="0" y="40275"/>
                      <a:pt x="40275" y="0"/>
                      <a:pt x="89957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689316" cy="513539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3. INPUT UNDERSTANDING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- Language Parser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- Audio Parser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- Image / OCR Parser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5004197" y="3162453"/>
              <a:ext cx="2607612" cy="1465678"/>
              <a:chOff x="0" y="0"/>
              <a:chExt cx="891615" cy="50115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91615" cy="501156"/>
              </a:xfrm>
              <a:custGeom>
                <a:avLst/>
                <a:gdLst/>
                <a:ahLst/>
                <a:cxnLst/>
                <a:rect r="r" b="b" t="t" l="l"/>
                <a:pathLst>
                  <a:path h="501156" w="891615">
                    <a:moveTo>
                      <a:pt x="445807" y="0"/>
                    </a:moveTo>
                    <a:lnTo>
                      <a:pt x="891615" y="250578"/>
                    </a:lnTo>
                    <a:lnTo>
                      <a:pt x="445807" y="501156"/>
                    </a:lnTo>
                    <a:lnTo>
                      <a:pt x="0" y="250578"/>
                    </a:lnTo>
                    <a:lnTo>
                      <a:pt x="445807" y="0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53246" y="67086"/>
                <a:ext cx="585122" cy="347934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l" marL="259587" indent="-129793" lvl="1">
                  <a:lnSpc>
                    <a:spcPts val="1442"/>
                  </a:lnSpc>
                  <a:buAutoNum type="arabicPeriod" startAt="1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SUFFICIENT CONTEXT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9273512" y="2185038"/>
              <a:ext cx="4158053" cy="2412574"/>
              <a:chOff x="0" y="0"/>
              <a:chExt cx="849119" cy="49267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49119" cy="492673"/>
              </a:xfrm>
              <a:custGeom>
                <a:avLst/>
                <a:gdLst/>
                <a:ahLst/>
                <a:cxnLst/>
                <a:rect r="r" b="b" t="t" l="l"/>
                <a:pathLst>
                  <a:path h="492673" w="849119">
                    <a:moveTo>
                      <a:pt x="48780" y="0"/>
                    </a:moveTo>
                    <a:lnTo>
                      <a:pt x="800339" y="0"/>
                    </a:lnTo>
                    <a:cubicBezTo>
                      <a:pt x="813276" y="0"/>
                      <a:pt x="825683" y="5139"/>
                      <a:pt x="834831" y="14287"/>
                    </a:cubicBezTo>
                    <a:cubicBezTo>
                      <a:pt x="843979" y="23435"/>
                      <a:pt x="849119" y="35843"/>
                      <a:pt x="849119" y="48780"/>
                    </a:cubicBezTo>
                    <a:lnTo>
                      <a:pt x="849119" y="443893"/>
                    </a:lnTo>
                    <a:cubicBezTo>
                      <a:pt x="849119" y="456831"/>
                      <a:pt x="843979" y="469238"/>
                      <a:pt x="834831" y="478386"/>
                    </a:cubicBezTo>
                    <a:cubicBezTo>
                      <a:pt x="825683" y="487534"/>
                      <a:pt x="813276" y="492673"/>
                      <a:pt x="800339" y="492673"/>
                    </a:cubicBezTo>
                    <a:lnTo>
                      <a:pt x="48780" y="492673"/>
                    </a:lnTo>
                    <a:cubicBezTo>
                      <a:pt x="21840" y="492673"/>
                      <a:pt x="0" y="470834"/>
                      <a:pt x="0" y="443893"/>
                    </a:cubicBezTo>
                    <a:lnTo>
                      <a:pt x="0" y="48780"/>
                    </a:lnTo>
                    <a:cubicBezTo>
                      <a:pt x="0" y="35843"/>
                      <a:pt x="5139" y="23435"/>
                      <a:pt x="14287" y="14287"/>
                    </a:cubicBezTo>
                    <a:cubicBezTo>
                      <a:pt x="23435" y="5139"/>
                      <a:pt x="35843" y="0"/>
                      <a:pt x="48780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849119" cy="511723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6. RAG RETRIEVAL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Standards / Clauses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Status (Active / Revised / </a:t>
                </a: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Withdrawn)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License / BIS Mark Lookup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Scheme / Certification Details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Guidelines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664622" y="3806982"/>
              <a:ext cx="3046993" cy="859822"/>
              <a:chOff x="0" y="0"/>
              <a:chExt cx="826134" cy="23312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26134" cy="233124"/>
              </a:xfrm>
              <a:custGeom>
                <a:avLst/>
                <a:gdLst/>
                <a:ahLst/>
                <a:cxnLst/>
                <a:rect r="r" b="b" t="t" l="l"/>
                <a:pathLst>
                  <a:path h="233124" w="826134">
                    <a:moveTo>
                      <a:pt x="0" y="0"/>
                    </a:moveTo>
                    <a:lnTo>
                      <a:pt x="826134" y="0"/>
                    </a:lnTo>
                    <a:lnTo>
                      <a:pt x="826134" y="233124"/>
                    </a:lnTo>
                    <a:lnTo>
                      <a:pt x="0" y="233124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826134" cy="252174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CLARIFYING QUESTIONS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(Slot Filling)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5384003" y="4741118"/>
              <a:ext cx="3201358" cy="817321"/>
              <a:chOff x="0" y="0"/>
              <a:chExt cx="924480" cy="23602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24480" cy="236024"/>
              </a:xfrm>
              <a:custGeom>
                <a:avLst/>
                <a:gdLst/>
                <a:ahLst/>
                <a:cxnLst/>
                <a:rect r="r" b="b" t="t" l="l"/>
                <a:pathLst>
                  <a:path h="236024" w="924480">
                    <a:moveTo>
                      <a:pt x="0" y="0"/>
                    </a:moveTo>
                    <a:lnTo>
                      <a:pt x="924480" y="0"/>
                    </a:lnTo>
                    <a:lnTo>
                      <a:pt x="924480" y="236024"/>
                    </a:lnTo>
                    <a:lnTo>
                      <a:pt x="0" y="236024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9050"/>
                <a:ext cx="924480" cy="255074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7. EVIDENCE VERIFICATION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(Relevance, Validity, Freshness)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9774685" y="6002513"/>
              <a:ext cx="1893014" cy="1119959"/>
              <a:chOff x="0" y="0"/>
              <a:chExt cx="689316" cy="40781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89316" cy="407818"/>
              </a:xfrm>
              <a:custGeom>
                <a:avLst/>
                <a:gdLst/>
                <a:ahLst/>
                <a:cxnLst/>
                <a:rect r="r" b="b" t="t" l="l"/>
                <a:pathLst>
                  <a:path h="407818" w="689316">
                    <a:moveTo>
                      <a:pt x="107147" y="0"/>
                    </a:moveTo>
                    <a:lnTo>
                      <a:pt x="582169" y="0"/>
                    </a:lnTo>
                    <a:cubicBezTo>
                      <a:pt x="610586" y="0"/>
                      <a:pt x="637839" y="11289"/>
                      <a:pt x="657933" y="31383"/>
                    </a:cubicBezTo>
                    <a:cubicBezTo>
                      <a:pt x="678027" y="51477"/>
                      <a:pt x="689316" y="78730"/>
                      <a:pt x="689316" y="107147"/>
                    </a:cubicBezTo>
                    <a:lnTo>
                      <a:pt x="689316" y="300671"/>
                    </a:lnTo>
                    <a:cubicBezTo>
                      <a:pt x="689316" y="329088"/>
                      <a:pt x="678027" y="356342"/>
                      <a:pt x="657933" y="376436"/>
                    </a:cubicBezTo>
                    <a:cubicBezTo>
                      <a:pt x="637839" y="396530"/>
                      <a:pt x="610586" y="407818"/>
                      <a:pt x="582169" y="407818"/>
                    </a:cubicBezTo>
                    <a:lnTo>
                      <a:pt x="107147" y="407818"/>
                    </a:lnTo>
                    <a:cubicBezTo>
                      <a:pt x="78730" y="407818"/>
                      <a:pt x="51477" y="396530"/>
                      <a:pt x="31383" y="376436"/>
                    </a:cubicBezTo>
                    <a:cubicBezTo>
                      <a:pt x="11289" y="356342"/>
                      <a:pt x="0" y="329088"/>
                      <a:pt x="0" y="300671"/>
                    </a:cubicBezTo>
                    <a:lnTo>
                      <a:pt x="0" y="107147"/>
                    </a:lnTo>
                    <a:cubicBezTo>
                      <a:pt x="0" y="78730"/>
                      <a:pt x="11289" y="51477"/>
                      <a:pt x="31383" y="31383"/>
                    </a:cubicBezTo>
                    <a:cubicBezTo>
                      <a:pt x="51477" y="11289"/>
                      <a:pt x="78730" y="0"/>
                      <a:pt x="107147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689316" cy="426868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OUT OF SCOPE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Safe Fallback /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BIS Helpline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5384003" y="8773199"/>
              <a:ext cx="2607612" cy="556426"/>
              <a:chOff x="0" y="0"/>
              <a:chExt cx="753019" cy="160683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53019" cy="160683"/>
              </a:xfrm>
              <a:custGeom>
                <a:avLst/>
                <a:gdLst/>
                <a:ahLst/>
                <a:cxnLst/>
                <a:rect r="r" b="b" t="t" l="l"/>
                <a:pathLst>
                  <a:path h="160683" w="753019">
                    <a:moveTo>
                      <a:pt x="0" y="0"/>
                    </a:moveTo>
                    <a:lnTo>
                      <a:pt x="753019" y="0"/>
                    </a:lnTo>
                    <a:lnTo>
                      <a:pt x="753019" y="160683"/>
                    </a:lnTo>
                    <a:lnTo>
                      <a:pt x="0" y="160683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19050"/>
                <a:ext cx="753019" cy="179733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10. CONFIDENCE CHECK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5091632" y="7945835"/>
              <a:ext cx="3190354" cy="581511"/>
              <a:chOff x="0" y="0"/>
              <a:chExt cx="921302" cy="167927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921302" cy="167927"/>
              </a:xfrm>
              <a:custGeom>
                <a:avLst/>
                <a:gdLst/>
                <a:ahLst/>
                <a:cxnLst/>
                <a:rect r="r" b="b" t="t" l="l"/>
                <a:pathLst>
                  <a:path h="167927" w="921302">
                    <a:moveTo>
                      <a:pt x="0" y="0"/>
                    </a:moveTo>
                    <a:lnTo>
                      <a:pt x="921302" y="0"/>
                    </a:lnTo>
                    <a:lnTo>
                      <a:pt x="921302" y="167927"/>
                    </a:lnTo>
                    <a:lnTo>
                      <a:pt x="0" y="167927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28575"/>
                <a:ext cx="921302" cy="196502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797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9605159" y="8626026"/>
              <a:ext cx="2232066" cy="850773"/>
              <a:chOff x="0" y="0"/>
              <a:chExt cx="644570" cy="24568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644570" cy="245684"/>
              </a:xfrm>
              <a:custGeom>
                <a:avLst/>
                <a:gdLst/>
                <a:ahLst/>
                <a:cxnLst/>
                <a:rect r="r" b="b" t="t" l="l"/>
                <a:pathLst>
                  <a:path h="245684" w="644570">
                    <a:moveTo>
                      <a:pt x="0" y="0"/>
                    </a:moveTo>
                    <a:lnTo>
                      <a:pt x="644570" y="0"/>
                    </a:lnTo>
                    <a:lnTo>
                      <a:pt x="644570" y="245684"/>
                    </a:lnTo>
                    <a:lnTo>
                      <a:pt x="0" y="245684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28575"/>
                <a:ext cx="644570" cy="274259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531"/>
                  </a:lnSpc>
                </a:pPr>
                <a:r>
                  <a:rPr lang="en-US" sz="1276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ESCALATE</a:t>
                </a:r>
              </a:p>
              <a:p>
                <a:pPr algn="ctr">
                  <a:lnSpc>
                    <a:spcPts val="1531"/>
                  </a:lnSpc>
                </a:pPr>
                <a:r>
                  <a:rPr lang="en-US" b="true" sz="1276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to BIS Helpline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611243" y="5890099"/>
              <a:ext cx="2943674" cy="1323869"/>
              <a:chOff x="0" y="0"/>
              <a:chExt cx="850067" cy="382304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50067" cy="382304"/>
              </a:xfrm>
              <a:custGeom>
                <a:avLst/>
                <a:gdLst/>
                <a:ahLst/>
                <a:cxnLst/>
                <a:rect r="r" b="b" t="t" l="l"/>
                <a:pathLst>
                  <a:path h="382304" w="850067">
                    <a:moveTo>
                      <a:pt x="0" y="0"/>
                    </a:moveTo>
                    <a:lnTo>
                      <a:pt x="850067" y="0"/>
                    </a:lnTo>
                    <a:lnTo>
                      <a:pt x="850067" y="382304"/>
                    </a:lnTo>
                    <a:lnTo>
                      <a:pt x="0" y="382304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9050"/>
                <a:ext cx="850067" cy="401354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9a. FALLBACK ENGINE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(Retrieve relevant chunks</a:t>
                </a:r>
              </a:p>
              <a:p>
                <a:pPr algn="ctr">
                  <a:lnSpc>
                    <a:spcPts val="1442"/>
                  </a:lnSpc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and generate a safe answer)</a:t>
                </a:r>
              </a:p>
            </p:txBody>
          </p:sp>
        </p:grpSp>
        <p:sp>
          <p:nvSpPr>
            <p:cNvPr name="AutoShape 56" id="56"/>
            <p:cNvSpPr/>
            <p:nvPr/>
          </p:nvSpPr>
          <p:spPr>
            <a:xfrm>
              <a:off x="2963028" y="852278"/>
              <a:ext cx="465382" cy="0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7" id="57"/>
            <p:cNvSpPr/>
            <p:nvPr/>
          </p:nvSpPr>
          <p:spPr>
            <a:xfrm>
              <a:off x="5892544" y="852278"/>
              <a:ext cx="761890" cy="0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8" id="58"/>
            <p:cNvSpPr/>
            <p:nvPr/>
          </p:nvSpPr>
          <p:spPr>
            <a:xfrm flipV="true">
              <a:off x="8909192" y="852278"/>
              <a:ext cx="611311" cy="0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6308003" y="2843182"/>
              <a:ext cx="0" cy="319270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60" id="60"/>
            <p:cNvSpPr/>
            <p:nvPr/>
          </p:nvSpPr>
          <p:spPr>
            <a:xfrm>
              <a:off x="6723698" y="5553418"/>
              <a:ext cx="3710" cy="357943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61" id="61"/>
            <p:cNvSpPr/>
            <p:nvPr/>
          </p:nvSpPr>
          <p:spPr>
            <a:xfrm flipH="true">
              <a:off x="6686809" y="7287475"/>
              <a:ext cx="40599" cy="658360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62" id="62"/>
            <p:cNvSpPr/>
            <p:nvPr/>
          </p:nvSpPr>
          <p:spPr>
            <a:xfrm flipV="true">
              <a:off x="7765081" y="6562493"/>
              <a:ext cx="2009604" cy="36925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63" id="63"/>
            <p:cNvSpPr/>
            <p:nvPr/>
          </p:nvSpPr>
          <p:spPr>
            <a:xfrm flipH="true" flipV="true">
              <a:off x="3554917" y="6552034"/>
              <a:ext cx="2134818" cy="47384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64" id="64"/>
            <p:cNvSpPr/>
            <p:nvPr/>
          </p:nvSpPr>
          <p:spPr>
            <a:xfrm>
              <a:off x="6686809" y="8527347"/>
              <a:ext cx="1000" cy="245852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65" id="65"/>
            <p:cNvGrpSpPr/>
            <p:nvPr/>
          </p:nvGrpSpPr>
          <p:grpSpPr>
            <a:xfrm rot="0">
              <a:off x="14216340" y="0"/>
              <a:ext cx="3888400" cy="5613701"/>
              <a:chOff x="0" y="0"/>
              <a:chExt cx="791546" cy="1142758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791546" cy="1142758"/>
              </a:xfrm>
              <a:custGeom>
                <a:avLst/>
                <a:gdLst/>
                <a:ahLst/>
                <a:cxnLst/>
                <a:rect r="r" b="b" t="t" l="l"/>
                <a:pathLst>
                  <a:path h="1142758" w="791546">
                    <a:moveTo>
                      <a:pt x="52163" y="0"/>
                    </a:moveTo>
                    <a:lnTo>
                      <a:pt x="739383" y="0"/>
                    </a:lnTo>
                    <a:cubicBezTo>
                      <a:pt x="768192" y="0"/>
                      <a:pt x="791546" y="23354"/>
                      <a:pt x="791546" y="52163"/>
                    </a:cubicBezTo>
                    <a:lnTo>
                      <a:pt x="791546" y="1090595"/>
                    </a:lnTo>
                    <a:cubicBezTo>
                      <a:pt x="791546" y="1104430"/>
                      <a:pt x="786050" y="1117697"/>
                      <a:pt x="776268" y="1127480"/>
                    </a:cubicBezTo>
                    <a:cubicBezTo>
                      <a:pt x="766485" y="1137262"/>
                      <a:pt x="753217" y="1142758"/>
                      <a:pt x="739383" y="1142758"/>
                    </a:cubicBezTo>
                    <a:lnTo>
                      <a:pt x="52163" y="1142758"/>
                    </a:lnTo>
                    <a:cubicBezTo>
                      <a:pt x="38329" y="1142758"/>
                      <a:pt x="25061" y="1137262"/>
                      <a:pt x="15278" y="1127480"/>
                    </a:cubicBezTo>
                    <a:cubicBezTo>
                      <a:pt x="5496" y="1117697"/>
                      <a:pt x="0" y="1104430"/>
                      <a:pt x="0" y="1090595"/>
                    </a:cubicBezTo>
                    <a:lnTo>
                      <a:pt x="0" y="52163"/>
                    </a:lnTo>
                    <a:cubicBezTo>
                      <a:pt x="0" y="23354"/>
                      <a:pt x="23354" y="0"/>
                      <a:pt x="5216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791546" cy="1180858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2064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14374322" y="2395500"/>
              <a:ext cx="3598653" cy="2999583"/>
              <a:chOff x="0" y="0"/>
              <a:chExt cx="1084833" cy="90424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084833" cy="904240"/>
              </a:xfrm>
              <a:custGeom>
                <a:avLst/>
                <a:gdLst/>
                <a:ahLst/>
                <a:cxnLst/>
                <a:rect r="r" b="b" t="t" l="l"/>
                <a:pathLst>
                  <a:path h="904240" w="1084833">
                    <a:moveTo>
                      <a:pt x="56363" y="0"/>
                    </a:moveTo>
                    <a:lnTo>
                      <a:pt x="1028470" y="0"/>
                    </a:lnTo>
                    <a:cubicBezTo>
                      <a:pt x="1043418" y="0"/>
                      <a:pt x="1057754" y="5938"/>
                      <a:pt x="1068325" y="16508"/>
                    </a:cubicBezTo>
                    <a:cubicBezTo>
                      <a:pt x="1078895" y="27078"/>
                      <a:pt x="1084833" y="41415"/>
                      <a:pt x="1084833" y="56363"/>
                    </a:cubicBezTo>
                    <a:lnTo>
                      <a:pt x="1084833" y="847877"/>
                    </a:lnTo>
                    <a:cubicBezTo>
                      <a:pt x="1084833" y="862825"/>
                      <a:pt x="1078895" y="877161"/>
                      <a:pt x="1068325" y="887732"/>
                    </a:cubicBezTo>
                    <a:cubicBezTo>
                      <a:pt x="1057754" y="898302"/>
                      <a:pt x="1043418" y="904240"/>
                      <a:pt x="1028470" y="904240"/>
                    </a:cubicBezTo>
                    <a:lnTo>
                      <a:pt x="56363" y="904240"/>
                    </a:lnTo>
                    <a:cubicBezTo>
                      <a:pt x="41415" y="904240"/>
                      <a:pt x="27078" y="898302"/>
                      <a:pt x="16508" y="887732"/>
                    </a:cubicBezTo>
                    <a:cubicBezTo>
                      <a:pt x="5938" y="877161"/>
                      <a:pt x="0" y="862825"/>
                      <a:pt x="0" y="847877"/>
                    </a:cubicBezTo>
                    <a:lnTo>
                      <a:pt x="0" y="56363"/>
                    </a:lnTo>
                    <a:cubicBezTo>
                      <a:pt x="0" y="41415"/>
                      <a:pt x="5938" y="27078"/>
                      <a:pt x="16508" y="16508"/>
                    </a:cubicBezTo>
                    <a:cubicBezTo>
                      <a:pt x="27078" y="5938"/>
                      <a:pt x="41415" y="0"/>
                      <a:pt x="5636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1084833" cy="942340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2064"/>
                  </a:lnSpc>
                </a:pP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14838247" y="2552689"/>
              <a:ext cx="2715845" cy="381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9"/>
                </a:lnSpc>
                <a:spcBef>
                  <a:spcPct val="0"/>
                </a:spcBef>
              </a:pPr>
              <a:r>
                <a:rPr lang="en-US" b="true" sz="16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Structured Database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14686351" y="2944282"/>
              <a:ext cx="3019637" cy="2396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6864" indent="-183432" lvl="1">
                <a:lnSpc>
                  <a:spcPts val="2039"/>
                </a:lnSpc>
                <a:buFont typeface="Arial"/>
                <a:buChar char="•"/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 Number / Clause</a:t>
              </a:r>
            </a:p>
            <a:p>
              <a:pPr algn="l" marL="366864" indent="-183432" lvl="1">
                <a:lnSpc>
                  <a:spcPts val="2039"/>
                </a:lnSpc>
                <a:buFont typeface="Arial"/>
                <a:buChar char="•"/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Status</a:t>
              </a:r>
            </a:p>
            <a:p>
              <a:pPr algn="l" marL="366864" indent="-183432" lvl="1">
                <a:lnSpc>
                  <a:spcPts val="2039"/>
                </a:lnSpc>
                <a:buFont typeface="Arial"/>
                <a:buChar char="•"/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Revision</a:t>
              </a:r>
            </a:p>
            <a:p>
              <a:pPr algn="l" marL="366864" indent="-183432" lvl="1">
                <a:lnSpc>
                  <a:spcPts val="2039"/>
                </a:lnSpc>
                <a:buFont typeface="Arial"/>
                <a:buChar char="•"/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Effective Date</a:t>
              </a:r>
            </a:p>
            <a:p>
              <a:pPr algn="l" marL="366864" indent="-183432" lvl="1">
                <a:lnSpc>
                  <a:spcPts val="2039"/>
                </a:lnSpc>
                <a:buFont typeface="Arial"/>
                <a:buChar char="•"/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License Details</a:t>
              </a:r>
            </a:p>
            <a:p>
              <a:pPr algn="l" marL="366864" indent="-183432" lvl="1">
                <a:lnSpc>
                  <a:spcPts val="2039"/>
                </a:lnSpc>
                <a:buFont typeface="Arial"/>
                <a:buChar char="•"/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Scheme</a:t>
              </a:r>
            </a:p>
            <a:p>
              <a:pPr algn="l" marL="366864" indent="-183432" lvl="1">
                <a:lnSpc>
                  <a:spcPts val="2039"/>
                </a:lnSpc>
                <a:buFont typeface="Arial"/>
                <a:buChar char="•"/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Source Links</a:t>
              </a:r>
            </a:p>
          </p:txBody>
        </p:sp>
        <p:grpSp>
          <p:nvGrpSpPr>
            <p:cNvPr name="Group 73" id="73"/>
            <p:cNvGrpSpPr/>
            <p:nvPr/>
          </p:nvGrpSpPr>
          <p:grpSpPr>
            <a:xfrm rot="0">
              <a:off x="14351556" y="597016"/>
              <a:ext cx="3598653" cy="1524763"/>
              <a:chOff x="0" y="0"/>
              <a:chExt cx="1084833" cy="459648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084833" cy="459648"/>
              </a:xfrm>
              <a:custGeom>
                <a:avLst/>
                <a:gdLst/>
                <a:ahLst/>
                <a:cxnLst/>
                <a:rect r="r" b="b" t="t" l="l"/>
                <a:pathLst>
                  <a:path h="459648" w="1084833">
                    <a:moveTo>
                      <a:pt x="56363" y="0"/>
                    </a:moveTo>
                    <a:lnTo>
                      <a:pt x="1028470" y="0"/>
                    </a:lnTo>
                    <a:cubicBezTo>
                      <a:pt x="1043418" y="0"/>
                      <a:pt x="1057754" y="5938"/>
                      <a:pt x="1068325" y="16508"/>
                    </a:cubicBezTo>
                    <a:cubicBezTo>
                      <a:pt x="1078895" y="27078"/>
                      <a:pt x="1084833" y="41415"/>
                      <a:pt x="1084833" y="56363"/>
                    </a:cubicBezTo>
                    <a:lnTo>
                      <a:pt x="1084833" y="403285"/>
                    </a:lnTo>
                    <a:cubicBezTo>
                      <a:pt x="1084833" y="418233"/>
                      <a:pt x="1078895" y="432569"/>
                      <a:pt x="1068325" y="443139"/>
                    </a:cubicBezTo>
                    <a:cubicBezTo>
                      <a:pt x="1057754" y="453710"/>
                      <a:pt x="1043418" y="459648"/>
                      <a:pt x="1028470" y="459648"/>
                    </a:cubicBezTo>
                    <a:lnTo>
                      <a:pt x="56363" y="459648"/>
                    </a:lnTo>
                    <a:cubicBezTo>
                      <a:pt x="41415" y="459648"/>
                      <a:pt x="27078" y="453710"/>
                      <a:pt x="16508" y="443139"/>
                    </a:cubicBezTo>
                    <a:cubicBezTo>
                      <a:pt x="5938" y="432569"/>
                      <a:pt x="0" y="418233"/>
                      <a:pt x="0" y="403285"/>
                    </a:cubicBezTo>
                    <a:lnTo>
                      <a:pt x="0" y="56363"/>
                    </a:lnTo>
                    <a:cubicBezTo>
                      <a:pt x="0" y="41415"/>
                      <a:pt x="5938" y="27078"/>
                      <a:pt x="16508" y="16508"/>
                    </a:cubicBezTo>
                    <a:cubicBezTo>
                      <a:pt x="27078" y="5938"/>
                      <a:pt x="41415" y="0"/>
                      <a:pt x="56363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38100"/>
                <a:ext cx="1084833" cy="497748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2064"/>
                  </a:lnSpc>
                </a:pPr>
              </a:p>
            </p:txBody>
          </p:sp>
        </p:grpSp>
        <p:sp>
          <p:nvSpPr>
            <p:cNvPr name="TextBox 76" id="76"/>
            <p:cNvSpPr txBox="true"/>
            <p:nvPr/>
          </p:nvSpPr>
          <p:spPr>
            <a:xfrm rot="0">
              <a:off x="14615091" y="121004"/>
              <a:ext cx="3090897" cy="381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9"/>
                </a:lnSpc>
                <a:spcBef>
                  <a:spcPct val="0"/>
                </a:spcBef>
              </a:pPr>
              <a:r>
                <a:rPr lang="en-US" b="true" sz="16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BIS KNOWLEDGE BASE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14803537" y="809139"/>
              <a:ext cx="2715845" cy="381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9"/>
                </a:lnSpc>
                <a:spcBef>
                  <a:spcPct val="0"/>
                </a:spcBef>
              </a:pPr>
              <a:r>
                <a:rPr lang="en-US" b="true" sz="16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Vector Database</a:t>
              </a:r>
            </a:p>
          </p:txBody>
        </p:sp>
        <p:grpSp>
          <p:nvGrpSpPr>
            <p:cNvPr name="Group 78" id="78"/>
            <p:cNvGrpSpPr/>
            <p:nvPr/>
          </p:nvGrpSpPr>
          <p:grpSpPr>
            <a:xfrm rot="0">
              <a:off x="14153558" y="5708450"/>
              <a:ext cx="4181751" cy="3922819"/>
              <a:chOff x="0" y="0"/>
              <a:chExt cx="844735" cy="792429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44735" cy="792429"/>
              </a:xfrm>
              <a:custGeom>
                <a:avLst/>
                <a:gdLst/>
                <a:ahLst/>
                <a:cxnLst/>
                <a:rect r="r" b="b" t="t" l="l"/>
                <a:pathLst>
                  <a:path h="792429" w="844735">
                    <a:moveTo>
                      <a:pt x="48504" y="0"/>
                    </a:moveTo>
                    <a:lnTo>
                      <a:pt x="796231" y="0"/>
                    </a:lnTo>
                    <a:cubicBezTo>
                      <a:pt x="823019" y="0"/>
                      <a:pt x="844735" y="21716"/>
                      <a:pt x="844735" y="48504"/>
                    </a:cubicBezTo>
                    <a:lnTo>
                      <a:pt x="844735" y="743925"/>
                    </a:lnTo>
                    <a:cubicBezTo>
                      <a:pt x="844735" y="770713"/>
                      <a:pt x="823019" y="792429"/>
                      <a:pt x="796231" y="792429"/>
                    </a:cubicBezTo>
                    <a:lnTo>
                      <a:pt x="48504" y="792429"/>
                    </a:lnTo>
                    <a:cubicBezTo>
                      <a:pt x="21716" y="792429"/>
                      <a:pt x="0" y="770713"/>
                      <a:pt x="0" y="743925"/>
                    </a:cubicBezTo>
                    <a:lnTo>
                      <a:pt x="0" y="48504"/>
                    </a:lnTo>
                    <a:cubicBezTo>
                      <a:pt x="0" y="21716"/>
                      <a:pt x="21716" y="0"/>
                      <a:pt x="48504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38100"/>
                <a:ext cx="844735" cy="830529"/>
              </a:xfrm>
              <a:prstGeom prst="rect">
                <a:avLst/>
              </a:prstGeom>
            </p:spPr>
            <p:txBody>
              <a:bodyPr anchor="ctr" rtlCol="false" tIns="42181" lIns="42181" bIns="42181" rIns="42181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1468687" y="9995372"/>
              <a:ext cx="2747653" cy="1120990"/>
              <a:chOff x="0" y="0"/>
              <a:chExt cx="744974" cy="303935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744974" cy="303935"/>
              </a:xfrm>
              <a:custGeom>
                <a:avLst/>
                <a:gdLst/>
                <a:ahLst/>
                <a:cxnLst/>
                <a:rect r="r" b="b" t="t" l="l"/>
                <a:pathLst>
                  <a:path h="303935" w="744974">
                    <a:moveTo>
                      <a:pt x="0" y="0"/>
                    </a:moveTo>
                    <a:lnTo>
                      <a:pt x="744974" y="0"/>
                    </a:lnTo>
                    <a:lnTo>
                      <a:pt x="744974" y="303935"/>
                    </a:lnTo>
                    <a:lnTo>
                      <a:pt x="0" y="303935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19050"/>
                <a:ext cx="744974" cy="322985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  <a:r>
                  <a:rPr lang="en-US" sz="1202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12. LANGUAGE OUTPUT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Text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Voice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645740" y="9890965"/>
              <a:ext cx="9878554" cy="1306900"/>
              <a:chOff x="0" y="0"/>
              <a:chExt cx="2852703" cy="377403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2852703" cy="377403"/>
              </a:xfrm>
              <a:custGeom>
                <a:avLst/>
                <a:gdLst/>
                <a:ahLst/>
                <a:cxnLst/>
                <a:rect r="r" b="b" t="t" l="l"/>
                <a:pathLst>
                  <a:path h="377403" w="2852703">
                    <a:moveTo>
                      <a:pt x="0" y="0"/>
                    </a:moveTo>
                    <a:lnTo>
                      <a:pt x="2852703" y="0"/>
                    </a:lnTo>
                    <a:lnTo>
                      <a:pt x="2852703" y="377403"/>
                    </a:lnTo>
                    <a:lnTo>
                      <a:pt x="0" y="377403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28575"/>
                <a:ext cx="2852703" cy="405978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797"/>
                  </a:lnSpc>
                </a:pPr>
                <a:r>
                  <a:rPr lang="en-US" sz="1498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11.RESPONSE ENRICHMENT</a:t>
                </a:r>
              </a:p>
              <a:p>
                <a:pPr algn="l">
                  <a:lnSpc>
                    <a:spcPts val="1797"/>
                  </a:lnSpc>
                </a:pPr>
              </a:p>
              <a:p>
                <a:pPr algn="ctr">
                  <a:lnSpc>
                    <a:spcPts val="1797"/>
                  </a:lnSpc>
                </a:pPr>
              </a:p>
            </p:txBody>
          </p:sp>
        </p:grpSp>
        <p:sp>
          <p:nvSpPr>
            <p:cNvPr name="AutoShape 87" id="87"/>
            <p:cNvSpPr/>
            <p:nvPr/>
          </p:nvSpPr>
          <p:spPr>
            <a:xfrm flipV="true">
              <a:off x="13431565" y="3391325"/>
              <a:ext cx="784775" cy="0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triangle" len="med" w="lg"/>
              <a:tailEnd type="triangle" len="med" w="lg"/>
            </a:ln>
          </p:spPr>
        </p:sp>
        <p:sp>
          <p:nvSpPr>
            <p:cNvPr name="Freeform 88" id="88"/>
            <p:cNvSpPr/>
            <p:nvPr/>
          </p:nvSpPr>
          <p:spPr>
            <a:xfrm>
              <a:off x="12085490" y="852278"/>
              <a:ext cx="1230804" cy="1332760"/>
            </a:xfrm>
            <a:custGeom>
              <a:avLst/>
              <a:gdLst/>
              <a:ahLst/>
              <a:cxnLst/>
              <a:rect r="r" b="b" t="t" l="l"/>
              <a:pathLst>
                <a:path h="1332760" w="1230804">
                  <a:moveTo>
                    <a:pt x="111052" y="0"/>
                  </a:moveTo>
                  <a:lnTo>
                    <a:pt x="975269" y="0"/>
                  </a:lnTo>
                  <a:cubicBezTo>
                    <a:pt x="1116397" y="0"/>
                    <a:pt x="1230804" y="114407"/>
                    <a:pt x="1230804" y="255535"/>
                  </a:cubicBezTo>
                  <a:lnTo>
                    <a:pt x="1230804" y="824559"/>
                  </a:lnTo>
                  <a:cubicBezTo>
                    <a:pt x="1230804" y="965687"/>
                    <a:pt x="1116397" y="1080094"/>
                    <a:pt x="975269" y="1080094"/>
                  </a:cubicBezTo>
                  <a:lnTo>
                    <a:pt x="126333" y="1080094"/>
                  </a:lnTo>
                  <a:cubicBezTo>
                    <a:pt x="92828" y="1080094"/>
                    <a:pt x="60694" y="1093404"/>
                    <a:pt x="37003" y="1117096"/>
                  </a:cubicBezTo>
                  <a:cubicBezTo>
                    <a:pt x="13310" y="1140788"/>
                    <a:pt x="0" y="1172921"/>
                    <a:pt x="0" y="1206427"/>
                  </a:cubicBezTo>
                  <a:lnTo>
                    <a:pt x="0" y="1332760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89" id="89"/>
            <p:cNvSpPr/>
            <p:nvPr/>
          </p:nvSpPr>
          <p:spPr>
            <a:xfrm>
              <a:off x="8135025" y="1514467"/>
              <a:ext cx="2723497" cy="917365"/>
            </a:xfrm>
            <a:custGeom>
              <a:avLst/>
              <a:gdLst/>
              <a:ahLst/>
              <a:cxnLst/>
              <a:rect r="r" b="b" t="t" l="l"/>
              <a:pathLst>
                <a:path h="917365" w="2723497">
                  <a:moveTo>
                    <a:pt x="2723497" y="0"/>
                  </a:moveTo>
                  <a:lnTo>
                    <a:pt x="2723497" y="165123"/>
                  </a:lnTo>
                  <a:cubicBezTo>
                    <a:pt x="2723497" y="256318"/>
                    <a:pt x="2649569" y="330246"/>
                    <a:pt x="2558374" y="330246"/>
                  </a:cubicBezTo>
                  <a:lnTo>
                    <a:pt x="665134" y="330246"/>
                  </a:lnTo>
                  <a:cubicBezTo>
                    <a:pt x="524006" y="330246"/>
                    <a:pt x="409599" y="444653"/>
                    <a:pt x="409599" y="585781"/>
                  </a:cubicBezTo>
                  <a:lnTo>
                    <a:pt x="409599" y="712566"/>
                  </a:lnTo>
                  <a:cubicBezTo>
                    <a:pt x="409599" y="766882"/>
                    <a:pt x="388022" y="818974"/>
                    <a:pt x="349614" y="857381"/>
                  </a:cubicBezTo>
                  <a:cubicBezTo>
                    <a:pt x="311208" y="895788"/>
                    <a:pt x="259116" y="917365"/>
                    <a:pt x="204800" y="917365"/>
                  </a:cubicBezTo>
                  <a:lnTo>
                    <a:pt x="0" y="917365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90" id="90"/>
            <p:cNvSpPr/>
            <p:nvPr/>
          </p:nvSpPr>
          <p:spPr>
            <a:xfrm>
              <a:off x="6984682" y="4236893"/>
              <a:ext cx="2288830" cy="509246"/>
            </a:xfrm>
            <a:custGeom>
              <a:avLst/>
              <a:gdLst/>
              <a:ahLst/>
              <a:cxnLst/>
              <a:rect r="r" b="b" t="t" l="l"/>
              <a:pathLst>
                <a:path h="509246" w="2288830">
                  <a:moveTo>
                    <a:pt x="2288830" y="0"/>
                  </a:moveTo>
                  <a:lnTo>
                    <a:pt x="254623" y="0"/>
                  </a:lnTo>
                  <a:cubicBezTo>
                    <a:pt x="113999" y="0"/>
                    <a:pt x="0" y="113998"/>
                    <a:pt x="0" y="254622"/>
                  </a:cubicBezTo>
                  <a:lnTo>
                    <a:pt x="0" y="509245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91" id="91"/>
            <p:cNvSpPr/>
            <p:nvPr/>
          </p:nvSpPr>
          <p:spPr>
            <a:xfrm>
              <a:off x="11667699" y="6562493"/>
              <a:ext cx="872812" cy="2488919"/>
            </a:xfrm>
            <a:custGeom>
              <a:avLst/>
              <a:gdLst/>
              <a:ahLst/>
              <a:cxnLst/>
              <a:rect r="r" b="b" t="t" l="l"/>
              <a:pathLst>
                <a:path h="2488919" w="872812">
                  <a:moveTo>
                    <a:pt x="0" y="0"/>
                  </a:moveTo>
                  <a:lnTo>
                    <a:pt x="617277" y="0"/>
                  </a:lnTo>
                  <a:cubicBezTo>
                    <a:pt x="685049" y="0"/>
                    <a:pt x="750046" y="26923"/>
                    <a:pt x="797968" y="74845"/>
                  </a:cubicBezTo>
                  <a:cubicBezTo>
                    <a:pt x="845890" y="122766"/>
                    <a:pt x="872812" y="187763"/>
                    <a:pt x="872812" y="255535"/>
                  </a:cubicBezTo>
                  <a:lnTo>
                    <a:pt x="872812" y="2233384"/>
                  </a:lnTo>
                  <a:cubicBezTo>
                    <a:pt x="872812" y="2374512"/>
                    <a:pt x="758405" y="2488919"/>
                    <a:pt x="617277" y="2488919"/>
                  </a:cubicBezTo>
                  <a:lnTo>
                    <a:pt x="169527" y="2488919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92" id="92"/>
            <p:cNvSpPr/>
            <p:nvPr/>
          </p:nvSpPr>
          <p:spPr>
            <a:xfrm flipV="true">
              <a:off x="7991615" y="9051412"/>
              <a:ext cx="1613544" cy="0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93" id="93"/>
            <p:cNvSpPr/>
            <p:nvPr/>
          </p:nvSpPr>
          <p:spPr>
            <a:xfrm>
              <a:off x="10524293" y="10544415"/>
              <a:ext cx="944393" cy="11452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94" id="94"/>
            <p:cNvSpPr/>
            <p:nvPr/>
          </p:nvSpPr>
          <p:spPr>
            <a:xfrm flipV="true">
              <a:off x="14216340" y="10541582"/>
              <a:ext cx="941341" cy="14285"/>
            </a:xfrm>
            <a:prstGeom prst="line">
              <a:avLst/>
            </a:pr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95" id="95"/>
            <p:cNvSpPr/>
            <p:nvPr/>
          </p:nvSpPr>
          <p:spPr>
            <a:xfrm>
              <a:off x="19165" y="2431832"/>
              <a:ext cx="3702159" cy="1805060"/>
            </a:xfrm>
            <a:custGeom>
              <a:avLst/>
              <a:gdLst/>
              <a:ahLst/>
              <a:cxnLst/>
              <a:rect r="r" b="b" t="t" l="l"/>
              <a:pathLst>
                <a:path h="1805060" w="3702159">
                  <a:moveTo>
                    <a:pt x="645457" y="1805061"/>
                  </a:moveTo>
                  <a:lnTo>
                    <a:pt x="255535" y="1805061"/>
                  </a:lnTo>
                  <a:cubicBezTo>
                    <a:pt x="114407" y="1805061"/>
                    <a:pt x="0" y="1690654"/>
                    <a:pt x="0" y="1549526"/>
                  </a:cubicBezTo>
                  <a:lnTo>
                    <a:pt x="0" y="255535"/>
                  </a:lnTo>
                  <a:cubicBezTo>
                    <a:pt x="0" y="114407"/>
                    <a:pt x="114407" y="0"/>
                    <a:pt x="255535" y="0"/>
                  </a:cubicBezTo>
                  <a:lnTo>
                    <a:pt x="3702159" y="0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96" id="96"/>
            <p:cNvSpPr/>
            <p:nvPr/>
          </p:nvSpPr>
          <p:spPr>
            <a:xfrm>
              <a:off x="2083080" y="7213968"/>
              <a:ext cx="936146" cy="2676997"/>
            </a:xfrm>
            <a:custGeom>
              <a:avLst/>
              <a:gdLst/>
              <a:ahLst/>
              <a:cxnLst/>
              <a:rect r="r" b="b" t="t" l="l"/>
              <a:pathLst>
                <a:path h="2676997" w="936146">
                  <a:moveTo>
                    <a:pt x="0" y="0"/>
                  </a:moveTo>
                  <a:lnTo>
                    <a:pt x="0" y="924623"/>
                  </a:lnTo>
                  <a:cubicBezTo>
                    <a:pt x="0" y="1065751"/>
                    <a:pt x="114407" y="1180158"/>
                    <a:pt x="255535" y="1180158"/>
                  </a:cubicBezTo>
                  <a:lnTo>
                    <a:pt x="680612" y="1180158"/>
                  </a:lnTo>
                  <a:cubicBezTo>
                    <a:pt x="821740" y="1180158"/>
                    <a:pt x="936146" y="1294565"/>
                    <a:pt x="936146" y="1435692"/>
                  </a:cubicBezTo>
                  <a:lnTo>
                    <a:pt x="936146" y="2676997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97" id="97"/>
            <p:cNvSpPr txBox="true"/>
            <p:nvPr/>
          </p:nvSpPr>
          <p:spPr>
            <a:xfrm rot="0">
              <a:off x="14838247" y="1215142"/>
              <a:ext cx="2715845" cy="711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9"/>
                </a:lnSpc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(Document Chunks</a:t>
              </a:r>
            </a:p>
            <a:p>
              <a:pPr algn="ctr">
                <a:lnSpc>
                  <a:spcPts val="203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Embeddings)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5070111" y="7725756"/>
              <a:ext cx="3233396" cy="6598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"/>
                </a:lnSpc>
                <a:spcBef>
                  <a:spcPct val="0"/>
                </a:spcBef>
              </a:pPr>
            </a:p>
            <a:p>
              <a:pPr algn="ctr">
                <a:lnSpc>
                  <a:spcPts val="1617"/>
                </a:lnSpc>
                <a:spcBef>
                  <a:spcPct val="0"/>
                </a:spcBef>
              </a:pPr>
            </a:p>
            <a:p>
              <a:pPr algn="ctr">
                <a:lnSpc>
                  <a:spcPts val="1617"/>
                </a:lnSpc>
                <a:spcBef>
                  <a:spcPct val="0"/>
                </a:spcBef>
              </a:pPr>
              <a:r>
                <a:rPr lang="en-US" b="true" sz="1348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9. ANSWER GENERATION  (LLM)</a:t>
              </a:r>
            </a:p>
          </p:txBody>
        </p:sp>
        <p:grpSp>
          <p:nvGrpSpPr>
            <p:cNvPr name="Group 99" id="99"/>
            <p:cNvGrpSpPr/>
            <p:nvPr/>
          </p:nvGrpSpPr>
          <p:grpSpPr>
            <a:xfrm rot="0">
              <a:off x="5689735" y="5911361"/>
              <a:ext cx="2075346" cy="1376114"/>
              <a:chOff x="0" y="0"/>
              <a:chExt cx="755804" cy="501156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755804" cy="501156"/>
              </a:xfrm>
              <a:custGeom>
                <a:avLst/>
                <a:gdLst/>
                <a:ahLst/>
                <a:cxnLst/>
                <a:rect r="r" b="b" t="t" l="l"/>
                <a:pathLst>
                  <a:path h="501156" w="755804">
                    <a:moveTo>
                      <a:pt x="377902" y="0"/>
                    </a:moveTo>
                    <a:lnTo>
                      <a:pt x="755804" y="250578"/>
                    </a:lnTo>
                    <a:lnTo>
                      <a:pt x="377902" y="501156"/>
                    </a:lnTo>
                    <a:lnTo>
                      <a:pt x="0" y="250578"/>
                    </a:lnTo>
                    <a:lnTo>
                      <a:pt x="377902" y="0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129904" y="57561"/>
                <a:ext cx="495996" cy="357459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797"/>
                  </a:lnSpc>
                </a:pPr>
              </a:p>
            </p:txBody>
          </p:sp>
        </p:grpSp>
        <p:sp>
          <p:nvSpPr>
            <p:cNvPr name="TextBox 102" id="102"/>
            <p:cNvSpPr txBox="true"/>
            <p:nvPr/>
          </p:nvSpPr>
          <p:spPr>
            <a:xfrm rot="0">
              <a:off x="5980762" y="6262961"/>
              <a:ext cx="1515439" cy="827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3"/>
                </a:lnSpc>
                <a:spcBef>
                  <a:spcPct val="0"/>
                </a:spcBef>
              </a:pPr>
              <a:r>
                <a:rPr lang="en-US" b="true" sz="134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8. BIS SCOPE</a:t>
              </a:r>
            </a:p>
            <a:p>
              <a:pPr algn="ctr">
                <a:lnSpc>
                  <a:spcPts val="1613"/>
                </a:lnSpc>
                <a:spcBef>
                  <a:spcPct val="0"/>
                </a:spcBef>
              </a:pPr>
              <a:r>
                <a:rPr lang="en-US" b="true" sz="134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VALIDITY CHECK</a:t>
              </a:r>
            </a:p>
          </p:txBody>
        </p:sp>
        <p:grpSp>
          <p:nvGrpSpPr>
            <p:cNvPr name="Group 103" id="103"/>
            <p:cNvGrpSpPr/>
            <p:nvPr/>
          </p:nvGrpSpPr>
          <p:grpSpPr>
            <a:xfrm rot="0">
              <a:off x="15157681" y="9866203"/>
              <a:ext cx="2984218" cy="1350759"/>
              <a:chOff x="0" y="0"/>
              <a:chExt cx="809114" cy="366233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09114" cy="366233"/>
              </a:xfrm>
              <a:custGeom>
                <a:avLst/>
                <a:gdLst/>
                <a:ahLst/>
                <a:cxnLst/>
                <a:rect r="r" b="b" t="t" l="l"/>
                <a:pathLst>
                  <a:path h="366233" w="809114">
                    <a:moveTo>
                      <a:pt x="0" y="0"/>
                    </a:moveTo>
                    <a:lnTo>
                      <a:pt x="809114" y="0"/>
                    </a:lnTo>
                    <a:lnTo>
                      <a:pt x="809114" y="366233"/>
                    </a:lnTo>
                    <a:lnTo>
                      <a:pt x="0" y="366233"/>
                    </a:ln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19050"/>
                <a:ext cx="809114" cy="385283"/>
              </a:xfrm>
              <a:prstGeom prst="rect">
                <a:avLst/>
              </a:prstGeom>
            </p:spPr>
            <p:txBody>
              <a:bodyPr anchor="ctr" rtlCol="false" tIns="41858" lIns="41858" bIns="41858" rIns="41858"/>
              <a:lstStyle/>
              <a:p>
                <a:pPr algn="ctr">
                  <a:lnSpc>
                    <a:spcPts val="1442"/>
                  </a:lnSpc>
                </a:pP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Web 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Whatsapp</a:t>
                </a:r>
              </a:p>
              <a:p>
                <a:pPr algn="l" marL="259587" indent="-129793" lvl="1">
                  <a:lnSpc>
                    <a:spcPts val="1442"/>
                  </a:lnSpc>
                  <a:buFont typeface="Arial"/>
                  <a:buChar char="•"/>
                </a:pPr>
                <a:r>
                  <a:rPr lang="en-US" b="true" sz="1202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SMS</a:t>
                </a:r>
              </a:p>
            </p:txBody>
          </p:sp>
        </p:grpSp>
        <p:sp>
          <p:nvSpPr>
            <p:cNvPr name="TextBox 106" id="106"/>
            <p:cNvSpPr txBox="true"/>
            <p:nvPr/>
          </p:nvSpPr>
          <p:spPr>
            <a:xfrm rot="0">
              <a:off x="15261576" y="9915750"/>
              <a:ext cx="2755273" cy="344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14"/>
                </a:lnSpc>
                <a:spcBef>
                  <a:spcPct val="0"/>
                </a:spcBef>
              </a:pPr>
              <a:r>
                <a:rPr lang="en-US" b="true" sz="159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13. DELIVERY CHANNELS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829106" y="10262257"/>
              <a:ext cx="1439162" cy="859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 with</a:t>
              </a:r>
            </a:p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Citations</a:t>
              </a:r>
            </a:p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(IS / Clause)</a:t>
              </a:r>
            </a:p>
          </p:txBody>
        </p:sp>
        <p:sp>
          <p:nvSpPr>
            <p:cNvPr name="TextBox 108" id="108"/>
            <p:cNvSpPr txBox="true"/>
            <p:nvPr/>
          </p:nvSpPr>
          <p:spPr>
            <a:xfrm rot="0">
              <a:off x="6095713" y="10430701"/>
              <a:ext cx="1439162" cy="585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Offici</a:t>
              </a: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 BIS</a:t>
              </a:r>
            </a:p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Links</a:t>
              </a:r>
            </a:p>
          </p:txBody>
        </p:sp>
        <p:sp>
          <p:nvSpPr>
            <p:cNvPr name="TextBox 109" id="109"/>
            <p:cNvSpPr txBox="true"/>
            <p:nvPr/>
          </p:nvSpPr>
          <p:spPr>
            <a:xfrm rot="0">
              <a:off x="2490382" y="10251729"/>
              <a:ext cx="1944055" cy="859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</a:t>
              </a: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 Badge</a:t>
              </a:r>
            </a:p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(Active / Revised /</a:t>
              </a:r>
            </a:p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Withdrawn)</a:t>
              </a:r>
            </a:p>
          </p:txBody>
        </p:sp>
        <p:sp>
          <p:nvSpPr>
            <p:cNvPr name="TextBox 110" id="110"/>
            <p:cNvSpPr txBox="true"/>
            <p:nvPr/>
          </p:nvSpPr>
          <p:spPr>
            <a:xfrm rot="0">
              <a:off x="4582513" y="10366622"/>
              <a:ext cx="1439162" cy="585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Latest</a:t>
              </a: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Update</a:t>
              </a:r>
            </a:p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(via License)</a:t>
              </a:r>
            </a:p>
          </p:txBody>
        </p:sp>
        <p:sp>
          <p:nvSpPr>
            <p:cNvPr name="TextBox 111" id="111"/>
            <p:cNvSpPr txBox="true"/>
            <p:nvPr/>
          </p:nvSpPr>
          <p:spPr>
            <a:xfrm rot="0">
              <a:off x="8850821" y="10388590"/>
              <a:ext cx="1439162" cy="585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Confidence score</a:t>
              </a:r>
            </a:p>
          </p:txBody>
        </p:sp>
        <p:sp>
          <p:nvSpPr>
            <p:cNvPr name="TextBox 112" id="112"/>
            <p:cNvSpPr txBox="true"/>
            <p:nvPr/>
          </p:nvSpPr>
          <p:spPr>
            <a:xfrm rot="0">
              <a:off x="7396895" y="10503482"/>
              <a:ext cx="1439162" cy="311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BIS Score</a:t>
              </a:r>
            </a:p>
          </p:txBody>
        </p:sp>
        <p:sp>
          <p:nvSpPr>
            <p:cNvPr name="Freeform 113" id="113"/>
            <p:cNvSpPr/>
            <p:nvPr/>
          </p:nvSpPr>
          <p:spPr>
            <a:xfrm>
              <a:off x="6146745" y="1359398"/>
              <a:ext cx="507689" cy="661085"/>
            </a:xfrm>
            <a:custGeom>
              <a:avLst/>
              <a:gdLst/>
              <a:ahLst/>
              <a:cxnLst/>
              <a:rect r="r" b="b" t="t" l="l"/>
              <a:pathLst>
                <a:path h="661085" w="507689">
                  <a:moveTo>
                    <a:pt x="507689" y="0"/>
                  </a:moveTo>
                  <a:lnTo>
                    <a:pt x="242658" y="0"/>
                  </a:lnTo>
                  <a:cubicBezTo>
                    <a:pt x="108641" y="0"/>
                    <a:pt x="0" y="108641"/>
                    <a:pt x="0" y="242658"/>
                  </a:cubicBezTo>
                  <a:lnTo>
                    <a:pt x="0" y="476160"/>
                  </a:lnTo>
                  <a:cubicBezTo>
                    <a:pt x="0" y="481216"/>
                    <a:pt x="4099" y="485315"/>
                    <a:pt x="9156" y="485315"/>
                  </a:cubicBezTo>
                  <a:lnTo>
                    <a:pt x="9156" y="485315"/>
                  </a:lnTo>
                  <a:cubicBezTo>
                    <a:pt x="14212" y="485315"/>
                    <a:pt x="18311" y="489415"/>
                    <a:pt x="18311" y="494471"/>
                  </a:cubicBezTo>
                  <a:lnTo>
                    <a:pt x="18311" y="661084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114" id="114"/>
            <p:cNvSpPr/>
            <p:nvPr/>
          </p:nvSpPr>
          <p:spPr>
            <a:xfrm>
              <a:off x="7611809" y="3391325"/>
              <a:ext cx="1661703" cy="503967"/>
            </a:xfrm>
            <a:custGeom>
              <a:avLst/>
              <a:gdLst/>
              <a:ahLst/>
              <a:cxnLst/>
              <a:rect r="r" b="b" t="t" l="l"/>
              <a:pathLst>
                <a:path h="503967" w="1661703">
                  <a:moveTo>
                    <a:pt x="0" y="503967"/>
                  </a:moveTo>
                  <a:lnTo>
                    <a:pt x="208349" y="503967"/>
                  </a:lnTo>
                  <a:cubicBezTo>
                    <a:pt x="263607" y="503967"/>
                    <a:pt x="316602" y="482016"/>
                    <a:pt x="355674" y="442943"/>
                  </a:cubicBezTo>
                  <a:cubicBezTo>
                    <a:pt x="394747" y="403870"/>
                    <a:pt x="416699" y="350875"/>
                    <a:pt x="416699" y="295617"/>
                  </a:cubicBezTo>
                  <a:lnTo>
                    <a:pt x="416699" y="251983"/>
                  </a:lnTo>
                  <a:cubicBezTo>
                    <a:pt x="416699" y="112817"/>
                    <a:pt x="529516" y="0"/>
                    <a:pt x="668682" y="0"/>
                  </a:cubicBezTo>
                  <a:lnTo>
                    <a:pt x="1661703" y="0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15" id="115"/>
            <p:cNvSpPr/>
            <p:nvPr/>
          </p:nvSpPr>
          <p:spPr>
            <a:xfrm>
              <a:off x="8909192" y="10314399"/>
              <a:ext cx="0" cy="701844"/>
            </a:xfrm>
            <a:prstGeom prst="line">
              <a:avLst/>
            </a:prstGeom>
            <a:ln cap="rnd" w="1277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6" id="116"/>
            <p:cNvSpPr/>
            <p:nvPr/>
          </p:nvSpPr>
          <p:spPr>
            <a:xfrm>
              <a:off x="7611809" y="10314399"/>
              <a:ext cx="0" cy="701844"/>
            </a:xfrm>
            <a:prstGeom prst="line">
              <a:avLst/>
            </a:prstGeom>
            <a:ln cap="rnd" w="1277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7" id="117"/>
            <p:cNvSpPr/>
            <p:nvPr/>
          </p:nvSpPr>
          <p:spPr>
            <a:xfrm>
              <a:off x="2188119" y="3855224"/>
              <a:ext cx="2884377" cy="1257067"/>
            </a:xfrm>
            <a:custGeom>
              <a:avLst/>
              <a:gdLst/>
              <a:ahLst/>
              <a:cxnLst/>
              <a:rect r="r" b="b" t="t" l="l"/>
              <a:pathLst>
                <a:path h="1257067" w="2884377">
                  <a:moveTo>
                    <a:pt x="2884376" y="0"/>
                  </a:moveTo>
                  <a:lnTo>
                    <a:pt x="2391918" y="0"/>
                  </a:lnTo>
                  <a:cubicBezTo>
                    <a:pt x="2250790" y="0"/>
                    <a:pt x="2136383" y="114407"/>
                    <a:pt x="2136383" y="255535"/>
                  </a:cubicBezTo>
                  <a:lnTo>
                    <a:pt x="2136383" y="1001532"/>
                  </a:lnTo>
                  <a:cubicBezTo>
                    <a:pt x="2136383" y="1142660"/>
                    <a:pt x="2021976" y="1257067"/>
                    <a:pt x="1880848" y="1257067"/>
                  </a:cubicBezTo>
                  <a:lnTo>
                    <a:pt x="222744" y="1257067"/>
                  </a:lnTo>
                  <a:cubicBezTo>
                    <a:pt x="163668" y="1257067"/>
                    <a:pt x="107012" y="1233599"/>
                    <a:pt x="65240" y="1191827"/>
                  </a:cubicBezTo>
                  <a:cubicBezTo>
                    <a:pt x="23467" y="1150054"/>
                    <a:pt x="0" y="1093399"/>
                    <a:pt x="0" y="1034323"/>
                  </a:cubicBezTo>
                  <a:lnTo>
                    <a:pt x="0" y="811580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18" id="118"/>
            <p:cNvSpPr/>
            <p:nvPr/>
          </p:nvSpPr>
          <p:spPr>
            <a:xfrm>
              <a:off x="6217574" y="10327521"/>
              <a:ext cx="0" cy="701844"/>
            </a:xfrm>
            <a:prstGeom prst="line">
              <a:avLst/>
            </a:prstGeom>
            <a:ln cap="rnd" w="1277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9" id="119"/>
            <p:cNvSpPr/>
            <p:nvPr/>
          </p:nvSpPr>
          <p:spPr>
            <a:xfrm>
              <a:off x="4503187" y="10327521"/>
              <a:ext cx="0" cy="701844"/>
            </a:xfrm>
            <a:prstGeom prst="line">
              <a:avLst/>
            </a:prstGeom>
            <a:ln cap="rnd" w="1277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0" id="120"/>
            <p:cNvSpPr/>
            <p:nvPr/>
          </p:nvSpPr>
          <p:spPr>
            <a:xfrm>
              <a:off x="2337018" y="10289829"/>
              <a:ext cx="0" cy="701844"/>
            </a:xfrm>
            <a:prstGeom prst="line">
              <a:avLst/>
            </a:prstGeom>
            <a:ln cap="rnd" w="1277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1" id="121"/>
            <p:cNvSpPr txBox="true"/>
            <p:nvPr/>
          </p:nvSpPr>
          <p:spPr>
            <a:xfrm rot="0">
              <a:off x="6404747" y="2862699"/>
              <a:ext cx="645321" cy="261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</a:t>
              </a:r>
            </a:p>
          </p:txBody>
        </p:sp>
        <p:sp>
          <p:nvSpPr>
            <p:cNvPr name="Freeform 122" id="122"/>
            <p:cNvSpPr/>
            <p:nvPr/>
          </p:nvSpPr>
          <p:spPr>
            <a:xfrm>
              <a:off x="4329822" y="9051412"/>
              <a:ext cx="1054181" cy="839553"/>
            </a:xfrm>
            <a:custGeom>
              <a:avLst/>
              <a:gdLst/>
              <a:ahLst/>
              <a:cxnLst/>
              <a:rect r="r" b="b" t="t" l="l"/>
              <a:pathLst>
                <a:path h="839553" w="1054181">
                  <a:moveTo>
                    <a:pt x="1054181" y="0"/>
                  </a:moveTo>
                  <a:lnTo>
                    <a:pt x="255535" y="0"/>
                  </a:lnTo>
                  <a:cubicBezTo>
                    <a:pt x="114407" y="0"/>
                    <a:pt x="0" y="114407"/>
                    <a:pt x="0" y="255535"/>
                  </a:cubicBezTo>
                  <a:lnTo>
                    <a:pt x="0" y="839553"/>
                  </a:lnTo>
                </a:path>
              </a:pathLst>
            </a:custGeom>
            <a:ln cap="flat" w="3833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  <p:sp>
        <p:nvSpPr>
          <p:cNvPr name="TextBox 123" id="123"/>
          <p:cNvSpPr txBox="true"/>
          <p:nvPr/>
        </p:nvSpPr>
        <p:spPr>
          <a:xfrm rot="0">
            <a:off x="15075518" y="6047108"/>
            <a:ext cx="2850045" cy="277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4"/>
              </a:lnSpc>
            </a:pPr>
            <a:r>
              <a:rPr lang="en-US" sz="161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STACK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</a:t>
            </a: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ontend :      React + TypeScript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:       FastAPI + Python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RAG :               Llamalndex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Vector DB :     Qdrant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Embeddings : BGE-M3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Re-ranking :    BGE Reranker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 :       PostgreSQL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Security:          JWT Auth + TLS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Documents :   PyMuPDF + OCR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Voice :              Whisper</a:t>
            </a:r>
          </a:p>
          <a:p>
            <a:pPr algn="l">
              <a:lnSpc>
                <a:spcPts val="1854"/>
              </a:lnSpc>
            </a:pPr>
            <a:r>
              <a:rPr lang="en-US" sz="161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Languages :     IndicTrans2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13285100" y="5410577"/>
            <a:ext cx="1193986" cy="963608"/>
            <a:chOff x="0" y="0"/>
            <a:chExt cx="583202" cy="47067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83202" cy="470673"/>
            </a:xfrm>
            <a:custGeom>
              <a:avLst/>
              <a:gdLst/>
              <a:ahLst/>
              <a:cxnLst/>
              <a:rect r="r" b="b" t="t" l="l"/>
              <a:pathLst>
                <a:path h="470673" w="583202">
                  <a:moveTo>
                    <a:pt x="0" y="0"/>
                  </a:moveTo>
                  <a:lnTo>
                    <a:pt x="583202" y="0"/>
                  </a:lnTo>
                  <a:lnTo>
                    <a:pt x="583202" y="470673"/>
                  </a:lnTo>
                  <a:lnTo>
                    <a:pt x="0" y="470673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583202" cy="489723"/>
            </a:xfrm>
            <a:prstGeom prst="rect">
              <a:avLst/>
            </a:prstGeom>
          </p:spPr>
          <p:txBody>
            <a:bodyPr anchor="ctr" rtlCol="false" tIns="41858" lIns="41858" bIns="41858" rIns="41858"/>
            <a:lstStyle/>
            <a:p>
              <a:pPr algn="ctr">
                <a:lnSpc>
                  <a:spcPts val="1442"/>
                </a:lnSpc>
              </a:pPr>
              <a:r>
                <a:rPr lang="en-US" sz="1202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  <a:p>
              <a:pPr algn="ctr">
                <a:lnSpc>
                  <a:spcPts val="1442"/>
                </a:lnSpc>
              </a:pPr>
              <a:r>
                <a:rPr lang="en-US" b="true" sz="1202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Auth + TLS Encryption</a:t>
              </a:r>
            </a:p>
          </p:txBody>
        </p:sp>
      </p:grpSp>
      <p:sp>
        <p:nvSpPr>
          <p:cNvPr name="Freeform 127" id="127"/>
          <p:cNvSpPr/>
          <p:nvPr/>
        </p:nvSpPr>
        <p:spPr>
          <a:xfrm>
            <a:off x="10756619" y="5506522"/>
            <a:ext cx="2528481" cy="385859"/>
          </a:xfrm>
          <a:custGeom>
            <a:avLst/>
            <a:gdLst/>
            <a:ahLst/>
            <a:cxnLst/>
            <a:rect r="r" b="b" t="t" l="l"/>
            <a:pathLst>
              <a:path h="385859" w="2528481">
                <a:moveTo>
                  <a:pt x="2528480" y="385859"/>
                </a:moveTo>
                <a:lnTo>
                  <a:pt x="1708788" y="385859"/>
                </a:lnTo>
                <a:cubicBezTo>
                  <a:pt x="1603578" y="385859"/>
                  <a:pt x="1518288" y="300569"/>
                  <a:pt x="1518288" y="195359"/>
                </a:cubicBezTo>
                <a:lnTo>
                  <a:pt x="1518288" y="190500"/>
                </a:lnTo>
                <a:cubicBezTo>
                  <a:pt x="1518288" y="85290"/>
                  <a:pt x="1432999" y="0"/>
                  <a:pt x="1327788" y="0"/>
                </a:cubicBezTo>
                <a:lnTo>
                  <a:pt x="0" y="0"/>
                </a:lnTo>
              </a:path>
            </a:pathLst>
          </a:cu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5227" y="1802120"/>
            <a:ext cx="13992635" cy="8481489"/>
            <a:chOff x="0" y="0"/>
            <a:chExt cx="18656846" cy="11308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56808" cy="11308588"/>
            </a:xfrm>
            <a:custGeom>
              <a:avLst/>
              <a:gdLst/>
              <a:ahLst/>
              <a:cxnLst/>
              <a:rect r="r" b="b" t="t" l="l"/>
              <a:pathLst>
                <a:path h="11308588" w="18656808">
                  <a:moveTo>
                    <a:pt x="0" y="0"/>
                  </a:moveTo>
                  <a:lnTo>
                    <a:pt x="18656808" y="0"/>
                  </a:lnTo>
                  <a:lnTo>
                    <a:pt x="18656808" y="11308588"/>
                  </a:lnTo>
                  <a:lnTo>
                    <a:pt x="0" y="113085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769" t="0" r="-27770" b="0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2142" y="-283502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0"/>
            <a:ext cx="3566160" cy="1681582"/>
            <a:chOff x="0" y="0"/>
            <a:chExt cx="4754880" cy="2242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54880" cy="2242058"/>
            </a:xfrm>
            <a:custGeom>
              <a:avLst/>
              <a:gdLst/>
              <a:ahLst/>
              <a:cxnLst/>
              <a:rect r="r" b="b" t="t" l="l"/>
              <a:pathLst>
                <a:path h="224205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242058"/>
                  </a:lnTo>
                  <a:lnTo>
                    <a:pt x="0" y="2242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3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928548" y="1258662"/>
            <a:ext cx="13503602" cy="45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"/>
              </a:lnSpc>
            </a:pPr>
            <a:r>
              <a:rPr lang="en-US" b="true" sz="2700">
                <a:solidFill>
                  <a:srgbClr val="27303A"/>
                </a:solidFill>
                <a:latin typeface="Cambria Bold"/>
                <a:ea typeface="Cambria Bold"/>
                <a:cs typeface="Cambria Bold"/>
                <a:sym typeface="Cambria Bold"/>
              </a:rPr>
              <a:t>FEASIBILITY &amp; VIABILITY PILLARS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15099" y="1819504"/>
            <a:ext cx="548554" cy="548554"/>
            <a:chOff x="0" y="0"/>
            <a:chExt cx="731406" cy="7314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690"/>
                    <a:pt x="0" y="365760"/>
                  </a:cubicBezTo>
                  <a:close/>
                </a:path>
              </a:pathLst>
            </a:custGeom>
            <a:solidFill>
              <a:srgbClr val="E879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93862" y="1963998"/>
            <a:ext cx="340157" cy="340157"/>
            <a:chOff x="0" y="0"/>
            <a:chExt cx="453542" cy="453542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3517" cy="453517"/>
            </a:xfrm>
            <a:custGeom>
              <a:avLst/>
              <a:gdLst/>
              <a:ahLst/>
              <a:cxnLst/>
              <a:rect r="r" b="b" t="t" l="l"/>
              <a:pathLst>
                <a:path h="453517" w="453517">
                  <a:moveTo>
                    <a:pt x="0" y="0"/>
                  </a:moveTo>
                  <a:lnTo>
                    <a:pt x="453517" y="0"/>
                  </a:lnTo>
                  <a:lnTo>
                    <a:pt x="453517" y="453517"/>
                  </a:lnTo>
                  <a:lnTo>
                    <a:pt x="0" y="45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295708" y="2538536"/>
            <a:ext cx="2249996" cy="74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</a:pPr>
            <a:r>
              <a:rPr lang="en-US" b="true" sz="2175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TECHNICAL FEASIBILITY</a:t>
            </a:r>
          </a:p>
        </p:txBody>
      </p:sp>
      <p:sp>
        <p:nvSpPr>
          <p:cNvPr name="AutoShape 15" id="15"/>
          <p:cNvSpPr/>
          <p:nvPr/>
        </p:nvSpPr>
        <p:spPr>
          <a:xfrm>
            <a:off x="6546304" y="1819504"/>
            <a:ext cx="2333" cy="3588505"/>
          </a:xfrm>
          <a:prstGeom prst="line">
            <a:avLst/>
          </a:prstGeom>
          <a:ln cap="rnd" w="9525">
            <a:solidFill>
              <a:srgbClr val="9A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465705" y="1859756"/>
            <a:ext cx="548554" cy="548554"/>
            <a:chOff x="0" y="0"/>
            <a:chExt cx="731406" cy="7314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690"/>
                    <a:pt x="0" y="365760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4467" y="1963998"/>
            <a:ext cx="340157" cy="340157"/>
            <a:chOff x="0" y="0"/>
            <a:chExt cx="453542" cy="453542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53517" cy="453517"/>
            </a:xfrm>
            <a:custGeom>
              <a:avLst/>
              <a:gdLst/>
              <a:ahLst/>
              <a:cxnLst/>
              <a:rect r="r" b="b" t="t" l="l"/>
              <a:pathLst>
                <a:path h="453517" w="453517">
                  <a:moveTo>
                    <a:pt x="0" y="0"/>
                  </a:moveTo>
                  <a:lnTo>
                    <a:pt x="453517" y="0"/>
                  </a:lnTo>
                  <a:lnTo>
                    <a:pt x="453517" y="453517"/>
                  </a:lnTo>
                  <a:lnTo>
                    <a:pt x="0" y="45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546304" y="2478167"/>
            <a:ext cx="2249996" cy="74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</a:pPr>
            <a:r>
              <a:rPr lang="en-US" b="true" sz="21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DATA &amp; AI FEASIBILITY</a:t>
            </a:r>
          </a:p>
        </p:txBody>
      </p:sp>
      <p:sp>
        <p:nvSpPr>
          <p:cNvPr name="AutoShape 21" id="21"/>
          <p:cNvSpPr/>
          <p:nvPr/>
        </p:nvSpPr>
        <p:spPr>
          <a:xfrm>
            <a:off x="8796909" y="1802120"/>
            <a:ext cx="12809" cy="3580171"/>
          </a:xfrm>
          <a:prstGeom prst="line">
            <a:avLst/>
          </a:prstGeom>
          <a:ln cap="rnd" w="9525">
            <a:solidFill>
              <a:srgbClr val="9A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716300" y="1859756"/>
            <a:ext cx="548554" cy="548554"/>
            <a:chOff x="0" y="0"/>
            <a:chExt cx="731406" cy="7314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690"/>
                    <a:pt x="0" y="365760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95062" y="1963998"/>
            <a:ext cx="340157" cy="340157"/>
            <a:chOff x="0" y="0"/>
            <a:chExt cx="453542" cy="453542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53517" cy="453517"/>
            </a:xfrm>
            <a:custGeom>
              <a:avLst/>
              <a:gdLst/>
              <a:ahLst/>
              <a:cxnLst/>
              <a:rect r="r" b="b" t="t" l="l"/>
              <a:pathLst>
                <a:path h="453517" w="453517">
                  <a:moveTo>
                    <a:pt x="0" y="0"/>
                  </a:moveTo>
                  <a:lnTo>
                    <a:pt x="453517" y="0"/>
                  </a:lnTo>
                  <a:lnTo>
                    <a:pt x="453517" y="453517"/>
                  </a:lnTo>
                  <a:lnTo>
                    <a:pt x="0" y="45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796909" y="2538536"/>
            <a:ext cx="2249996" cy="74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</a:pPr>
            <a:r>
              <a:rPr lang="en-US" b="true" sz="21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ECONOMIC VIABILITY</a:t>
            </a:r>
          </a:p>
        </p:txBody>
      </p:sp>
      <p:sp>
        <p:nvSpPr>
          <p:cNvPr name="AutoShape 27" id="27"/>
          <p:cNvSpPr/>
          <p:nvPr/>
        </p:nvSpPr>
        <p:spPr>
          <a:xfrm flipH="true">
            <a:off x="11058397" y="1819504"/>
            <a:ext cx="5081" cy="3566600"/>
          </a:xfrm>
          <a:prstGeom prst="line">
            <a:avLst/>
          </a:prstGeom>
          <a:ln cap="rnd" w="9525">
            <a:solidFill>
              <a:srgbClr val="9A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1966905" y="1859756"/>
            <a:ext cx="548554" cy="548554"/>
            <a:chOff x="0" y="0"/>
            <a:chExt cx="731406" cy="7314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690"/>
                    <a:pt x="0" y="365760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45667" y="1963998"/>
            <a:ext cx="340157" cy="340157"/>
            <a:chOff x="0" y="0"/>
            <a:chExt cx="453542" cy="453542"/>
          </a:xfrm>
        </p:grpSpPr>
        <p:sp>
          <p:nvSpPr>
            <p:cNvPr name="Freeform 31" id="31" descr="network.png"/>
            <p:cNvSpPr/>
            <p:nvPr/>
          </p:nvSpPr>
          <p:spPr>
            <a:xfrm flipH="false" flipV="false" rot="0">
              <a:off x="0" y="0"/>
              <a:ext cx="453517" cy="453517"/>
            </a:xfrm>
            <a:custGeom>
              <a:avLst/>
              <a:gdLst/>
              <a:ahLst/>
              <a:cxnLst/>
              <a:rect r="r" b="b" t="t" l="l"/>
              <a:pathLst>
                <a:path h="453517" w="453517">
                  <a:moveTo>
                    <a:pt x="0" y="0"/>
                  </a:moveTo>
                  <a:lnTo>
                    <a:pt x="453517" y="0"/>
                  </a:lnTo>
                  <a:lnTo>
                    <a:pt x="453517" y="453517"/>
                  </a:lnTo>
                  <a:lnTo>
                    <a:pt x="0" y="45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5" b="-5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120514" y="3194647"/>
            <a:ext cx="2264854" cy="217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One backend supports Web, WhatsApp and SMS; clarification is requested only when required. </a:t>
            </a:r>
          </a:p>
        </p:txBody>
      </p:sp>
      <p:sp>
        <p:nvSpPr>
          <p:cNvPr name="AutoShape 33" id="33"/>
          <p:cNvSpPr/>
          <p:nvPr/>
        </p:nvSpPr>
        <p:spPr>
          <a:xfrm flipH="true">
            <a:off x="13369962" y="1841473"/>
            <a:ext cx="15406" cy="3532246"/>
          </a:xfrm>
          <a:prstGeom prst="line">
            <a:avLst/>
          </a:prstGeom>
          <a:ln cap="rnd" w="9525">
            <a:solidFill>
              <a:srgbClr val="9A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4217501" y="1859756"/>
            <a:ext cx="548554" cy="548554"/>
            <a:chOff x="0" y="0"/>
            <a:chExt cx="731406" cy="7314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690"/>
                    <a:pt x="0" y="365760"/>
                  </a:cubicBezTo>
                  <a:close/>
                </a:path>
              </a:pathLst>
            </a:custGeom>
            <a:solidFill>
              <a:srgbClr val="E8791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296263" y="1963998"/>
            <a:ext cx="340157" cy="340157"/>
            <a:chOff x="0" y="0"/>
            <a:chExt cx="453542" cy="453542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53517" cy="453517"/>
            </a:xfrm>
            <a:custGeom>
              <a:avLst/>
              <a:gdLst/>
              <a:ahLst/>
              <a:cxnLst/>
              <a:rect r="r" b="b" t="t" l="l"/>
              <a:pathLst>
                <a:path h="453517" w="453517">
                  <a:moveTo>
                    <a:pt x="0" y="0"/>
                  </a:moveTo>
                  <a:lnTo>
                    <a:pt x="453517" y="0"/>
                  </a:lnTo>
                  <a:lnTo>
                    <a:pt x="453517" y="453517"/>
                  </a:lnTo>
                  <a:lnTo>
                    <a:pt x="0" y="45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" b="-5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298110" y="2498293"/>
            <a:ext cx="2249996" cy="74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</a:pPr>
            <a:r>
              <a:rPr lang="en-US" b="true" sz="2175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SOCIAL &amp; ACCESSIBILITY</a:t>
            </a:r>
          </a:p>
        </p:txBody>
      </p:sp>
      <p:sp>
        <p:nvSpPr>
          <p:cNvPr name="AutoShape 39" id="39"/>
          <p:cNvSpPr/>
          <p:nvPr/>
        </p:nvSpPr>
        <p:spPr>
          <a:xfrm flipH="true">
            <a:off x="15532927" y="1841473"/>
            <a:ext cx="68543" cy="3544629"/>
          </a:xfrm>
          <a:prstGeom prst="line">
            <a:avLst/>
          </a:prstGeom>
          <a:ln cap="rnd" w="9525">
            <a:solidFill>
              <a:srgbClr val="9A9A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6468106" y="1859756"/>
            <a:ext cx="548554" cy="548554"/>
            <a:chOff x="0" y="0"/>
            <a:chExt cx="731406" cy="73140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690"/>
                    <a:pt x="0" y="365760"/>
                  </a:cubicBezTo>
                  <a:close/>
                </a:path>
              </a:pathLst>
            </a:custGeom>
            <a:solidFill>
              <a:srgbClr val="E8791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546868" y="1963998"/>
            <a:ext cx="340157" cy="340157"/>
            <a:chOff x="0" y="0"/>
            <a:chExt cx="453542" cy="453542"/>
          </a:xfrm>
        </p:grpSpPr>
        <p:sp>
          <p:nvSpPr>
            <p:cNvPr name="Freeform 43" id="43" descr="scale.png"/>
            <p:cNvSpPr/>
            <p:nvPr/>
          </p:nvSpPr>
          <p:spPr>
            <a:xfrm flipH="false" flipV="false" rot="0">
              <a:off x="0" y="0"/>
              <a:ext cx="453517" cy="453517"/>
            </a:xfrm>
            <a:custGeom>
              <a:avLst/>
              <a:gdLst/>
              <a:ahLst/>
              <a:cxnLst/>
              <a:rect r="r" b="b" t="t" l="l"/>
              <a:pathLst>
                <a:path h="453517" w="453517">
                  <a:moveTo>
                    <a:pt x="0" y="0"/>
                  </a:moveTo>
                  <a:lnTo>
                    <a:pt x="453517" y="0"/>
                  </a:lnTo>
                  <a:lnTo>
                    <a:pt x="453517" y="453517"/>
                  </a:lnTo>
                  <a:lnTo>
                    <a:pt x="0" y="45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5" b="-5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5714078" y="3163910"/>
            <a:ext cx="2249996" cy="275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RBAC, encryption, API protection and secrets management safeguard user data, AI services and system access.</a:t>
            </a:r>
          </a:p>
          <a:p>
            <a:pPr algn="l">
              <a:lnSpc>
                <a:spcPts val="2624"/>
              </a:lnSpc>
            </a:pPr>
          </a:p>
        </p:txBody>
      </p:sp>
      <p:sp>
        <p:nvSpPr>
          <p:cNvPr name="AutoShape 45" id="45"/>
          <p:cNvSpPr/>
          <p:nvPr/>
        </p:nvSpPr>
        <p:spPr>
          <a:xfrm rot="5340">
            <a:off x="4286602" y="5379987"/>
            <a:ext cx="13524538" cy="0"/>
          </a:xfrm>
          <a:prstGeom prst="line">
            <a:avLst/>
          </a:prstGeom>
          <a:ln cap="rnd" w="9525">
            <a:solidFill>
              <a:srgbClr val="1A1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3520021" y="5550275"/>
            <a:ext cx="6899853" cy="36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</a:pPr>
            <a:r>
              <a:rPr lang="en-US" b="true" sz="2175">
                <a:solidFill>
                  <a:srgbClr val="27303A"/>
                </a:solidFill>
                <a:latin typeface="Cambria Bold"/>
                <a:ea typeface="Cambria Bold"/>
                <a:cs typeface="Cambria Bold"/>
                <a:sym typeface="Cambria Bold"/>
              </a:rPr>
              <a:t>POTENTIAL CHALLENGES AND RISKS</a:t>
            </a:r>
          </a:p>
        </p:txBody>
      </p:sp>
      <p:sp>
        <p:nvSpPr>
          <p:cNvPr name="AutoShape 47" id="47"/>
          <p:cNvSpPr/>
          <p:nvPr/>
        </p:nvSpPr>
        <p:spPr>
          <a:xfrm rot="5340">
            <a:off x="4286602" y="6068358"/>
            <a:ext cx="13524538" cy="0"/>
          </a:xfrm>
          <a:prstGeom prst="line">
            <a:avLst/>
          </a:prstGeom>
          <a:ln cap="rnd" w="9525">
            <a:solidFill>
              <a:srgbClr val="1A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74438" y="2251948"/>
            <a:ext cx="3928948" cy="7968758"/>
            <a:chOff x="0" y="0"/>
            <a:chExt cx="5238598" cy="10625010"/>
          </a:xfrm>
        </p:grpSpPr>
        <p:sp>
          <p:nvSpPr>
            <p:cNvPr name="Freeform 49" id="49" descr="1788086613359_image.png"/>
            <p:cNvSpPr/>
            <p:nvPr/>
          </p:nvSpPr>
          <p:spPr>
            <a:xfrm flipH="false" flipV="false" rot="0">
              <a:off x="0" y="0"/>
              <a:ext cx="5238623" cy="10625074"/>
            </a:xfrm>
            <a:custGeom>
              <a:avLst/>
              <a:gdLst/>
              <a:ahLst/>
              <a:cxnLst/>
              <a:rect r="r" b="b" t="t" l="l"/>
              <a:pathLst>
                <a:path h="10625074" w="5238623">
                  <a:moveTo>
                    <a:pt x="0" y="0"/>
                  </a:moveTo>
                  <a:lnTo>
                    <a:pt x="5238623" y="0"/>
                  </a:lnTo>
                  <a:lnTo>
                    <a:pt x="5238623" y="10625074"/>
                  </a:lnTo>
                  <a:lnTo>
                    <a:pt x="0" y="10625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4456" y="126387"/>
            <a:ext cx="3977773" cy="1170375"/>
            <a:chOff x="0" y="0"/>
            <a:chExt cx="5303698" cy="15605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03647" cy="1560449"/>
            </a:xfrm>
            <a:custGeom>
              <a:avLst/>
              <a:gdLst/>
              <a:ahLst/>
              <a:cxnLst/>
              <a:rect r="r" b="b" t="t" l="l"/>
              <a:pathLst>
                <a:path h="1560449" w="5303647">
                  <a:moveTo>
                    <a:pt x="0" y="0"/>
                  </a:moveTo>
                  <a:lnTo>
                    <a:pt x="5303647" y="0"/>
                  </a:lnTo>
                  <a:lnTo>
                    <a:pt x="5303647" y="1560449"/>
                  </a:lnTo>
                  <a:lnTo>
                    <a:pt x="0" y="1560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143" t="-39353" r="0" b="-57838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6651307" y="3363639"/>
            <a:ext cx="2043446" cy="178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1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Knowledge base from official BIS sources, with status and revision tracking.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939174" y="3330292"/>
            <a:ext cx="2043446" cy="205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0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Open-source AI infrastructure reduces licensing costs; one backend supports multiple channels.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94153" y="3315186"/>
            <a:ext cx="2249996" cy="143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10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RAG pipeline with OCR/vision parsing on FastAPI + Postgresql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047505" y="2498293"/>
            <a:ext cx="2249996" cy="74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</a:pPr>
            <a:r>
              <a:rPr lang="en-US" b="true" sz="21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OPERATIONAL VIABILITY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456987" y="3298612"/>
            <a:ext cx="1953454" cy="2051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025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Multilingual text/voice via IndicTrans 2, over WhatsApp/SMS — no new app. </a:t>
            </a:r>
          </a:p>
          <a:p>
            <a:pPr algn="l">
              <a:lnSpc>
                <a:spcPts val="2624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15659595" y="2419179"/>
            <a:ext cx="2249996" cy="74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</a:pPr>
            <a:r>
              <a:rPr lang="en-US" b="true" sz="2175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SECURITY, LEGAL &amp; TRUST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868930" y="5573729"/>
            <a:ext cx="6650012" cy="35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143">
                <a:solidFill>
                  <a:srgbClr val="27303A"/>
                </a:solidFill>
                <a:latin typeface="Cambria Bold"/>
                <a:ea typeface="Cambria Bold"/>
                <a:cs typeface="Cambria Bold"/>
                <a:sym typeface="Cambria Bold"/>
              </a:rPr>
              <a:t>STRATEGIES FOR OVERCOMING THESE CHALLENGES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276954" y="6177134"/>
            <a:ext cx="2427751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BIS DATA CHANGES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176712" y="6585956"/>
            <a:ext cx="308895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Standards get revised or withdrawn — stale answers mislead users.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497042" y="6177134"/>
            <a:ext cx="2427751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HALLUCINATION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471410" y="6605006"/>
            <a:ext cx="3036599" cy="114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A confident-looking wrong answer carries real legal risk.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122229" y="8031575"/>
            <a:ext cx="2427751" cy="7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LOW-BANDWIDTH ACCESS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122081" y="8748131"/>
            <a:ext cx="3068741" cy="139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2112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 Rural/MSME users on weak connections may struggle to load rich responses over WhatsApp/SMS.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455932" y="7995495"/>
            <a:ext cx="2427751" cy="72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>
                <a:solidFill>
                  <a:srgbClr val="C462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MULTILINGUAL ACCURACY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400849" y="8772649"/>
            <a:ext cx="3076651" cy="114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Hindi/Hinglish queries confuse translation; terms rarely map 1:1.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063478" y="6136872"/>
            <a:ext cx="2686945" cy="72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>
                <a:solidFill>
                  <a:srgbClr val="1F6E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FRESHNESS &amp; STATUS CHECK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071517" y="6813223"/>
            <a:ext cx="3088796" cy="1481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2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Live status badge and last-updated date, via license lookups.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585394" y="6096638"/>
            <a:ext cx="2933548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>
                <a:solidFill>
                  <a:srgbClr val="1F6E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GROUNDED, CITED RAG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510828" y="6504699"/>
            <a:ext cx="3437553" cy="1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Answers restricted to retrieved BIS text, with citation and confidence score.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003090" y="7990989"/>
            <a:ext cx="2427751" cy="7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>
                <a:solidFill>
                  <a:srgbClr val="1F6E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LIGHTWEIGHT RESPONSE MODE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983278" y="8671560"/>
            <a:ext cx="3313805" cy="145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222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22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ext-first replies by default, with voice/image only sent when the user explicitly requests them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560639" y="8052902"/>
            <a:ext cx="2427751" cy="72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>
                <a:solidFill>
                  <a:srgbClr val="1F6E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TRANSLATION VALIDATION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433714" y="8672798"/>
            <a:ext cx="3503247" cy="15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2250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IndicTrans 2 preserves technical terms; reconfirmation confirms intent first. 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4456" y="1623622"/>
            <a:ext cx="3746097" cy="42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27303A"/>
                </a:solidFill>
                <a:latin typeface="Cambria Bold"/>
                <a:ea typeface="Cambria Bold"/>
                <a:cs typeface="Cambria Bold"/>
                <a:sym typeface="Cambria Bold"/>
              </a:rPr>
              <a:t>MULTILINGUAL SUPPORT</a:t>
            </a:r>
          </a:p>
        </p:txBody>
      </p:sp>
      <p:sp>
        <p:nvSpPr>
          <p:cNvPr name="AutoShape 76" id="76"/>
          <p:cNvSpPr/>
          <p:nvPr/>
        </p:nvSpPr>
        <p:spPr>
          <a:xfrm flipV="true">
            <a:off x="10680349" y="5382291"/>
            <a:ext cx="0" cy="4901270"/>
          </a:xfrm>
          <a:prstGeom prst="line">
            <a:avLst/>
          </a:prstGeom>
          <a:ln cap="flat" w="19050">
            <a:solidFill>
              <a:srgbClr val="1A1A1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669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399032"/>
            <a:ext cx="4183199" cy="438750"/>
            <a:chOff x="0" y="0"/>
            <a:chExt cx="5577599" cy="58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77600" cy="585000"/>
            </a:xfrm>
            <a:custGeom>
              <a:avLst/>
              <a:gdLst/>
              <a:ahLst/>
              <a:cxnLst/>
              <a:rect r="r" b="b" t="t" l="l"/>
              <a:pathLst>
                <a:path h="585000" w="5577600">
                  <a:moveTo>
                    <a:pt x="0" y="0"/>
                  </a:moveTo>
                  <a:lnTo>
                    <a:pt x="5577600" y="0"/>
                  </a:lnTo>
                  <a:lnTo>
                    <a:pt x="55776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777" r="0" b="-13577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577599" cy="60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C4620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UNIQUE FEATURES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21" y="1947672"/>
            <a:ext cx="4183199" cy="575100"/>
            <a:chOff x="0" y="0"/>
            <a:chExt cx="5577599" cy="766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77586" cy="766826"/>
            </a:xfrm>
            <a:custGeom>
              <a:avLst/>
              <a:gdLst/>
              <a:ahLst/>
              <a:cxnLst/>
              <a:rect r="r" b="b" t="t" l="l"/>
              <a:pathLst>
                <a:path h="766826" w="5577586">
                  <a:moveTo>
                    <a:pt x="0" y="161417"/>
                  </a:moveTo>
                  <a:cubicBezTo>
                    <a:pt x="0" y="72263"/>
                    <a:pt x="72263" y="0"/>
                    <a:pt x="161417" y="0"/>
                  </a:cubicBezTo>
                  <a:lnTo>
                    <a:pt x="5416169" y="0"/>
                  </a:lnTo>
                  <a:cubicBezTo>
                    <a:pt x="5505323" y="0"/>
                    <a:pt x="5577586" y="72263"/>
                    <a:pt x="5577586" y="161417"/>
                  </a:cubicBezTo>
                  <a:lnTo>
                    <a:pt x="5577586" y="605409"/>
                  </a:lnTo>
                  <a:cubicBezTo>
                    <a:pt x="5577586" y="694563"/>
                    <a:pt x="5505323" y="766826"/>
                    <a:pt x="5416169" y="766826"/>
                  </a:cubicBezTo>
                  <a:lnTo>
                    <a:pt x="161417" y="766826"/>
                  </a:lnTo>
                  <a:cubicBezTo>
                    <a:pt x="72263" y="766826"/>
                    <a:pt x="0" y="694563"/>
                    <a:pt x="0" y="605409"/>
                  </a:cubicBezTo>
                  <a:close/>
                </a:path>
              </a:pathLst>
            </a:custGeom>
            <a:solidFill>
              <a:srgbClr val="E879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781" y="1947672"/>
            <a:ext cx="3909146" cy="575100"/>
            <a:chOff x="0" y="0"/>
            <a:chExt cx="5212194" cy="766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200" cy="766800"/>
            </a:xfrm>
            <a:custGeom>
              <a:avLst/>
              <a:gdLst/>
              <a:ahLst/>
              <a:cxnLst/>
              <a:rect r="r" b="b" t="t" l="l"/>
              <a:pathLst>
                <a:path h="766800" w="5212200">
                  <a:moveTo>
                    <a:pt x="0" y="0"/>
                  </a:moveTo>
                  <a:lnTo>
                    <a:pt x="5212200" y="0"/>
                  </a:lnTo>
                  <a:lnTo>
                    <a:pt x="5212200" y="766800"/>
                  </a:lnTo>
                  <a:lnTo>
                    <a:pt x="0" y="7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446" r="0" b="-824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12194" cy="804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License-Linked Freshness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48621" y="2526592"/>
            <a:ext cx="4183199" cy="108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17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Every answer shows the regulation / last-updated date tied to its license number.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48621" y="3613556"/>
            <a:ext cx="4183199" cy="575100"/>
            <a:chOff x="0" y="0"/>
            <a:chExt cx="5577599" cy="7668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77586" cy="766826"/>
            </a:xfrm>
            <a:custGeom>
              <a:avLst/>
              <a:gdLst/>
              <a:ahLst/>
              <a:cxnLst/>
              <a:rect r="r" b="b" t="t" l="l"/>
              <a:pathLst>
                <a:path h="766826" w="5577586">
                  <a:moveTo>
                    <a:pt x="0" y="161417"/>
                  </a:moveTo>
                  <a:cubicBezTo>
                    <a:pt x="0" y="72263"/>
                    <a:pt x="72263" y="0"/>
                    <a:pt x="161417" y="0"/>
                  </a:cubicBezTo>
                  <a:lnTo>
                    <a:pt x="5416169" y="0"/>
                  </a:lnTo>
                  <a:cubicBezTo>
                    <a:pt x="5505323" y="0"/>
                    <a:pt x="5577586" y="72263"/>
                    <a:pt x="5577586" y="161417"/>
                  </a:cubicBezTo>
                  <a:lnTo>
                    <a:pt x="5577586" y="605409"/>
                  </a:lnTo>
                  <a:cubicBezTo>
                    <a:pt x="5577586" y="694563"/>
                    <a:pt x="5505323" y="766826"/>
                    <a:pt x="5416169" y="766826"/>
                  </a:cubicBezTo>
                  <a:lnTo>
                    <a:pt x="161417" y="766826"/>
                  </a:lnTo>
                  <a:cubicBezTo>
                    <a:pt x="72263" y="766826"/>
                    <a:pt x="0" y="694563"/>
                    <a:pt x="0" y="605409"/>
                  </a:cubicBezTo>
                  <a:close/>
                </a:path>
              </a:pathLst>
            </a:custGeom>
            <a:solidFill>
              <a:srgbClr val="E8791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5781" y="3613556"/>
            <a:ext cx="3909146" cy="575100"/>
            <a:chOff x="0" y="0"/>
            <a:chExt cx="5212194" cy="766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2200" cy="766800"/>
            </a:xfrm>
            <a:custGeom>
              <a:avLst/>
              <a:gdLst/>
              <a:ahLst/>
              <a:cxnLst/>
              <a:rect r="r" b="b" t="t" l="l"/>
              <a:pathLst>
                <a:path h="766800" w="5212200">
                  <a:moveTo>
                    <a:pt x="0" y="0"/>
                  </a:moveTo>
                  <a:lnTo>
                    <a:pt x="5212200" y="0"/>
                  </a:lnTo>
                  <a:lnTo>
                    <a:pt x="5212200" y="766800"/>
                  </a:lnTo>
                  <a:lnTo>
                    <a:pt x="0" y="7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446" r="0" b="-824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2194" cy="804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Reachable Official Links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48621" y="4192467"/>
            <a:ext cx="4183199" cy="108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17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Direct links to the official BIS portal — not just bot-generated text.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48621" y="5067633"/>
            <a:ext cx="4183199" cy="575100"/>
            <a:chOff x="0" y="0"/>
            <a:chExt cx="5577599" cy="7668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77586" cy="766826"/>
            </a:xfrm>
            <a:custGeom>
              <a:avLst/>
              <a:gdLst/>
              <a:ahLst/>
              <a:cxnLst/>
              <a:rect r="r" b="b" t="t" l="l"/>
              <a:pathLst>
                <a:path h="766826" w="5577586">
                  <a:moveTo>
                    <a:pt x="0" y="161417"/>
                  </a:moveTo>
                  <a:cubicBezTo>
                    <a:pt x="0" y="72263"/>
                    <a:pt x="72263" y="0"/>
                    <a:pt x="161417" y="0"/>
                  </a:cubicBezTo>
                  <a:lnTo>
                    <a:pt x="5416169" y="0"/>
                  </a:lnTo>
                  <a:cubicBezTo>
                    <a:pt x="5505323" y="0"/>
                    <a:pt x="5577586" y="72263"/>
                    <a:pt x="5577586" y="161417"/>
                  </a:cubicBezTo>
                  <a:lnTo>
                    <a:pt x="5577586" y="605409"/>
                  </a:lnTo>
                  <a:cubicBezTo>
                    <a:pt x="5577586" y="694563"/>
                    <a:pt x="5505323" y="766826"/>
                    <a:pt x="5416169" y="766826"/>
                  </a:cubicBezTo>
                  <a:lnTo>
                    <a:pt x="161417" y="766826"/>
                  </a:lnTo>
                  <a:cubicBezTo>
                    <a:pt x="72263" y="766826"/>
                    <a:pt x="0" y="694563"/>
                    <a:pt x="0" y="605409"/>
                  </a:cubicBezTo>
                  <a:close/>
                </a:path>
              </a:pathLst>
            </a:custGeom>
            <a:solidFill>
              <a:srgbClr val="E8791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781" y="5067633"/>
            <a:ext cx="3909146" cy="575100"/>
            <a:chOff x="0" y="0"/>
            <a:chExt cx="5212194" cy="7668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200" cy="766800"/>
            </a:xfrm>
            <a:custGeom>
              <a:avLst/>
              <a:gdLst/>
              <a:ahLst/>
              <a:cxnLst/>
              <a:rect r="r" b="b" t="t" l="l"/>
              <a:pathLst>
                <a:path h="766800" w="5212200">
                  <a:moveTo>
                    <a:pt x="0" y="0"/>
                  </a:moveTo>
                  <a:lnTo>
                    <a:pt x="5212200" y="0"/>
                  </a:lnTo>
                  <a:lnTo>
                    <a:pt x="5212200" y="766800"/>
                  </a:lnTo>
                  <a:lnTo>
                    <a:pt x="0" y="7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446" r="0" b="-824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212194" cy="804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Confidence-Scored Answers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48621" y="5646544"/>
            <a:ext cx="4183199" cy="108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17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Users see how certain the AI is before they act on it.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48773" y="6794297"/>
            <a:ext cx="4183199" cy="575100"/>
            <a:chOff x="0" y="0"/>
            <a:chExt cx="5577599" cy="7668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77586" cy="766826"/>
            </a:xfrm>
            <a:custGeom>
              <a:avLst/>
              <a:gdLst/>
              <a:ahLst/>
              <a:cxnLst/>
              <a:rect r="r" b="b" t="t" l="l"/>
              <a:pathLst>
                <a:path h="766826" w="5577586">
                  <a:moveTo>
                    <a:pt x="0" y="161417"/>
                  </a:moveTo>
                  <a:cubicBezTo>
                    <a:pt x="0" y="72263"/>
                    <a:pt x="72263" y="0"/>
                    <a:pt x="161417" y="0"/>
                  </a:cubicBezTo>
                  <a:lnTo>
                    <a:pt x="5416169" y="0"/>
                  </a:lnTo>
                  <a:cubicBezTo>
                    <a:pt x="5505323" y="0"/>
                    <a:pt x="5577586" y="72263"/>
                    <a:pt x="5577586" y="161417"/>
                  </a:cubicBezTo>
                  <a:lnTo>
                    <a:pt x="5577586" y="605409"/>
                  </a:lnTo>
                  <a:cubicBezTo>
                    <a:pt x="5577586" y="694563"/>
                    <a:pt x="5505323" y="766826"/>
                    <a:pt x="5416169" y="766826"/>
                  </a:cubicBezTo>
                  <a:lnTo>
                    <a:pt x="161417" y="766826"/>
                  </a:lnTo>
                  <a:cubicBezTo>
                    <a:pt x="72263" y="766826"/>
                    <a:pt x="0" y="694563"/>
                    <a:pt x="0" y="605409"/>
                  </a:cubicBezTo>
                  <a:close/>
                </a:path>
              </a:pathLst>
            </a:custGeom>
            <a:solidFill>
              <a:srgbClr val="E8791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5933" y="6794297"/>
            <a:ext cx="3909146" cy="575100"/>
            <a:chOff x="0" y="0"/>
            <a:chExt cx="5212194" cy="7668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2200" cy="766800"/>
            </a:xfrm>
            <a:custGeom>
              <a:avLst/>
              <a:gdLst/>
              <a:ahLst/>
              <a:cxnLst/>
              <a:rect r="r" b="b" t="t" l="l"/>
              <a:pathLst>
                <a:path h="766800" w="5212200">
                  <a:moveTo>
                    <a:pt x="0" y="0"/>
                  </a:moveTo>
                  <a:lnTo>
                    <a:pt x="5212200" y="0"/>
                  </a:lnTo>
                  <a:lnTo>
                    <a:pt x="5212200" y="766800"/>
                  </a:lnTo>
                  <a:lnTo>
                    <a:pt x="0" y="7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446" r="0" b="-8244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212194" cy="804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Role-Aware Personalization 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48773" y="7373217"/>
            <a:ext cx="4183199" cy="108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17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Role Selector (Consumer / MSME / Student / Manufacturer) tailors each answer's depth and next steps. 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48621" y="8611191"/>
            <a:ext cx="4183199" cy="575100"/>
            <a:chOff x="0" y="0"/>
            <a:chExt cx="5577599" cy="7668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77586" cy="766826"/>
            </a:xfrm>
            <a:custGeom>
              <a:avLst/>
              <a:gdLst/>
              <a:ahLst/>
              <a:cxnLst/>
              <a:rect r="r" b="b" t="t" l="l"/>
              <a:pathLst>
                <a:path h="766826" w="5577586">
                  <a:moveTo>
                    <a:pt x="0" y="161417"/>
                  </a:moveTo>
                  <a:cubicBezTo>
                    <a:pt x="0" y="72263"/>
                    <a:pt x="72263" y="0"/>
                    <a:pt x="161417" y="0"/>
                  </a:cubicBezTo>
                  <a:lnTo>
                    <a:pt x="5416169" y="0"/>
                  </a:lnTo>
                  <a:cubicBezTo>
                    <a:pt x="5505323" y="0"/>
                    <a:pt x="5577586" y="72263"/>
                    <a:pt x="5577586" y="161417"/>
                  </a:cubicBezTo>
                  <a:lnTo>
                    <a:pt x="5577586" y="605409"/>
                  </a:lnTo>
                  <a:cubicBezTo>
                    <a:pt x="5577586" y="694563"/>
                    <a:pt x="5505323" y="766826"/>
                    <a:pt x="5416169" y="766826"/>
                  </a:cubicBezTo>
                  <a:lnTo>
                    <a:pt x="161417" y="766826"/>
                  </a:lnTo>
                  <a:cubicBezTo>
                    <a:pt x="72263" y="766826"/>
                    <a:pt x="0" y="694563"/>
                    <a:pt x="0" y="605409"/>
                  </a:cubicBezTo>
                  <a:close/>
                </a:path>
              </a:pathLst>
            </a:custGeom>
            <a:solidFill>
              <a:srgbClr val="E8791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85781" y="8611191"/>
            <a:ext cx="3909146" cy="575100"/>
            <a:chOff x="0" y="0"/>
            <a:chExt cx="5212194" cy="76680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2200" cy="766800"/>
            </a:xfrm>
            <a:custGeom>
              <a:avLst/>
              <a:gdLst/>
              <a:ahLst/>
              <a:cxnLst/>
              <a:rect r="r" b="b" t="t" l="l"/>
              <a:pathLst>
                <a:path h="766800" w="5212200">
                  <a:moveTo>
                    <a:pt x="0" y="0"/>
                  </a:moveTo>
                  <a:lnTo>
                    <a:pt x="5212200" y="0"/>
                  </a:lnTo>
                  <a:lnTo>
                    <a:pt x="5212200" y="766800"/>
                  </a:lnTo>
                  <a:lnTo>
                    <a:pt x="0" y="7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446" r="0" b="-8244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212194" cy="804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Guideline-Query Contacts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48773" y="9129341"/>
            <a:ext cx="4183199" cy="103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217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BIS contact details auto-attached whenever a guideline question is asked.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903413" y="1371600"/>
            <a:ext cx="12550054" cy="438750"/>
            <a:chOff x="0" y="0"/>
            <a:chExt cx="16733406" cy="585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733400" cy="585000"/>
            </a:xfrm>
            <a:custGeom>
              <a:avLst/>
              <a:gdLst/>
              <a:ahLst/>
              <a:cxnLst/>
              <a:rect r="r" b="b" t="t" l="l"/>
              <a:pathLst>
                <a:path h="585000" w="16733400">
                  <a:moveTo>
                    <a:pt x="0" y="0"/>
                  </a:moveTo>
                  <a:lnTo>
                    <a:pt x="16733400" y="0"/>
                  </a:lnTo>
                  <a:lnTo>
                    <a:pt x="167334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7352" r="0" b="-50735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6733406" cy="604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1F6E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IMPACTS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143500" y="1947672"/>
            <a:ext cx="2345398" cy="1268997"/>
            <a:chOff x="0" y="0"/>
            <a:chExt cx="3127197" cy="16919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27248" cy="1692021"/>
            </a:xfrm>
            <a:custGeom>
              <a:avLst/>
              <a:gdLst/>
              <a:ahLst/>
              <a:cxnLst/>
              <a:rect r="r" b="b" t="t" l="l"/>
              <a:pathLst>
                <a:path h="1692021" w="3127248">
                  <a:moveTo>
                    <a:pt x="0" y="218313"/>
                  </a:moveTo>
                  <a:cubicBezTo>
                    <a:pt x="0" y="97790"/>
                    <a:pt x="97790" y="0"/>
                    <a:pt x="218313" y="0"/>
                  </a:cubicBezTo>
                  <a:lnTo>
                    <a:pt x="2908935" y="0"/>
                  </a:lnTo>
                  <a:cubicBezTo>
                    <a:pt x="3029458" y="0"/>
                    <a:pt x="3127248" y="97790"/>
                    <a:pt x="3127248" y="218313"/>
                  </a:cubicBezTo>
                  <a:lnTo>
                    <a:pt x="3127248" y="1473708"/>
                  </a:lnTo>
                  <a:cubicBezTo>
                    <a:pt x="3127248" y="1594231"/>
                    <a:pt x="3029458" y="1692021"/>
                    <a:pt x="2908935" y="1692021"/>
                  </a:cubicBezTo>
                  <a:lnTo>
                    <a:pt x="218313" y="1692021"/>
                  </a:lnTo>
                  <a:cubicBezTo>
                    <a:pt x="97790" y="1692021"/>
                    <a:pt x="0" y="1594231"/>
                    <a:pt x="0" y="147370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212080" y="1947672"/>
            <a:ext cx="2208152" cy="1268997"/>
            <a:chOff x="0" y="0"/>
            <a:chExt cx="2944203" cy="16919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44200" cy="1692000"/>
            </a:xfrm>
            <a:custGeom>
              <a:avLst/>
              <a:gdLst/>
              <a:ahLst/>
              <a:cxnLst/>
              <a:rect r="r" b="b" t="t" l="l"/>
              <a:pathLst>
                <a:path h="16920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692000"/>
                  </a:lnTo>
                  <a:lnTo>
                    <a:pt x="0" y="169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734" t="0" r="-2373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944203" cy="1739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Consumer Trust &amp; Safety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136356" y="3336903"/>
            <a:ext cx="2359685" cy="2032987"/>
            <a:chOff x="0" y="0"/>
            <a:chExt cx="3146247" cy="27106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46298" cy="2710688"/>
            </a:xfrm>
            <a:custGeom>
              <a:avLst/>
              <a:gdLst/>
              <a:ahLst/>
              <a:cxnLst/>
              <a:rect r="r" b="b" t="t" l="l"/>
              <a:pathLst>
                <a:path h="2710688" w="3146298">
                  <a:moveTo>
                    <a:pt x="0" y="0"/>
                  </a:moveTo>
                  <a:lnTo>
                    <a:pt x="3146298" y="0"/>
                  </a:lnTo>
                  <a:lnTo>
                    <a:pt x="3146298" y="2710688"/>
                  </a:lnTo>
                  <a:lnTo>
                    <a:pt x="0" y="27106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38" t="0" r="-60537" b="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3146247" cy="27773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29"/>
                </a:lnSpc>
              </a:pPr>
              <a:r>
                <a:rPr lang="en-US" sz="232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Licence and mark checks help users identify potentially invalid certification information.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694676" y="1947672"/>
            <a:ext cx="2345398" cy="1268997"/>
            <a:chOff x="0" y="0"/>
            <a:chExt cx="3127197" cy="16919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27248" cy="1692021"/>
            </a:xfrm>
            <a:custGeom>
              <a:avLst/>
              <a:gdLst/>
              <a:ahLst/>
              <a:cxnLst/>
              <a:rect r="r" b="b" t="t" l="l"/>
              <a:pathLst>
                <a:path h="1692021" w="3127248">
                  <a:moveTo>
                    <a:pt x="0" y="218313"/>
                  </a:moveTo>
                  <a:cubicBezTo>
                    <a:pt x="0" y="97790"/>
                    <a:pt x="97790" y="0"/>
                    <a:pt x="218313" y="0"/>
                  </a:cubicBezTo>
                  <a:lnTo>
                    <a:pt x="2908935" y="0"/>
                  </a:lnTo>
                  <a:cubicBezTo>
                    <a:pt x="3029458" y="0"/>
                    <a:pt x="3127248" y="97790"/>
                    <a:pt x="3127248" y="218313"/>
                  </a:cubicBezTo>
                  <a:lnTo>
                    <a:pt x="3127248" y="1473708"/>
                  </a:lnTo>
                  <a:cubicBezTo>
                    <a:pt x="3127248" y="1594231"/>
                    <a:pt x="3029458" y="1692021"/>
                    <a:pt x="2908935" y="1692021"/>
                  </a:cubicBezTo>
                  <a:lnTo>
                    <a:pt x="218313" y="1692021"/>
                  </a:lnTo>
                  <a:cubicBezTo>
                    <a:pt x="97790" y="1692021"/>
                    <a:pt x="0" y="1594231"/>
                    <a:pt x="0" y="147370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763256" y="1947672"/>
            <a:ext cx="2208152" cy="1268997"/>
            <a:chOff x="0" y="0"/>
            <a:chExt cx="2944203" cy="16919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44200" cy="1692000"/>
            </a:xfrm>
            <a:custGeom>
              <a:avLst/>
              <a:gdLst/>
              <a:ahLst/>
              <a:cxnLst/>
              <a:rect r="r" b="b" t="t" l="l"/>
              <a:pathLst>
                <a:path h="16920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692000"/>
                  </a:lnTo>
                  <a:lnTo>
                    <a:pt x="0" y="169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734" t="0" r="-2373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944203" cy="1739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MSME Compliance Speed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87523" y="3336922"/>
            <a:ext cx="2359685" cy="2312889"/>
            <a:chOff x="0" y="0"/>
            <a:chExt cx="3146247" cy="30838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46298" cy="3083814"/>
            </a:xfrm>
            <a:custGeom>
              <a:avLst/>
              <a:gdLst/>
              <a:ahLst/>
              <a:cxnLst/>
              <a:rect r="r" b="b" t="t" l="l"/>
              <a:pathLst>
                <a:path h="3083814" w="3146298">
                  <a:moveTo>
                    <a:pt x="0" y="0"/>
                  </a:moveTo>
                  <a:lnTo>
                    <a:pt x="3146298" y="0"/>
                  </a:lnTo>
                  <a:lnTo>
                    <a:pt x="3146298" y="3083814"/>
                  </a:lnTo>
                  <a:lnTo>
                    <a:pt x="0" y="30838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5757" t="0" r="-75756" b="-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3146247" cy="315052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29"/>
                </a:lnSpc>
              </a:pPr>
              <a:r>
                <a:rPr lang="en-US" sz="232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Reduces time spent searching across standards, schemes and certification requirements. 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45842" y="1947672"/>
            <a:ext cx="2345398" cy="1268997"/>
            <a:chOff x="0" y="0"/>
            <a:chExt cx="3127197" cy="16919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27248" cy="1692021"/>
            </a:xfrm>
            <a:custGeom>
              <a:avLst/>
              <a:gdLst/>
              <a:ahLst/>
              <a:cxnLst/>
              <a:rect r="r" b="b" t="t" l="l"/>
              <a:pathLst>
                <a:path h="1692021" w="3127248">
                  <a:moveTo>
                    <a:pt x="0" y="218313"/>
                  </a:moveTo>
                  <a:cubicBezTo>
                    <a:pt x="0" y="97790"/>
                    <a:pt x="97790" y="0"/>
                    <a:pt x="218313" y="0"/>
                  </a:cubicBezTo>
                  <a:lnTo>
                    <a:pt x="2908935" y="0"/>
                  </a:lnTo>
                  <a:cubicBezTo>
                    <a:pt x="3029458" y="0"/>
                    <a:pt x="3127248" y="97790"/>
                    <a:pt x="3127248" y="218313"/>
                  </a:cubicBezTo>
                  <a:lnTo>
                    <a:pt x="3127248" y="1473708"/>
                  </a:lnTo>
                  <a:cubicBezTo>
                    <a:pt x="3127248" y="1594231"/>
                    <a:pt x="3029458" y="1692021"/>
                    <a:pt x="2908935" y="1692021"/>
                  </a:cubicBezTo>
                  <a:lnTo>
                    <a:pt x="218313" y="1692021"/>
                  </a:lnTo>
                  <a:cubicBezTo>
                    <a:pt x="97790" y="1692021"/>
                    <a:pt x="0" y="1594231"/>
                    <a:pt x="0" y="147370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314422" y="1947672"/>
            <a:ext cx="2208152" cy="1268997"/>
            <a:chOff x="0" y="0"/>
            <a:chExt cx="2944203" cy="16919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944200" cy="1692000"/>
            </a:xfrm>
            <a:custGeom>
              <a:avLst/>
              <a:gdLst/>
              <a:ahLst/>
              <a:cxnLst/>
              <a:rect r="r" b="b" t="t" l="l"/>
              <a:pathLst>
                <a:path h="16920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692000"/>
                  </a:lnTo>
                  <a:lnTo>
                    <a:pt x="0" y="169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734" t="0" r="-23734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944203" cy="1739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Inclusion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238718" y="3336903"/>
            <a:ext cx="2359685" cy="2032987"/>
            <a:chOff x="0" y="0"/>
            <a:chExt cx="3146247" cy="27106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46298" cy="2710688"/>
            </a:xfrm>
            <a:custGeom>
              <a:avLst/>
              <a:gdLst/>
              <a:ahLst/>
              <a:cxnLst/>
              <a:rect r="r" b="b" t="t" l="l"/>
              <a:pathLst>
                <a:path h="2710688" w="3146298">
                  <a:moveTo>
                    <a:pt x="0" y="0"/>
                  </a:moveTo>
                  <a:lnTo>
                    <a:pt x="3146298" y="0"/>
                  </a:lnTo>
                  <a:lnTo>
                    <a:pt x="3146298" y="2710688"/>
                  </a:lnTo>
                  <a:lnTo>
                    <a:pt x="0" y="27106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38" t="0" r="-60537" b="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3146247" cy="27773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29"/>
                </a:lnSpc>
              </a:pPr>
              <a:r>
                <a:rPr lang="en-US" sz="232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Voice and regional-language interaction makes BIS information easier to access. 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797018" y="1947672"/>
            <a:ext cx="2345398" cy="1268997"/>
            <a:chOff x="0" y="0"/>
            <a:chExt cx="3127197" cy="16919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127248" cy="1692021"/>
            </a:xfrm>
            <a:custGeom>
              <a:avLst/>
              <a:gdLst/>
              <a:ahLst/>
              <a:cxnLst/>
              <a:rect r="r" b="b" t="t" l="l"/>
              <a:pathLst>
                <a:path h="1692021" w="3127248">
                  <a:moveTo>
                    <a:pt x="0" y="218313"/>
                  </a:moveTo>
                  <a:cubicBezTo>
                    <a:pt x="0" y="97790"/>
                    <a:pt x="97790" y="0"/>
                    <a:pt x="218313" y="0"/>
                  </a:cubicBezTo>
                  <a:lnTo>
                    <a:pt x="2908935" y="0"/>
                  </a:lnTo>
                  <a:cubicBezTo>
                    <a:pt x="3029458" y="0"/>
                    <a:pt x="3127248" y="97790"/>
                    <a:pt x="3127248" y="218313"/>
                  </a:cubicBezTo>
                  <a:lnTo>
                    <a:pt x="3127248" y="1473708"/>
                  </a:lnTo>
                  <a:cubicBezTo>
                    <a:pt x="3127248" y="1594231"/>
                    <a:pt x="3029458" y="1692021"/>
                    <a:pt x="2908935" y="1692021"/>
                  </a:cubicBezTo>
                  <a:lnTo>
                    <a:pt x="218313" y="1692021"/>
                  </a:lnTo>
                  <a:cubicBezTo>
                    <a:pt x="97790" y="1692021"/>
                    <a:pt x="0" y="1594231"/>
                    <a:pt x="0" y="147370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865598" y="1947672"/>
            <a:ext cx="2208152" cy="1268997"/>
            <a:chOff x="0" y="0"/>
            <a:chExt cx="2944203" cy="16919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44200" cy="1692000"/>
            </a:xfrm>
            <a:custGeom>
              <a:avLst/>
              <a:gdLst/>
              <a:ahLst/>
              <a:cxnLst/>
              <a:rect r="r" b="b" t="t" l="l"/>
              <a:pathLst>
                <a:path h="16920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692000"/>
                  </a:lnTo>
                  <a:lnTo>
                    <a:pt x="0" y="169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734" t="0" r="-23734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2944203" cy="1739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Less Counterfeit Circulation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789903" y="3336903"/>
            <a:ext cx="2359685" cy="2032987"/>
            <a:chOff x="0" y="0"/>
            <a:chExt cx="3146247" cy="27106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46298" cy="2710688"/>
            </a:xfrm>
            <a:custGeom>
              <a:avLst/>
              <a:gdLst/>
              <a:ahLst/>
              <a:cxnLst/>
              <a:rect r="r" b="b" t="t" l="l"/>
              <a:pathLst>
                <a:path h="2710688" w="3146298">
                  <a:moveTo>
                    <a:pt x="0" y="0"/>
                  </a:moveTo>
                  <a:lnTo>
                    <a:pt x="3146298" y="0"/>
                  </a:lnTo>
                  <a:lnTo>
                    <a:pt x="3146298" y="2710688"/>
                  </a:lnTo>
                  <a:lnTo>
                    <a:pt x="0" y="27106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38" t="0" r="-60537" b="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3146247" cy="27773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29"/>
                </a:lnSpc>
              </a:pPr>
              <a:r>
                <a:rPr lang="en-US" sz="232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status badges flag withdrawn standards and fake marks fast.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348185" y="1947672"/>
            <a:ext cx="2345398" cy="1268997"/>
            <a:chOff x="0" y="0"/>
            <a:chExt cx="3127197" cy="16919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27248" cy="1692021"/>
            </a:xfrm>
            <a:custGeom>
              <a:avLst/>
              <a:gdLst/>
              <a:ahLst/>
              <a:cxnLst/>
              <a:rect r="r" b="b" t="t" l="l"/>
              <a:pathLst>
                <a:path h="1692021" w="3127248">
                  <a:moveTo>
                    <a:pt x="0" y="218313"/>
                  </a:moveTo>
                  <a:cubicBezTo>
                    <a:pt x="0" y="97790"/>
                    <a:pt x="97790" y="0"/>
                    <a:pt x="218313" y="0"/>
                  </a:cubicBezTo>
                  <a:lnTo>
                    <a:pt x="2908935" y="0"/>
                  </a:lnTo>
                  <a:cubicBezTo>
                    <a:pt x="3029458" y="0"/>
                    <a:pt x="3127248" y="97790"/>
                    <a:pt x="3127248" y="218313"/>
                  </a:cubicBezTo>
                  <a:lnTo>
                    <a:pt x="3127248" y="1473708"/>
                  </a:lnTo>
                  <a:cubicBezTo>
                    <a:pt x="3127248" y="1594231"/>
                    <a:pt x="3029458" y="1692021"/>
                    <a:pt x="2908935" y="1692021"/>
                  </a:cubicBezTo>
                  <a:lnTo>
                    <a:pt x="218313" y="1692021"/>
                  </a:lnTo>
                  <a:cubicBezTo>
                    <a:pt x="97790" y="1692021"/>
                    <a:pt x="0" y="1594231"/>
                    <a:pt x="0" y="1473708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5416765" y="1947672"/>
            <a:ext cx="2208152" cy="1268997"/>
            <a:chOff x="0" y="0"/>
            <a:chExt cx="2944203" cy="16919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44200" cy="1692000"/>
            </a:xfrm>
            <a:custGeom>
              <a:avLst/>
              <a:gdLst/>
              <a:ahLst/>
              <a:cxnLst/>
              <a:rect r="r" b="b" t="t" l="l"/>
              <a:pathLst>
                <a:path h="16920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692000"/>
                  </a:lnTo>
                  <a:lnTo>
                    <a:pt x="0" y="169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734" t="0" r="-23734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2944203" cy="1739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Institutional Visibility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341079" y="3336903"/>
            <a:ext cx="2359685" cy="2032987"/>
            <a:chOff x="0" y="0"/>
            <a:chExt cx="3146247" cy="27106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146298" cy="2710688"/>
            </a:xfrm>
            <a:custGeom>
              <a:avLst/>
              <a:gdLst/>
              <a:ahLst/>
              <a:cxnLst/>
              <a:rect r="r" b="b" t="t" l="l"/>
              <a:pathLst>
                <a:path h="2710688" w="3146298">
                  <a:moveTo>
                    <a:pt x="0" y="0"/>
                  </a:moveTo>
                  <a:lnTo>
                    <a:pt x="3146298" y="0"/>
                  </a:lnTo>
                  <a:lnTo>
                    <a:pt x="3146298" y="2710688"/>
                  </a:lnTo>
                  <a:lnTo>
                    <a:pt x="0" y="27106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38" t="0" r="-60537" b="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3146247" cy="27773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29"/>
                </a:lnSpc>
              </a:pPr>
              <a:r>
                <a:rPr lang="en-US" sz="232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 analytics reveal common compliance gaps and information bottlenecks. </a:t>
              </a:r>
            </a:p>
          </p:txBody>
        </p:sp>
      </p:grpSp>
      <p:sp>
        <p:nvSpPr>
          <p:cNvPr name="AutoShape 83" id="83"/>
          <p:cNvSpPr/>
          <p:nvPr/>
        </p:nvSpPr>
        <p:spPr>
          <a:xfrm rot="5220">
            <a:off x="5133956" y="5708790"/>
            <a:ext cx="12569114" cy="0"/>
          </a:xfrm>
          <a:prstGeom prst="line">
            <a:avLst/>
          </a:prstGeom>
          <a:ln cap="rnd" w="9525">
            <a:solidFill>
              <a:srgbClr val="B9C6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4" id="84"/>
          <p:cNvGrpSpPr/>
          <p:nvPr/>
        </p:nvGrpSpPr>
        <p:grpSpPr>
          <a:xfrm rot="0">
            <a:off x="5143481" y="5733764"/>
            <a:ext cx="12550054" cy="484651"/>
            <a:chOff x="0" y="0"/>
            <a:chExt cx="16733406" cy="64620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6733400" cy="646200"/>
            </a:xfrm>
            <a:custGeom>
              <a:avLst/>
              <a:gdLst/>
              <a:ahLst/>
              <a:cxnLst/>
              <a:rect r="r" b="b" t="t" l="l"/>
              <a:pathLst>
                <a:path h="646200" w="16733400">
                  <a:moveTo>
                    <a:pt x="0" y="0"/>
                  </a:moveTo>
                  <a:lnTo>
                    <a:pt x="16733400" y="0"/>
                  </a:lnTo>
                  <a:lnTo>
                    <a:pt x="16733400" y="646200"/>
                  </a:lnTo>
                  <a:lnTo>
                    <a:pt x="0" y="646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4566" r="0" b="-45456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16733406" cy="665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1F6E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BENEFITS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143500" y="6369825"/>
            <a:ext cx="2345398" cy="1170451"/>
            <a:chOff x="0" y="0"/>
            <a:chExt cx="3127197" cy="156060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27248" cy="1560703"/>
            </a:xfrm>
            <a:custGeom>
              <a:avLst/>
              <a:gdLst/>
              <a:ahLst/>
              <a:cxnLst/>
              <a:rect r="r" b="b" t="t" l="l"/>
              <a:pathLst>
                <a:path h="1560703" w="3127248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925826" y="0"/>
                  </a:lnTo>
                  <a:cubicBezTo>
                    <a:pt x="3037078" y="0"/>
                    <a:pt x="3127248" y="90170"/>
                    <a:pt x="3127248" y="201422"/>
                  </a:cubicBezTo>
                  <a:lnTo>
                    <a:pt x="3127248" y="1359281"/>
                  </a:lnTo>
                  <a:cubicBezTo>
                    <a:pt x="3127248" y="1470533"/>
                    <a:pt x="3037078" y="1560703"/>
                    <a:pt x="2925826" y="1560703"/>
                  </a:cubicBezTo>
                  <a:lnTo>
                    <a:pt x="201422" y="1560703"/>
                  </a:lnTo>
                  <a:cubicBezTo>
                    <a:pt x="90170" y="1560576"/>
                    <a:pt x="0" y="1470406"/>
                    <a:pt x="0" y="1359281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212080" y="6369825"/>
            <a:ext cx="2208152" cy="1170451"/>
            <a:chOff x="0" y="0"/>
            <a:chExt cx="2944203" cy="156060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44200" cy="1560600"/>
            </a:xfrm>
            <a:custGeom>
              <a:avLst/>
              <a:gdLst/>
              <a:ahLst/>
              <a:cxnLst/>
              <a:rect r="r" b="b" t="t" l="l"/>
              <a:pathLst>
                <a:path h="15606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560600"/>
                  </a:lnTo>
                  <a:lnTo>
                    <a:pt x="0" y="1560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008" t="0" r="-18008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944203" cy="1608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Faster Certification Cycles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136394" y="7740510"/>
            <a:ext cx="2390737" cy="2428542"/>
            <a:chOff x="0" y="0"/>
            <a:chExt cx="3187649" cy="32380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187700" cy="3237992"/>
            </a:xfrm>
            <a:custGeom>
              <a:avLst/>
              <a:gdLst/>
              <a:ahLst/>
              <a:cxnLst/>
              <a:rect r="r" b="b" t="t" l="l"/>
              <a:pathLst>
                <a:path h="3237992" w="3187700">
                  <a:moveTo>
                    <a:pt x="0" y="0"/>
                  </a:moveTo>
                  <a:lnTo>
                    <a:pt x="3187700" y="0"/>
                  </a:lnTo>
                  <a:lnTo>
                    <a:pt x="3187700" y="3237992"/>
                  </a:lnTo>
                  <a:lnTo>
                    <a:pt x="0" y="3237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331" t="0" r="-80329" b="-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3187649" cy="33047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118"/>
                </a:lnSpc>
              </a:pPr>
              <a:r>
                <a:rPr lang="en-US" sz="247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Step-by-step guidance + instant standard-matching gets products to market sooner.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694676" y="6369825"/>
            <a:ext cx="2345398" cy="1170451"/>
            <a:chOff x="0" y="0"/>
            <a:chExt cx="3127197" cy="156060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127248" cy="1560703"/>
            </a:xfrm>
            <a:custGeom>
              <a:avLst/>
              <a:gdLst/>
              <a:ahLst/>
              <a:cxnLst/>
              <a:rect r="r" b="b" t="t" l="l"/>
              <a:pathLst>
                <a:path h="1560703" w="3127248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925826" y="0"/>
                  </a:lnTo>
                  <a:cubicBezTo>
                    <a:pt x="3037078" y="0"/>
                    <a:pt x="3127248" y="90170"/>
                    <a:pt x="3127248" y="201422"/>
                  </a:cubicBezTo>
                  <a:lnTo>
                    <a:pt x="3127248" y="1359281"/>
                  </a:lnTo>
                  <a:cubicBezTo>
                    <a:pt x="3127248" y="1470533"/>
                    <a:pt x="3037078" y="1560703"/>
                    <a:pt x="2925826" y="1560703"/>
                  </a:cubicBezTo>
                  <a:lnTo>
                    <a:pt x="201422" y="1560703"/>
                  </a:lnTo>
                  <a:cubicBezTo>
                    <a:pt x="90170" y="1560576"/>
                    <a:pt x="0" y="1470406"/>
                    <a:pt x="0" y="1359281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7763256" y="6369825"/>
            <a:ext cx="2208152" cy="1170451"/>
            <a:chOff x="0" y="0"/>
            <a:chExt cx="2944203" cy="156060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44200" cy="1560600"/>
            </a:xfrm>
            <a:custGeom>
              <a:avLst/>
              <a:gdLst/>
              <a:ahLst/>
              <a:cxnLst/>
              <a:rect r="r" b="b" t="t" l="l"/>
              <a:pathLst>
                <a:path h="15606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560600"/>
                  </a:lnTo>
                  <a:lnTo>
                    <a:pt x="0" y="1560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008" t="0" r="-18008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2944203" cy="1608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Reduced Compliance Errors 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721279" y="7740510"/>
            <a:ext cx="2390737" cy="2428542"/>
            <a:chOff x="0" y="0"/>
            <a:chExt cx="3187649" cy="323805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87700" cy="3237992"/>
            </a:xfrm>
            <a:custGeom>
              <a:avLst/>
              <a:gdLst/>
              <a:ahLst/>
              <a:cxnLst/>
              <a:rect r="r" b="b" t="t" l="l"/>
              <a:pathLst>
                <a:path h="3237992" w="3187700">
                  <a:moveTo>
                    <a:pt x="0" y="0"/>
                  </a:moveTo>
                  <a:lnTo>
                    <a:pt x="3187700" y="0"/>
                  </a:lnTo>
                  <a:lnTo>
                    <a:pt x="3187700" y="3237992"/>
                  </a:lnTo>
                  <a:lnTo>
                    <a:pt x="0" y="3237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331" t="0" r="-80329" b="-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66675"/>
              <a:ext cx="3187649" cy="33047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118"/>
                </a:lnSpc>
              </a:pPr>
              <a:r>
                <a:rPr lang="en-US" sz="247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Clear standard identification helps avoid incorrect certification paths. 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245842" y="6369825"/>
            <a:ext cx="2345398" cy="1170451"/>
            <a:chOff x="0" y="0"/>
            <a:chExt cx="3127197" cy="156060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127248" cy="1560703"/>
            </a:xfrm>
            <a:custGeom>
              <a:avLst/>
              <a:gdLst/>
              <a:ahLst/>
              <a:cxnLst/>
              <a:rect r="r" b="b" t="t" l="l"/>
              <a:pathLst>
                <a:path h="1560703" w="3127248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925826" y="0"/>
                  </a:lnTo>
                  <a:cubicBezTo>
                    <a:pt x="3037078" y="0"/>
                    <a:pt x="3127248" y="90170"/>
                    <a:pt x="3127248" y="201422"/>
                  </a:cubicBezTo>
                  <a:lnTo>
                    <a:pt x="3127248" y="1359281"/>
                  </a:lnTo>
                  <a:cubicBezTo>
                    <a:pt x="3127248" y="1470533"/>
                    <a:pt x="3037078" y="1560703"/>
                    <a:pt x="2925826" y="1560703"/>
                  </a:cubicBezTo>
                  <a:lnTo>
                    <a:pt x="201422" y="1560703"/>
                  </a:lnTo>
                  <a:cubicBezTo>
                    <a:pt x="90170" y="1560576"/>
                    <a:pt x="0" y="1470406"/>
                    <a:pt x="0" y="1359281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0314422" y="6369825"/>
            <a:ext cx="2208152" cy="1170451"/>
            <a:chOff x="0" y="0"/>
            <a:chExt cx="2944203" cy="156060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944200" cy="1560600"/>
            </a:xfrm>
            <a:custGeom>
              <a:avLst/>
              <a:gdLst/>
              <a:ahLst/>
              <a:cxnLst/>
              <a:rect r="r" b="b" t="t" l="l"/>
              <a:pathLst>
                <a:path h="15606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560600"/>
                  </a:lnTo>
                  <a:lnTo>
                    <a:pt x="0" y="1560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008" t="0" r="-18008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2944203" cy="1608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Lighter Helpline Load 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306174" y="7740510"/>
            <a:ext cx="2390737" cy="2428542"/>
            <a:chOff x="0" y="0"/>
            <a:chExt cx="3187649" cy="323805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187700" cy="3237992"/>
            </a:xfrm>
            <a:custGeom>
              <a:avLst/>
              <a:gdLst/>
              <a:ahLst/>
              <a:cxnLst/>
              <a:rect r="r" b="b" t="t" l="l"/>
              <a:pathLst>
                <a:path h="3237992" w="3187700">
                  <a:moveTo>
                    <a:pt x="0" y="0"/>
                  </a:moveTo>
                  <a:lnTo>
                    <a:pt x="3187700" y="0"/>
                  </a:lnTo>
                  <a:lnTo>
                    <a:pt x="3187700" y="3237992"/>
                  </a:lnTo>
                  <a:lnTo>
                    <a:pt x="0" y="3237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331" t="0" r="-80329" b="-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66675"/>
              <a:ext cx="3187649" cy="33047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118"/>
                </a:lnSpc>
              </a:pPr>
              <a:r>
                <a:rPr lang="en-US" sz="247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Routine questions are handled automatically; complex cases are escalated. 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797018" y="6369825"/>
            <a:ext cx="2345398" cy="1170451"/>
            <a:chOff x="0" y="0"/>
            <a:chExt cx="3127197" cy="156060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127248" cy="1560703"/>
            </a:xfrm>
            <a:custGeom>
              <a:avLst/>
              <a:gdLst/>
              <a:ahLst/>
              <a:cxnLst/>
              <a:rect r="r" b="b" t="t" l="l"/>
              <a:pathLst>
                <a:path h="1560703" w="3127248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925826" y="0"/>
                  </a:lnTo>
                  <a:cubicBezTo>
                    <a:pt x="3037078" y="0"/>
                    <a:pt x="3127248" y="90170"/>
                    <a:pt x="3127248" y="201422"/>
                  </a:cubicBezTo>
                  <a:lnTo>
                    <a:pt x="3127248" y="1359281"/>
                  </a:lnTo>
                  <a:cubicBezTo>
                    <a:pt x="3127248" y="1470533"/>
                    <a:pt x="3037078" y="1560703"/>
                    <a:pt x="2925826" y="1560703"/>
                  </a:cubicBezTo>
                  <a:lnTo>
                    <a:pt x="201422" y="1560703"/>
                  </a:lnTo>
                  <a:cubicBezTo>
                    <a:pt x="90170" y="1560576"/>
                    <a:pt x="0" y="1470406"/>
                    <a:pt x="0" y="1359281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865598" y="6369825"/>
            <a:ext cx="2208152" cy="1170451"/>
            <a:chOff x="0" y="0"/>
            <a:chExt cx="2944203" cy="156060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944200" cy="1560600"/>
            </a:xfrm>
            <a:custGeom>
              <a:avLst/>
              <a:gdLst/>
              <a:ahLst/>
              <a:cxnLst/>
              <a:rect r="r" b="b" t="t" l="l"/>
              <a:pathLst>
                <a:path h="15606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560600"/>
                  </a:lnTo>
                  <a:lnTo>
                    <a:pt x="0" y="1560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008" t="0" r="-18008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2944203" cy="1608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Backend, Every Channel 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891068" y="7740510"/>
            <a:ext cx="2390737" cy="2428542"/>
            <a:chOff x="0" y="0"/>
            <a:chExt cx="3187649" cy="323805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187700" cy="3237992"/>
            </a:xfrm>
            <a:custGeom>
              <a:avLst/>
              <a:gdLst/>
              <a:ahLst/>
              <a:cxnLst/>
              <a:rect r="r" b="b" t="t" l="l"/>
              <a:pathLst>
                <a:path h="3237992" w="3187700">
                  <a:moveTo>
                    <a:pt x="0" y="0"/>
                  </a:moveTo>
                  <a:lnTo>
                    <a:pt x="3187700" y="0"/>
                  </a:lnTo>
                  <a:lnTo>
                    <a:pt x="3187700" y="3237992"/>
                  </a:lnTo>
                  <a:lnTo>
                    <a:pt x="0" y="3237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331" t="0" r="-80329" b="-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66675"/>
              <a:ext cx="3187649" cy="33047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118"/>
                </a:lnSpc>
              </a:pPr>
              <a:r>
                <a:rPr lang="en-US" sz="247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Web, WhatsApp, and SMS all run off the same engine — no rebuilds.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348185" y="6369825"/>
            <a:ext cx="2345398" cy="1170451"/>
            <a:chOff x="0" y="0"/>
            <a:chExt cx="3127197" cy="156060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127248" cy="1560703"/>
            </a:xfrm>
            <a:custGeom>
              <a:avLst/>
              <a:gdLst/>
              <a:ahLst/>
              <a:cxnLst/>
              <a:rect r="r" b="b" t="t" l="l"/>
              <a:pathLst>
                <a:path h="1560703" w="3127248">
                  <a:moveTo>
                    <a:pt x="0" y="201422"/>
                  </a:moveTo>
                  <a:cubicBezTo>
                    <a:pt x="0" y="90170"/>
                    <a:pt x="90170" y="0"/>
                    <a:pt x="201422" y="0"/>
                  </a:cubicBezTo>
                  <a:lnTo>
                    <a:pt x="2925826" y="0"/>
                  </a:lnTo>
                  <a:cubicBezTo>
                    <a:pt x="3037078" y="0"/>
                    <a:pt x="3127248" y="90170"/>
                    <a:pt x="3127248" y="201422"/>
                  </a:cubicBezTo>
                  <a:lnTo>
                    <a:pt x="3127248" y="1359281"/>
                  </a:lnTo>
                  <a:cubicBezTo>
                    <a:pt x="3127248" y="1470533"/>
                    <a:pt x="3037078" y="1560703"/>
                    <a:pt x="2925826" y="1560703"/>
                  </a:cubicBezTo>
                  <a:lnTo>
                    <a:pt x="201422" y="1560703"/>
                  </a:lnTo>
                  <a:cubicBezTo>
                    <a:pt x="90170" y="1560576"/>
                    <a:pt x="0" y="1470406"/>
                    <a:pt x="0" y="1359281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5416765" y="6369825"/>
            <a:ext cx="2208152" cy="1170451"/>
            <a:chOff x="0" y="0"/>
            <a:chExt cx="2944203" cy="156060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944200" cy="1560600"/>
            </a:xfrm>
            <a:custGeom>
              <a:avLst/>
              <a:gdLst/>
              <a:ahLst/>
              <a:cxnLst/>
              <a:rect r="r" b="b" t="t" l="l"/>
              <a:pathLst>
                <a:path h="1560600" w="2944200">
                  <a:moveTo>
                    <a:pt x="0" y="0"/>
                  </a:moveTo>
                  <a:lnTo>
                    <a:pt x="2944200" y="0"/>
                  </a:lnTo>
                  <a:lnTo>
                    <a:pt x="2944200" y="1560600"/>
                  </a:lnTo>
                  <a:lnTo>
                    <a:pt x="0" y="1560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008" t="0" r="-18008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2944203" cy="1608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Scalable Operations 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5475972" y="7740510"/>
            <a:ext cx="2390737" cy="2428542"/>
            <a:chOff x="0" y="0"/>
            <a:chExt cx="3187649" cy="32380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187700" cy="3237992"/>
            </a:xfrm>
            <a:custGeom>
              <a:avLst/>
              <a:gdLst/>
              <a:ahLst/>
              <a:cxnLst/>
              <a:rect r="r" b="b" t="t" l="l"/>
              <a:pathLst>
                <a:path h="3237992" w="3187700">
                  <a:moveTo>
                    <a:pt x="0" y="0"/>
                  </a:moveTo>
                  <a:lnTo>
                    <a:pt x="3187700" y="0"/>
                  </a:lnTo>
                  <a:lnTo>
                    <a:pt x="3187700" y="3237992"/>
                  </a:lnTo>
                  <a:lnTo>
                    <a:pt x="0" y="3237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331" t="0" r="-80329" b="-1"/>
              </a:stretch>
            </a:blip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66675"/>
              <a:ext cx="3187649" cy="33047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118"/>
                </a:lnSpc>
              </a:pPr>
              <a:r>
                <a:rPr lang="en-US" sz="2475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Supports large query volumes without proportional growth in manual support. 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57150" y="22012"/>
            <a:ext cx="3977773" cy="1170375"/>
            <a:chOff x="0" y="0"/>
            <a:chExt cx="5303698" cy="15605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303647" cy="1560449"/>
            </a:xfrm>
            <a:custGeom>
              <a:avLst/>
              <a:gdLst/>
              <a:ahLst/>
              <a:cxnLst/>
              <a:rect r="r" b="b" t="t" l="l"/>
              <a:pathLst>
                <a:path h="1560449" w="5303647">
                  <a:moveTo>
                    <a:pt x="0" y="0"/>
                  </a:moveTo>
                  <a:lnTo>
                    <a:pt x="5303647" y="0"/>
                  </a:lnTo>
                  <a:lnTo>
                    <a:pt x="5303647" y="1560449"/>
                  </a:lnTo>
                  <a:lnTo>
                    <a:pt x="0" y="1560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43" t="-39353" r="0" b="-5783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55969" y="4"/>
            <a:ext cx="3113251" cy="1211303"/>
            <a:chOff x="0" y="0"/>
            <a:chExt cx="4177262" cy="1625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77300" cy="1625248"/>
            </a:xfrm>
            <a:custGeom>
              <a:avLst/>
              <a:gdLst/>
              <a:ahLst/>
              <a:cxnLst/>
              <a:rect r="r" b="b" t="t" l="l"/>
              <a:pathLst>
                <a:path h="1625248" w="4177300">
                  <a:moveTo>
                    <a:pt x="0" y="0"/>
                  </a:moveTo>
                  <a:lnTo>
                    <a:pt x="4177300" y="0"/>
                  </a:lnTo>
                  <a:lnTo>
                    <a:pt x="4177300" y="1625248"/>
                  </a:lnTo>
                  <a:lnTo>
                    <a:pt x="0" y="1625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679" r="0" b="-106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41914" y="1358551"/>
            <a:ext cx="663769" cy="754875"/>
            <a:chOff x="0" y="0"/>
            <a:chExt cx="885025" cy="1006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5063" cy="1006475"/>
            </a:xfrm>
            <a:custGeom>
              <a:avLst/>
              <a:gdLst/>
              <a:ahLst/>
              <a:cxnLst/>
              <a:rect r="r" b="b" t="t" l="l"/>
              <a:pathLst>
                <a:path h="1006475" w="885063">
                  <a:moveTo>
                    <a:pt x="0" y="0"/>
                  </a:moveTo>
                  <a:lnTo>
                    <a:pt x="885063" y="0"/>
                  </a:lnTo>
                  <a:lnTo>
                    <a:pt x="885063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4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41914" y="2932852"/>
            <a:ext cx="663788" cy="754894"/>
            <a:chOff x="0" y="0"/>
            <a:chExt cx="885050" cy="10065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5063" cy="1006475"/>
            </a:xfrm>
            <a:custGeom>
              <a:avLst/>
              <a:gdLst/>
              <a:ahLst/>
              <a:cxnLst/>
              <a:rect r="r" b="b" t="t" l="l"/>
              <a:pathLst>
                <a:path h="1006475" w="885063">
                  <a:moveTo>
                    <a:pt x="0" y="0"/>
                  </a:moveTo>
                  <a:lnTo>
                    <a:pt x="885063" y="0"/>
                  </a:lnTo>
                  <a:lnTo>
                    <a:pt x="885063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41914" y="4507201"/>
            <a:ext cx="663788" cy="754894"/>
            <a:chOff x="0" y="0"/>
            <a:chExt cx="885050" cy="10065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5063" cy="1006475"/>
            </a:xfrm>
            <a:custGeom>
              <a:avLst/>
              <a:gdLst/>
              <a:ahLst/>
              <a:cxnLst/>
              <a:rect r="r" b="b" t="t" l="l"/>
              <a:pathLst>
                <a:path h="1006475" w="885063">
                  <a:moveTo>
                    <a:pt x="0" y="0"/>
                  </a:moveTo>
                  <a:lnTo>
                    <a:pt x="885063" y="0"/>
                  </a:lnTo>
                  <a:lnTo>
                    <a:pt x="885063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22649" y="29480"/>
            <a:ext cx="7999857" cy="1155411"/>
            <a:chOff x="0" y="0"/>
            <a:chExt cx="10666476" cy="15405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6476" cy="1540510"/>
            </a:xfrm>
            <a:custGeom>
              <a:avLst/>
              <a:gdLst/>
              <a:ahLst/>
              <a:cxnLst/>
              <a:rect r="r" b="b" t="t" l="l"/>
              <a:pathLst>
                <a:path h="1540510" w="10666476">
                  <a:moveTo>
                    <a:pt x="0" y="0"/>
                  </a:moveTo>
                  <a:lnTo>
                    <a:pt x="10666476" y="0"/>
                  </a:lnTo>
                  <a:lnTo>
                    <a:pt x="10666476" y="1540510"/>
                  </a:lnTo>
                  <a:lnTo>
                    <a:pt x="0" y="154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5351760">
            <a:off x="-831961" y="5197612"/>
            <a:ext cx="10323900" cy="0"/>
          </a:xfrm>
          <a:prstGeom prst="line">
            <a:avLst/>
          </a:prstGeom>
          <a:ln cap="rnd" w="9525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641914" y="5898223"/>
            <a:ext cx="663788" cy="754894"/>
            <a:chOff x="0" y="0"/>
            <a:chExt cx="885050" cy="10065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5063" cy="1006475"/>
            </a:xfrm>
            <a:custGeom>
              <a:avLst/>
              <a:gdLst/>
              <a:ahLst/>
              <a:cxnLst/>
              <a:rect r="r" b="b" t="t" l="l"/>
              <a:pathLst>
                <a:path h="1006475" w="885063">
                  <a:moveTo>
                    <a:pt x="0" y="0"/>
                  </a:moveTo>
                  <a:lnTo>
                    <a:pt x="885063" y="0"/>
                  </a:lnTo>
                  <a:lnTo>
                    <a:pt x="885063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641914" y="7380922"/>
            <a:ext cx="663788" cy="754894"/>
            <a:chOff x="0" y="0"/>
            <a:chExt cx="885050" cy="10065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5063" cy="1006475"/>
            </a:xfrm>
            <a:custGeom>
              <a:avLst/>
              <a:gdLst/>
              <a:ahLst/>
              <a:cxnLst/>
              <a:rect r="r" b="b" t="t" l="l"/>
              <a:pathLst>
                <a:path h="1006475" w="885063">
                  <a:moveTo>
                    <a:pt x="0" y="0"/>
                  </a:moveTo>
                  <a:lnTo>
                    <a:pt x="885063" y="0"/>
                  </a:lnTo>
                  <a:lnTo>
                    <a:pt x="885063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-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551313" y="1343292"/>
            <a:ext cx="8009849" cy="123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b="true" sz="2550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Retrieval-Augmented Generation (RAG)</a:t>
            </a:r>
          </a:p>
          <a:p>
            <a:pPr algn="l">
              <a:lnSpc>
                <a:spcPts val="2478"/>
              </a:lnSpc>
            </a:pPr>
            <a:r>
              <a:rPr lang="en-US" b="true" sz="202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Summary:  </a:t>
            </a:r>
            <a:r>
              <a:rPr lang="en-US" sz="2025">
                <a:solidFill>
                  <a:srgbClr val="27303A"/>
                </a:solidFill>
                <a:latin typeface="Calibri (MS)"/>
                <a:ea typeface="Calibri (MS)"/>
                <a:cs typeface="Calibri (MS)"/>
                <a:sym typeface="Calibri (MS)"/>
              </a:rPr>
              <a:t>Pairs a language model with a retriever over an external index, grounding answers in retrieved passages rather than model memory alone.</a:t>
            </a:r>
          </a:p>
          <a:p>
            <a:pPr algn="l">
              <a:lnSpc>
                <a:spcPts val="2794"/>
              </a:lnSpc>
            </a:pPr>
            <a:r>
              <a:rPr lang="en-US" b="true" sz="202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Link: </a:t>
            </a:r>
            <a:r>
              <a:rPr lang="en-US" b="true" sz="2025" u="sng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9" tooltip="https://arxiv.org/abs/2005.11401"/>
              </a:rPr>
              <a:t> </a:t>
            </a:r>
            <a:r>
              <a:rPr lang="en-US" sz="2025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0" tooltip="https://arxiv.org/abs/2005.11401"/>
              </a:rPr>
              <a:t>arxiv.org/abs/2005.11401</a:t>
            </a:r>
          </a:p>
          <a:p>
            <a:pPr algn="l">
              <a:lnSpc>
                <a:spcPts val="2794"/>
              </a:lnSpc>
            </a:pPr>
          </a:p>
          <a:p>
            <a:pPr algn="l">
              <a:lnSpc>
                <a:spcPts val="243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452462" y="2938577"/>
            <a:ext cx="7817253" cy="138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Self-RAG (Self-Reflective Retrieval)</a:t>
            </a:r>
          </a:p>
          <a:p>
            <a:pPr algn="l">
              <a:lnSpc>
                <a:spcPts val="2295"/>
              </a:lnSpc>
            </a:pPr>
            <a:r>
              <a:rPr lang="en-US" b="true" sz="18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Summary:  </a:t>
            </a:r>
            <a:r>
              <a:rPr lang="en-US" sz="1875">
                <a:solidFill>
                  <a:srgbClr val="27303A"/>
                </a:solidFill>
                <a:latin typeface="Calibri (MS)"/>
                <a:ea typeface="Calibri (MS)"/>
                <a:cs typeface="Calibri (MS)"/>
                <a:sym typeface="Calibri (MS)"/>
              </a:rPr>
              <a:t>Trains a model to judge when retrieval is needed and critique its own drafts against retrieved text, cutting hallucinated claims.</a:t>
            </a:r>
          </a:p>
          <a:p>
            <a:pPr algn="l">
              <a:lnSpc>
                <a:spcPts val="2587"/>
              </a:lnSpc>
            </a:pPr>
            <a:r>
              <a:rPr lang="en-US" b="true" sz="18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Link: </a:t>
            </a:r>
            <a:r>
              <a:rPr lang="en-US" b="true" sz="1875" u="sng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1" tooltip="https://arxiv.org/abs/2310.11511"/>
              </a:rPr>
              <a:t> </a:t>
            </a:r>
            <a:r>
              <a:rPr lang="en-US" sz="1875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2" tooltip="https://arxiv.org/abs/2310.11511"/>
              </a:rPr>
              <a:t>arxiv.org/abs/2310.11511</a:t>
            </a:r>
          </a:p>
          <a:p>
            <a:pPr algn="l">
              <a:lnSpc>
                <a:spcPts val="2295"/>
              </a:lnSpc>
            </a:pPr>
          </a:p>
          <a:p>
            <a:pPr algn="l">
              <a:lnSpc>
                <a:spcPts val="2587"/>
              </a:lnSpc>
            </a:pP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452462" y="4467377"/>
            <a:ext cx="8009849" cy="138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BIS ‘Know Your Standard’ Portal</a:t>
            </a:r>
          </a:p>
          <a:p>
            <a:pPr algn="l">
              <a:lnSpc>
                <a:spcPts val="2295"/>
              </a:lnSpc>
            </a:pPr>
            <a:r>
              <a:rPr lang="en-US" b="true" sz="18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Summary:  </a:t>
            </a:r>
            <a:r>
              <a:rPr lang="en-US" sz="1875">
                <a:solidFill>
                  <a:srgbClr val="27303A"/>
                </a:solidFill>
                <a:latin typeface="Calibri (MS)"/>
                <a:ea typeface="Calibri (MS)"/>
                <a:cs typeface="Calibri (MS)"/>
                <a:sym typeface="Calibri (MS)"/>
              </a:rPr>
              <a:t>BIS's official lookup for any IS number or product keyword, showing scope, status and related documents.</a:t>
            </a:r>
          </a:p>
          <a:p>
            <a:pPr algn="l">
              <a:lnSpc>
                <a:spcPts val="2587"/>
              </a:lnSpc>
            </a:pPr>
            <a:r>
              <a:rPr lang="en-US" b="true" sz="18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Link: </a:t>
            </a:r>
            <a:r>
              <a:rPr lang="en-US" b="true" sz="1875" u="sng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3" tooltip="https://www.bis.gov.in/know-your-standard/?lang=en"/>
              </a:rPr>
              <a:t> </a:t>
            </a:r>
            <a:r>
              <a:rPr lang="en-US" sz="1875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4" tooltip="https://www.bis.gov.in/know-your-standard/?lang=en"/>
              </a:rPr>
              <a:t>bis.gov.in/know-your-standard</a:t>
            </a:r>
          </a:p>
          <a:p>
            <a:pPr algn="l">
              <a:lnSpc>
                <a:spcPts val="2587"/>
              </a:lnSpc>
            </a:pP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5491201" y="8777849"/>
            <a:ext cx="7240353" cy="19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IndicTrans2 (AI4Bharat)</a:t>
            </a:r>
          </a:p>
          <a:p>
            <a:pPr algn="l">
              <a:lnSpc>
                <a:spcPts val="2295"/>
              </a:lnSpc>
            </a:pPr>
            <a:r>
              <a:rPr lang="en-US" b="true" sz="18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Summary:  </a:t>
            </a:r>
            <a:r>
              <a:rPr lang="en-US" sz="1875">
                <a:solidFill>
                  <a:srgbClr val="27303A"/>
                </a:solidFill>
                <a:latin typeface="Calibri (MS)"/>
                <a:ea typeface="Calibri (MS)"/>
                <a:cs typeface="Calibri (MS)"/>
                <a:sym typeface="Calibri (MS)"/>
              </a:rPr>
              <a:t>Open-source translation system covering all 22 scheduled Indian languages, built by AI4Bharat (IIT Madras).</a:t>
            </a:r>
          </a:p>
          <a:p>
            <a:pPr algn="l">
              <a:lnSpc>
                <a:spcPts val="2587"/>
              </a:lnSpc>
            </a:pPr>
            <a:r>
              <a:rPr lang="en-US" b="true" sz="18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Link: </a:t>
            </a:r>
            <a:r>
              <a:rPr lang="en-US" b="true" sz="1875" u="sng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5" tooltip="https://github.com/AI4Bharat/IndicTrans2"/>
              </a:rPr>
              <a:t> </a:t>
            </a:r>
            <a:r>
              <a:rPr lang="en-US" sz="1875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6" tooltip="https://github.com/AI4Bharat/IndicTrans2"/>
              </a:rPr>
              <a:t>github.com/AI4Bharat/IndicTrans2</a:t>
            </a:r>
          </a:p>
          <a:p>
            <a:pPr algn="l">
              <a:lnSpc>
                <a:spcPts val="2587"/>
              </a:lnSpc>
            </a:pP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491201" y="7367959"/>
            <a:ext cx="7048652" cy="138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b="true" sz="2400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BIS Compulsory Registration Scheme (CRS)</a:t>
            </a:r>
          </a:p>
          <a:p>
            <a:pPr algn="l">
              <a:lnSpc>
                <a:spcPts val="2295"/>
              </a:lnSpc>
            </a:pPr>
            <a:r>
              <a:rPr lang="en-US" b="true" sz="18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Summary:  </a:t>
            </a:r>
            <a:r>
              <a:rPr lang="en-US" sz="1875">
                <a:solidFill>
                  <a:srgbClr val="27303A"/>
                </a:solidFill>
                <a:latin typeface="Calibri (MS)"/>
                <a:ea typeface="Calibri (MS)"/>
                <a:cs typeface="Calibri (MS)"/>
                <a:sym typeface="Calibri (MS)"/>
              </a:rPr>
              <a:t>Official portal for BIS's CRS scheme on notified electronics/IT products, covering rules and license status.</a:t>
            </a:r>
          </a:p>
          <a:p>
            <a:pPr algn="l">
              <a:lnSpc>
                <a:spcPts val="2587"/>
              </a:lnSpc>
            </a:pPr>
            <a:r>
              <a:rPr lang="en-US" b="true" sz="1875">
                <a:solidFill>
                  <a:srgbClr val="2730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Link: </a:t>
            </a:r>
            <a:r>
              <a:rPr lang="en-US" b="true" sz="1875" u="sng">
                <a:solidFill>
                  <a:srgbClr val="0000FF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7" tooltip="https://www.crsbis.in/BIS/whatisCRS.do"/>
              </a:rPr>
              <a:t> </a:t>
            </a:r>
            <a:r>
              <a:rPr lang="en-US" sz="1875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8" tooltip="https://www.crsbis.in/BIS/whatisCRS.do"/>
              </a:rPr>
              <a:t>crsbis.in</a:t>
            </a:r>
          </a:p>
          <a:p>
            <a:pPr algn="l">
              <a:lnSpc>
                <a:spcPts val="2587"/>
              </a:lnSpc>
            </a:pPr>
          </a:p>
          <a:p>
            <a:pPr algn="l">
              <a:lnSpc>
                <a:spcPts val="2250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201821" y="2064020"/>
            <a:ext cx="4055735" cy="7993161"/>
            <a:chOff x="0" y="0"/>
            <a:chExt cx="5407647" cy="106575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07660" cy="10657586"/>
            </a:xfrm>
            <a:custGeom>
              <a:avLst/>
              <a:gdLst/>
              <a:ahLst/>
              <a:cxnLst/>
              <a:rect r="r" b="b" t="t" l="l"/>
              <a:pathLst>
                <a:path h="10657586" w="5407660">
                  <a:moveTo>
                    <a:pt x="88900" y="0"/>
                  </a:moveTo>
                  <a:lnTo>
                    <a:pt x="5318760" y="0"/>
                  </a:lnTo>
                  <a:cubicBezTo>
                    <a:pt x="5367858" y="0"/>
                    <a:pt x="5407660" y="39802"/>
                    <a:pt x="5407660" y="88900"/>
                  </a:cubicBezTo>
                  <a:lnTo>
                    <a:pt x="5407660" y="10568686"/>
                  </a:lnTo>
                  <a:cubicBezTo>
                    <a:pt x="5407660" y="10592264"/>
                    <a:pt x="5398294" y="10614875"/>
                    <a:pt x="5381622" y="10631548"/>
                  </a:cubicBezTo>
                  <a:cubicBezTo>
                    <a:pt x="5364950" y="10648220"/>
                    <a:pt x="5342337" y="10657586"/>
                    <a:pt x="5318760" y="10657586"/>
                  </a:cubicBezTo>
                  <a:lnTo>
                    <a:pt x="88900" y="10657586"/>
                  </a:lnTo>
                  <a:cubicBezTo>
                    <a:pt x="39802" y="10657586"/>
                    <a:pt x="0" y="10617784"/>
                    <a:pt x="0" y="10568686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blipFill>
              <a:blip r:embed="rId19"/>
              <a:stretch>
                <a:fillRect l="0" t="0" r="0" b="-373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6087" y="1358551"/>
            <a:ext cx="3511687" cy="561937"/>
            <a:chOff x="0" y="0"/>
            <a:chExt cx="4682249" cy="7492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82236" cy="749300"/>
            </a:xfrm>
            <a:custGeom>
              <a:avLst/>
              <a:gdLst/>
              <a:ahLst/>
              <a:cxnLst/>
              <a:rect r="r" b="b" t="t" l="l"/>
              <a:pathLst>
                <a:path h="749300" w="4682236">
                  <a:moveTo>
                    <a:pt x="0" y="374650"/>
                  </a:moveTo>
                  <a:cubicBezTo>
                    <a:pt x="0" y="167767"/>
                    <a:pt x="167767" y="0"/>
                    <a:pt x="374650" y="0"/>
                  </a:cubicBezTo>
                  <a:lnTo>
                    <a:pt x="4307586" y="0"/>
                  </a:lnTo>
                  <a:cubicBezTo>
                    <a:pt x="4514469" y="0"/>
                    <a:pt x="4682236" y="167767"/>
                    <a:pt x="4682236" y="374650"/>
                  </a:cubicBezTo>
                  <a:cubicBezTo>
                    <a:pt x="4682236" y="581533"/>
                    <a:pt x="4514469" y="749300"/>
                    <a:pt x="4307586" y="749300"/>
                  </a:cubicBezTo>
                  <a:lnTo>
                    <a:pt x="374650" y="749300"/>
                  </a:lnTo>
                  <a:cubicBezTo>
                    <a:pt x="167767" y="749300"/>
                    <a:pt x="0" y="581533"/>
                    <a:pt x="0" y="374650"/>
                  </a:cubicBezTo>
                  <a:close/>
                </a:path>
              </a:pathLst>
            </a:custGeom>
            <a:solidFill>
              <a:srgbClr val="E7E6E6"/>
            </a:solidFill>
            <a:ln w="14288" cap="sq">
              <a:solidFill>
                <a:srgbClr val="44546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682249" cy="758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7303A"/>
                  </a:solidFill>
                  <a:latin typeface="Oswald"/>
                  <a:ea typeface="Oswald"/>
                  <a:cs typeface="Oswald"/>
                  <a:sym typeface="Oswald"/>
                </a:rPr>
                <a:t>APP INTERFACE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541303" y="1067067"/>
            <a:ext cx="252840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b="true" sz="2700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SDG 9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641942" y="8863574"/>
            <a:ext cx="746208" cy="847392"/>
            <a:chOff x="0" y="0"/>
            <a:chExt cx="994943" cy="1129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4918" cy="1129792"/>
            </a:xfrm>
            <a:custGeom>
              <a:avLst/>
              <a:gdLst/>
              <a:ahLst/>
              <a:cxnLst/>
              <a:rect r="r" b="b" t="t" l="l"/>
              <a:pathLst>
                <a:path h="1129792" w="994918">
                  <a:moveTo>
                    <a:pt x="0" y="0"/>
                  </a:moveTo>
                  <a:lnTo>
                    <a:pt x="994918" y="0"/>
                  </a:lnTo>
                  <a:lnTo>
                    <a:pt x="994918" y="1129792"/>
                  </a:lnTo>
                  <a:lnTo>
                    <a:pt x="0" y="1129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-2" b="-5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452462" y="5873264"/>
            <a:ext cx="5783625" cy="387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9"/>
              </a:lnSpc>
            </a:pPr>
            <a:r>
              <a:rPr lang="en-US" b="true" sz="2224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Quadrant Vector Database</a:t>
            </a:r>
          </a:p>
          <a:p>
            <a:pPr algn="l">
              <a:lnSpc>
                <a:spcPts val="2518"/>
              </a:lnSpc>
            </a:pPr>
            <a:r>
              <a:rPr lang="en-US" b="true" sz="182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Summary: </a:t>
            </a:r>
            <a:r>
              <a:rPr lang="en-US" sz="1825">
                <a:solidFill>
                  <a:srgbClr val="27303A"/>
                </a:solidFill>
                <a:latin typeface="Calibri (MS)"/>
                <a:ea typeface="Calibri (MS)"/>
                <a:cs typeface="Calibri (MS)"/>
                <a:sym typeface="Calibri (MS)"/>
              </a:rPr>
              <a:t>Open source  embedding database for LLM apps, storing text chunks with embeddings for similarity search.</a:t>
            </a:r>
          </a:p>
          <a:p>
            <a:pPr algn="l">
              <a:lnSpc>
                <a:spcPts val="2518"/>
              </a:lnSpc>
            </a:pPr>
            <a:r>
              <a:rPr lang="en-US" sz="1825">
                <a:solidFill>
                  <a:srgbClr val="27303A"/>
                </a:solidFill>
                <a:latin typeface="Calibri (MS)"/>
                <a:ea typeface="Calibri (MS)"/>
                <a:cs typeface="Calibri (MS)"/>
                <a:sym typeface="Calibri (MS)"/>
              </a:rPr>
              <a:t>Link:  </a:t>
            </a:r>
            <a:r>
              <a:rPr lang="en-US" sz="1825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21" tooltip="https://qdrant.tech/documentation/"/>
              </a:rPr>
              <a:t>qdrant.tech/documentation</a:t>
            </a:r>
          </a:p>
          <a:p>
            <a:pPr algn="l">
              <a:lnSpc>
                <a:spcPts val="2518"/>
              </a:lnSpc>
            </a:pPr>
          </a:p>
          <a:p>
            <a:pPr algn="l">
              <a:lnSpc>
                <a:spcPts val="2518"/>
              </a:lnSpc>
            </a:pPr>
          </a:p>
          <a:p>
            <a:pPr algn="l">
              <a:lnSpc>
                <a:spcPts val="2518"/>
              </a:lnSpc>
            </a:pPr>
          </a:p>
          <a:p>
            <a:pPr algn="l">
              <a:lnSpc>
                <a:spcPts val="2518"/>
              </a:lnSpc>
            </a:pPr>
          </a:p>
          <a:p>
            <a:pPr algn="l">
              <a:lnSpc>
                <a:spcPts val="2518"/>
              </a:lnSpc>
            </a:pPr>
          </a:p>
          <a:p>
            <a:pPr algn="l">
              <a:lnSpc>
                <a:spcPts val="2518"/>
              </a:lnSpc>
            </a:pPr>
          </a:p>
          <a:p>
            <a:pPr algn="l">
              <a:lnSpc>
                <a:spcPts val="2518"/>
              </a:lnSpc>
            </a:pPr>
          </a:p>
          <a:p>
            <a:pPr algn="l">
              <a:lnSpc>
                <a:spcPts val="2518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13493515" y="1494939"/>
            <a:ext cx="4623978" cy="3767157"/>
            <a:chOff x="0" y="0"/>
            <a:chExt cx="6165304" cy="50228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65342" cy="5022901"/>
            </a:xfrm>
            <a:custGeom>
              <a:avLst/>
              <a:gdLst/>
              <a:ahLst/>
              <a:cxnLst/>
              <a:rect r="r" b="b" t="t" l="l"/>
              <a:pathLst>
                <a:path h="5022901" w="6165342">
                  <a:moveTo>
                    <a:pt x="0" y="0"/>
                  </a:moveTo>
                  <a:lnTo>
                    <a:pt x="6165342" y="0"/>
                  </a:lnTo>
                  <a:lnTo>
                    <a:pt x="6165342" y="5022901"/>
                  </a:lnTo>
                  <a:lnTo>
                    <a:pt x="0" y="5022901"/>
                  </a:lnTo>
                  <a:close/>
                </a:path>
              </a:pathLst>
            </a:custGeom>
            <a:solidFill>
              <a:srgbClr val="F79646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165304" cy="50705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536733" indent="-268366" lvl="1">
                <a:lnSpc>
                  <a:spcPts val="2277"/>
                </a:lnSpc>
                <a:buFont typeface="Arial"/>
                <a:buChar char="•"/>
              </a:pPr>
              <a:r>
                <a:rPr lang="en-US" b="true" sz="16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 9.1 — Access to Quality Infrastructure:</a:t>
              </a:r>
              <a:r>
                <a:rPr lang="en-US" sz="1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Makes BIS technical information searchable in plain language.</a:t>
              </a:r>
            </a:p>
            <a:p>
              <a:pPr algn="l" marL="536733" indent="-268366" lvl="1">
                <a:lnSpc>
                  <a:spcPts val="2277"/>
                </a:lnSpc>
                <a:buFont typeface="Arial"/>
                <a:buChar char="•"/>
              </a:pPr>
              <a:r>
                <a:rPr lang="en-US" b="true" sz="16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 9.3 — MSME Market Access:</a:t>
              </a:r>
              <a:r>
                <a:rPr lang="en-US" sz="1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Simplifies ISI/CRS certification guidance for small manufacturers.</a:t>
              </a:r>
            </a:p>
            <a:p>
              <a:pPr algn="l" marL="536733" indent="-268366" lvl="1">
                <a:lnSpc>
                  <a:spcPts val="2277"/>
                </a:lnSpc>
                <a:buFont typeface="Arial"/>
                <a:buChar char="•"/>
              </a:pPr>
              <a:r>
                <a:rPr lang="en-US" b="true" sz="16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 9.b — Indigenous Tech Capacity:</a:t>
              </a:r>
              <a:r>
                <a:rPr lang="en-US" sz="1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Uses IndicTrans 2 (AI4Bharat) for Indian-language AI support.</a:t>
              </a:r>
            </a:p>
            <a:p>
              <a:pPr algn="l" marL="536733" indent="-268366" lvl="1">
                <a:lnSpc>
                  <a:spcPts val="2277"/>
                </a:lnSpc>
                <a:buFont typeface="Arial"/>
                <a:buChar char="•"/>
              </a:pPr>
              <a:r>
                <a:rPr lang="en-US" b="true" sz="16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 9.5 — Innovation in Public Infrastructure:</a:t>
              </a:r>
              <a:r>
                <a:rPr lang="en-US" sz="16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Applies RAG-based AI to a government knowledge base.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184192" y="5565758"/>
            <a:ext cx="2528402" cy="5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Why Our Product?</a:t>
            </a:r>
          </a:p>
        </p:txBody>
      </p:sp>
      <p:graphicFrame>
        <p:nvGraphicFramePr>
          <p:cNvPr name="Table 35" id="35"/>
          <p:cNvGraphicFramePr>
            <a:graphicFrameLocks noGrp="true"/>
          </p:cNvGraphicFramePr>
          <p:nvPr/>
        </p:nvGraphicFramePr>
        <p:xfrm>
          <a:off x="12631275" y="6268591"/>
          <a:ext cx="5619750" cy="4002391"/>
        </p:xfrm>
        <a:graphic>
          <a:graphicData uri="http://schemas.openxmlformats.org/drawingml/2006/table">
            <a:tbl>
              <a:tblPr/>
              <a:tblGrid>
                <a:gridCol w="1265400"/>
                <a:gridCol w="2116077"/>
                <a:gridCol w="2238273"/>
              </a:tblGrid>
              <a:tr h="5340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Product /</a:t>
                      </a:r>
                      <a:endParaRPr lang="en-US" sz="1100"/>
                    </a:p>
                    <a:p>
                      <a:pPr algn="ctr">
                        <a:lnSpc>
                          <a:spcPts val="1439"/>
                        </a:lnSpc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Platform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FA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Key Limitation</a:t>
                      </a:r>
                      <a:endParaRPr lang="en-US" sz="1100"/>
                    </a:p>
                    <a:p>
                      <a:pPr algn="ctr">
                        <a:lnSpc>
                          <a:spcPts val="1439"/>
                        </a:lnSpc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(What it doesn't have)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FA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What Our Solution Solves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FAE"/>
                    </a:solidFill>
                  </a:tcPr>
                </a:tc>
              </a:tr>
              <a:tr h="10680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50"/>
                        </a:lnSpc>
                        <a:defRPr/>
                      </a:pPr>
                      <a:r>
                        <a:rPr lang="en-US" sz="1125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BIS CARE</a:t>
                      </a:r>
                      <a:endParaRPr lang="en-US" sz="1100"/>
                    </a:p>
                    <a:p>
                      <a:pPr algn="l">
                        <a:lnSpc>
                          <a:spcPts val="1350"/>
                        </a:lnSpc>
                      </a:pPr>
                      <a:r>
                        <a:rPr lang="en-US" sz="1125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(Official BIS App)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Separate modules for standards, licence verification, complaints, etc.</a:t>
                      </a:r>
                      <a:endParaRPr lang="en-US" sz="1100"/>
                    </a:p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Manual search and navigation required.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Single conversational interface for all BIS services.</a:t>
                      </a:r>
                      <a:endParaRPr lang="en-US" sz="1100"/>
                    </a:p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Provides step-by-step guidance with direct links and contacts.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0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50"/>
                        </a:lnSpc>
                        <a:defRPr/>
                      </a:pPr>
                      <a:r>
                        <a:rPr lang="en-US" sz="1125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Know Your Standard</a:t>
                      </a:r>
                      <a:endParaRPr lang="en-US" sz="1100"/>
                    </a:p>
                    <a:p>
                      <a:pPr algn="l">
                        <a:lnSpc>
                          <a:spcPts val="1350"/>
                        </a:lnSpc>
                      </a:pPr>
                      <a:r>
                        <a:rPr lang="en-US" sz="1125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(BIS Portal)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Keyword / IS number based search only.</a:t>
                      </a:r>
                      <a:endParaRPr lang="en-US" sz="1100"/>
                    </a:p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image/spec-sheet analysis.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Accepts text, voice and image/spec-sheet as input.</a:t>
                      </a:r>
                      <a:endParaRPr lang="en-US" sz="1100"/>
                    </a:p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Identifies the correct Indian Standard using AI.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200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50"/>
                        </a:lnSpc>
                        <a:defRPr/>
                      </a:pPr>
                      <a:r>
                        <a:rPr lang="en-US" sz="1125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General AI Assistants</a:t>
                      </a:r>
                      <a:endParaRPr lang="en-US" sz="1100"/>
                    </a:p>
                    <a:p>
                      <a:pPr algn="l">
                        <a:lnSpc>
                          <a:spcPts val="1350"/>
                        </a:lnSpc>
                      </a:pPr>
                      <a:r>
                        <a:rPr lang="en-US" sz="1125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(e.g., ChatGPT, Gemini, Copilot)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connected to authoritative BIS sources.</a:t>
                      </a:r>
                      <a:endParaRPr lang="en-US" sz="1100"/>
                    </a:p>
                    <a:p>
                      <a:pPr algn="l" marL="217170" indent="-108585" lvl="1">
                        <a:lnSpc>
                          <a:spcPts val="143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real-time licence/status verification.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190024" indent="-95012" lvl="1">
                        <a:lnSpc>
                          <a:spcPts val="126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Answers are grounded only in official BIS sources (standards, CRS, licensing).</a:t>
                      </a:r>
                      <a:endParaRPr lang="en-US" sz="1100"/>
                    </a:p>
                    <a:p>
                      <a:pPr algn="l" marL="190024" indent="-95012" lvl="1">
                        <a:lnSpc>
                          <a:spcPts val="1260"/>
                        </a:lnSpc>
                        <a:buFont typeface="Arial"/>
                        <a:buChar char="•"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Provides live licence/status verification.</a:t>
                      </a:r>
                    </a:p>
                  </a:txBody>
                  <a:tcPr marL="45720" marR="45720" marT="45720" marB="4572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6" id="36"/>
          <p:cNvGrpSpPr/>
          <p:nvPr/>
        </p:nvGrpSpPr>
        <p:grpSpPr>
          <a:xfrm rot="0">
            <a:off x="201821" y="40932"/>
            <a:ext cx="3977773" cy="1170375"/>
            <a:chOff x="0" y="0"/>
            <a:chExt cx="5303698" cy="1560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03647" cy="1560449"/>
            </a:xfrm>
            <a:custGeom>
              <a:avLst/>
              <a:gdLst/>
              <a:ahLst/>
              <a:cxnLst/>
              <a:rect r="r" b="b" t="t" l="l"/>
              <a:pathLst>
                <a:path h="1560449" w="5303647">
                  <a:moveTo>
                    <a:pt x="0" y="0"/>
                  </a:moveTo>
                  <a:lnTo>
                    <a:pt x="5303647" y="0"/>
                  </a:lnTo>
                  <a:lnTo>
                    <a:pt x="5303647" y="1560449"/>
                  </a:lnTo>
                  <a:lnTo>
                    <a:pt x="0" y="1560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3143" t="-39353" r="0" b="-5783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DAHVeuTC6JU</dc:identifier>
  <dcterms:modified xsi:type="dcterms:W3CDTF">2011-08-01T06:04:30Z</dcterms:modified>
  <cp:revision>1</cp:revision>
  <dc:title>SIH26-A0H-T263-SIH26107_Presentation  (2).pptx</dc:title>
</cp:coreProperties>
</file>